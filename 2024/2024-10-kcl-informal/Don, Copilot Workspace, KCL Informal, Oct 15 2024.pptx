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4"/>
    <p:sldMasterId id="214748366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y="5143500" cx="9144000"/>
  <p:notesSz cx="6858000" cy="9144000"/>
  <p:embeddedFontLst>
    <p:embeddedFont>
      <p:font typeface="Inter Light"/>
      <p:regular r:id="rId42"/>
      <p:bold r:id="rId43"/>
      <p:italic r:id="rId44"/>
      <p:boldItalic r:id="rId45"/>
    </p:embeddedFont>
    <p:embeddedFont>
      <p:font typeface="Roboto"/>
      <p:regular r:id="rId46"/>
      <p:bold r:id="rId47"/>
      <p:italic r:id="rId48"/>
      <p:boldItalic r:id="rId49"/>
    </p:embeddedFont>
    <p:embeddedFont>
      <p:font typeface="Inter"/>
      <p:regular r:id="rId50"/>
      <p:bold r:id="rId51"/>
      <p:italic r:id="rId52"/>
      <p:boldItalic r:id="rId53"/>
    </p:embeddedFont>
    <p:embeddedFont>
      <p:font typeface="Inter Black"/>
      <p:bold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font" Target="fonts/InterLight-regular.fntdata"/><Relationship Id="rId41" Type="http://schemas.openxmlformats.org/officeDocument/2006/relationships/slide" Target="slides/slide35.xml"/><Relationship Id="rId44" Type="http://schemas.openxmlformats.org/officeDocument/2006/relationships/font" Target="fonts/InterLight-italic.fntdata"/><Relationship Id="rId43" Type="http://schemas.openxmlformats.org/officeDocument/2006/relationships/font" Target="fonts/InterLight-bold.fntdata"/><Relationship Id="rId46" Type="http://schemas.openxmlformats.org/officeDocument/2006/relationships/font" Target="fonts/Roboto-regular.fntdata"/><Relationship Id="rId45" Type="http://schemas.openxmlformats.org/officeDocument/2006/relationships/font" Target="fonts/InterLigh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Roboto-italic.fntdata"/><Relationship Id="rId47" Type="http://schemas.openxmlformats.org/officeDocument/2006/relationships/font" Target="fonts/Roboto-bold.fntdata"/><Relationship Id="rId49" Type="http://schemas.openxmlformats.org/officeDocument/2006/relationships/font" Target="fonts/Roboto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Inter-bold.fntdata"/><Relationship Id="rId50" Type="http://schemas.openxmlformats.org/officeDocument/2006/relationships/font" Target="fonts/Inter-regular.fntdata"/><Relationship Id="rId53" Type="http://schemas.openxmlformats.org/officeDocument/2006/relationships/font" Target="fonts/Inter-boldItalic.fntdata"/><Relationship Id="rId52" Type="http://schemas.openxmlformats.org/officeDocument/2006/relationships/font" Target="fonts/Inter-italic.fntdata"/><Relationship Id="rId11" Type="http://schemas.openxmlformats.org/officeDocument/2006/relationships/slide" Target="slides/slide5.xml"/><Relationship Id="rId55" Type="http://schemas.openxmlformats.org/officeDocument/2006/relationships/font" Target="fonts/InterBlack-boldItalic.fntdata"/><Relationship Id="rId10" Type="http://schemas.openxmlformats.org/officeDocument/2006/relationships/slide" Target="slides/slide4.xml"/><Relationship Id="rId54" Type="http://schemas.openxmlformats.org/officeDocument/2006/relationships/font" Target="fonts/InterBlac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df3e0dfb4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df3e0dfb4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9bef41ed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9bef41ed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0b4f84b68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0b4f84b68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df8a6386a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df8a6386a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original GitHub Copilot completes code in your editor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accept small bits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move your cursor around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still have to type quite a lot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Copilot has to infer what you are trying 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we switch POV to whole task, whole change, whole repository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keeping the key learning of Copilot: repeated AI-user alignment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df8a6386a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df8a6386a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original GitHub Copilot completes code in your editor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accept small bits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move your cursor around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still have to type quite a lot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Copilot has to infer what you are trying 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we switch POV to whole task, whole change, whole repository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keeping the key learning of Copilot: repeated AI-user alignment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df8a6386a9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df8a6386a9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original GitHub Copilot completes code in your editor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accept small bits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move your cursor around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still have to type quite a lot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Copilot has to infer what you are trying 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we switch POV to whole task, whole change, whole repository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keeping the key learning of Copilot: repeated AI-user alignment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df8a6386a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2df8a6386a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The original GitHub Copilot completes code in your editor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accept small bits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have to move your cursor around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still have to type quite a lot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Copilot has to infer what you are trying to do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Can we switch POV to whole task, whole change, whole repository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While keeping the key learning of Copilot: repeated AI-user alignment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df8a6386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2df8a6386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df8a6386a9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df8a6386a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df3e0dfb4b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df3e0dfb4b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 original GitHub Copilot completes code in your editor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accept small bits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have to move your cursor around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You still have to type quite a lot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Copilot has to infer what you are trying to do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Can we switch POV to whole task, whole change, whole repository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While keeping the key learning of Copilot: repeated AI-user alignment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df3e0dfb4b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df3e0dfb4b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b4f84b68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b4f84b68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1f2e71886df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1f2e71886df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f2e71886df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1f2e71886df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f2e71886df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f2e71886df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f2e71886df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1f2e71886df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1f2e71886df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1f2e71886df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1f2e71886df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1f2e71886df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1f2e71886df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1f2e71886df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1f2e71886df_0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1f2e71886df_0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0b4f84b68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0b4f84b68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0b4f84b68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0b4f84b68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0b4f84b68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0b4f84b6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df3e0dfb4b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df3e0dfb4b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df3e0dfb4b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df3e0dfb4b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0b196e916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0b196e91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0b196e916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0b196e916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0b4f84b68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0b4f84b68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1f2e71886df_0_1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1f2e71886df_0_1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30b196e916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30b196e916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1f2e71886df_0_1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1f2e71886df_0_1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df8a6386a9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df8a6386a9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1f2e71886df_0_9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1f2e71886df_0_9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1f2e71886df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1f2e71886df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142400" y="2444875"/>
            <a:ext cx="6594300" cy="6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Font typeface="Inter"/>
              <a:buNone/>
              <a:defRPr b="1" sz="36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142400" y="3101275"/>
            <a:ext cx="6492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69377" y="728025"/>
            <a:ext cx="1932700" cy="19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_2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ctrTitle"/>
          </p:nvPr>
        </p:nvSpPr>
        <p:spPr>
          <a:xfrm>
            <a:off x="756750" y="2256050"/>
            <a:ext cx="6594300" cy="6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nter"/>
              <a:buNone/>
              <a:defRPr b="1" sz="36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756750" y="2912450"/>
            <a:ext cx="6492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Char char="●"/>
              <a:defRPr>
                <a:solidFill>
                  <a:srgbClr val="B0CCC7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○"/>
              <a:defRPr>
                <a:solidFill>
                  <a:srgbClr val="B0CCC7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■"/>
              <a:defRPr>
                <a:solidFill>
                  <a:srgbClr val="B0CCC7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●"/>
              <a:defRPr>
                <a:solidFill>
                  <a:srgbClr val="B0CCC7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○"/>
              <a:defRPr>
                <a:solidFill>
                  <a:srgbClr val="B0CCC7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■"/>
              <a:defRPr>
                <a:solidFill>
                  <a:srgbClr val="B0CCC7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●"/>
              <a:defRPr>
                <a:solidFill>
                  <a:srgbClr val="B0CCC7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○"/>
              <a:defRPr>
                <a:solidFill>
                  <a:srgbClr val="B0CCC7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400"/>
              <a:buChar char="■"/>
              <a:defRPr>
                <a:solidFill>
                  <a:srgbClr val="B0CCC7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326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90250" y="450150"/>
            <a:ext cx="6738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0" name="Google Shape;30;p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100"/>
              <a:buNone/>
              <a:defRPr sz="2100">
                <a:solidFill>
                  <a:srgbClr val="B0CCC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1" name="Google Shape;31;p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800"/>
              <a:buChar char="●"/>
              <a:defRPr>
                <a:solidFill>
                  <a:srgbClr val="1B1F24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●"/>
              <a:defRPr>
                <a:solidFill>
                  <a:srgbClr val="1B1F24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●"/>
              <a:defRPr>
                <a:solidFill>
                  <a:srgbClr val="1B1F24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Font typeface="Inter Black"/>
              <a:buNone/>
              <a:defRPr sz="12000">
                <a:latin typeface="Inter Black"/>
                <a:ea typeface="Inter Black"/>
                <a:cs typeface="Inter Black"/>
                <a:sym typeface="Inter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" name="Google Shape;34;p8"/>
          <p:cNvSpPr txBox="1"/>
          <p:nvPr>
            <p:ph idx="1" type="subTitle"/>
          </p:nvPr>
        </p:nvSpPr>
        <p:spPr>
          <a:xfrm>
            <a:off x="1325700" y="2922700"/>
            <a:ext cx="6492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ctrTitle"/>
          </p:nvPr>
        </p:nvSpPr>
        <p:spPr>
          <a:xfrm>
            <a:off x="710225" y="2476500"/>
            <a:ext cx="6594300" cy="6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nter"/>
              <a:buNone/>
              <a:defRPr b="1" sz="36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2" name="Google Shape;42;p11"/>
          <p:cNvSpPr txBox="1"/>
          <p:nvPr>
            <p:ph idx="1" type="subTitle"/>
          </p:nvPr>
        </p:nvSpPr>
        <p:spPr>
          <a:xfrm>
            <a:off x="710225" y="3056700"/>
            <a:ext cx="6492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3E3D9"/>
              </a:buClr>
              <a:buSzPts val="1800"/>
              <a:buFont typeface="Inter Light"/>
              <a:buNone/>
              <a:defRPr>
                <a:solidFill>
                  <a:srgbClr val="83E3D9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43" name="Google Shape;43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37202" y="759650"/>
            <a:ext cx="1932700" cy="19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_2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ctrTitle"/>
          </p:nvPr>
        </p:nvSpPr>
        <p:spPr>
          <a:xfrm>
            <a:off x="756750" y="2256050"/>
            <a:ext cx="6594300" cy="6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Font typeface="Inter"/>
              <a:buNone/>
              <a:defRPr b="1" sz="3600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6" name="Google Shape;46;p12"/>
          <p:cNvSpPr txBox="1"/>
          <p:nvPr>
            <p:ph idx="1" type="subTitle"/>
          </p:nvPr>
        </p:nvSpPr>
        <p:spPr>
          <a:xfrm>
            <a:off x="756750" y="2912450"/>
            <a:ext cx="6492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47" name="Google Shape;47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350" y="4561625"/>
            <a:ext cx="581875" cy="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328825" y="216775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422825" y="863550"/>
            <a:ext cx="8400900" cy="3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400"/>
              <a:buChar char="●"/>
              <a:defRPr sz="2400">
                <a:solidFill>
                  <a:srgbClr val="B0CCC7"/>
                </a:solidFill>
              </a:defRPr>
            </a:lvl1pPr>
            <a:lvl2pPr indent="-355600" lvl="1" marL="914400" rtl="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00"/>
              <a:buChar char="○"/>
              <a:defRPr sz="2000">
                <a:solidFill>
                  <a:srgbClr val="B0CCC7"/>
                </a:solidFill>
              </a:defRPr>
            </a:lvl2pPr>
            <a:lvl3pPr indent="-355600" lvl="2" marL="1371600" rtl="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00"/>
              <a:buChar char="■"/>
              <a:defRPr sz="2000">
                <a:solidFill>
                  <a:srgbClr val="B0CCC7"/>
                </a:solidFill>
              </a:defRPr>
            </a:lvl3pPr>
            <a:lvl4pPr indent="-355600" lvl="3" marL="1828800" rtl="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00"/>
              <a:buChar char="●"/>
              <a:defRPr sz="2000">
                <a:solidFill>
                  <a:srgbClr val="B0CCC7"/>
                </a:solidFill>
              </a:defRPr>
            </a:lvl4pPr>
            <a:lvl5pPr indent="-355600" lvl="4" marL="2286000" rtl="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00"/>
              <a:buChar char="○"/>
              <a:defRPr sz="2000">
                <a:solidFill>
                  <a:srgbClr val="B0CCC7"/>
                </a:solidFill>
              </a:defRPr>
            </a:lvl5pPr>
            <a:lvl6pPr indent="-355600" lvl="5" marL="2743200" rtl="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00"/>
              <a:buChar char="■"/>
              <a:defRPr sz="2000">
                <a:solidFill>
                  <a:srgbClr val="B0CCC7"/>
                </a:solidFill>
              </a:defRPr>
            </a:lvl6pPr>
            <a:lvl7pPr indent="-355600" lvl="6" marL="3200400" rtl="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00"/>
              <a:buChar char="●"/>
              <a:defRPr sz="2000">
                <a:solidFill>
                  <a:srgbClr val="B0CCC7"/>
                </a:solidFill>
              </a:defRPr>
            </a:lvl7pPr>
            <a:lvl8pPr indent="-355600" lvl="7" marL="3657600" rtl="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00"/>
              <a:buChar char="○"/>
              <a:defRPr sz="2000">
                <a:solidFill>
                  <a:srgbClr val="B0CCC7"/>
                </a:solidFill>
              </a:defRPr>
            </a:lvl8pPr>
            <a:lvl9pPr indent="-355600" lvl="8" marL="4114800" rtl="0"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00"/>
              <a:buChar char="■"/>
              <a:defRPr sz="2000">
                <a:solidFill>
                  <a:srgbClr val="B0CCC7"/>
                </a:solidFill>
              </a:defRPr>
            </a:lvl9pPr>
          </a:lstStyle>
          <a:p/>
        </p:txBody>
      </p:sp>
      <p:pic>
        <p:nvPicPr>
          <p:cNvPr id="51" name="Google Shape;5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350" y="4561625"/>
            <a:ext cx="581875" cy="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" name="Google Shape;55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pic>
        <p:nvPicPr>
          <p:cNvPr id="56" name="Google Shape;56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350" y="4561625"/>
            <a:ext cx="581875" cy="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90250" y="450150"/>
            <a:ext cx="67389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pic>
        <p:nvPicPr>
          <p:cNvPr id="59" name="Google Shape;5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350" y="4561625"/>
            <a:ext cx="581875" cy="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b="1"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100"/>
              <a:buNone/>
              <a:defRPr sz="2100">
                <a:solidFill>
                  <a:srgbClr val="B0CCC7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1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800"/>
              <a:buChar char="●"/>
              <a:defRPr>
                <a:solidFill>
                  <a:srgbClr val="1B1F24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●"/>
              <a:defRPr>
                <a:solidFill>
                  <a:srgbClr val="1B1F24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●"/>
              <a:defRPr>
                <a:solidFill>
                  <a:srgbClr val="1B1F24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○"/>
              <a:defRPr>
                <a:solidFill>
                  <a:srgbClr val="1B1F24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rgbClr val="1B1F24"/>
              </a:buClr>
              <a:buSzPts val="1400"/>
              <a:buChar char="■"/>
              <a:defRPr>
                <a:solidFill>
                  <a:srgbClr val="1B1F24"/>
                </a:solidFill>
              </a:defRPr>
            </a:lvl9pPr>
          </a:lstStyle>
          <a:p/>
        </p:txBody>
      </p:sp>
      <p:pic>
        <p:nvPicPr>
          <p:cNvPr id="65" name="Google Shape;6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350" y="4561625"/>
            <a:ext cx="581875" cy="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Font typeface="Inter Black"/>
              <a:buNone/>
              <a:defRPr sz="12000">
                <a:latin typeface="Inter Black"/>
                <a:ea typeface="Inter Black"/>
                <a:cs typeface="Inter Black"/>
                <a:sym typeface="Inter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8" name="Google Shape;68;p17"/>
          <p:cNvSpPr txBox="1"/>
          <p:nvPr>
            <p:ph idx="1" type="subTitle"/>
          </p:nvPr>
        </p:nvSpPr>
        <p:spPr>
          <a:xfrm>
            <a:off x="1325700" y="2922700"/>
            <a:ext cx="6492600" cy="79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800"/>
              <a:buFont typeface="Inter Light"/>
              <a:buNone/>
              <a:defRPr>
                <a:solidFill>
                  <a:srgbClr val="B0CCC7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69" name="Google Shape;6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350" y="4561625"/>
            <a:ext cx="581875" cy="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350" y="4561625"/>
            <a:ext cx="581875" cy="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hite">
  <p:cSld name="BLANK_1">
    <p:bg>
      <p:bgPr>
        <a:solidFill>
          <a:schemeClr val="dk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352" y="4561625"/>
            <a:ext cx="581875" cy="58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White 1">
  <p:cSld name="BLANK_1_1">
    <p:bg>
      <p:bgPr>
        <a:solidFill>
          <a:schemeClr val="dk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2"/>
          <p:cNvSpPr txBox="1"/>
          <p:nvPr>
            <p:ph type="title"/>
          </p:nvPr>
        </p:nvSpPr>
        <p:spPr>
          <a:xfrm>
            <a:off x="628651" y="194846"/>
            <a:ext cx="7886700" cy="88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" type="body"/>
          </p:nvPr>
        </p:nvSpPr>
        <p:spPr>
          <a:xfrm>
            <a:off x="628650" y="1278082"/>
            <a:ext cx="7886700" cy="33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0" name="Google Shape;80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1" name="Google Shape;81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100"/>
            </a:lvl1pPr>
            <a:lvl2pPr indent="0" lvl="1" marL="0" rtl="0" algn="r">
              <a:spcBef>
                <a:spcPts val="0"/>
              </a:spcBef>
              <a:buNone/>
              <a:defRPr sz="1100"/>
            </a:lvl2pPr>
            <a:lvl3pPr indent="0" lvl="2" marL="0" rtl="0" algn="r">
              <a:spcBef>
                <a:spcPts val="0"/>
              </a:spcBef>
              <a:buNone/>
              <a:defRPr sz="1100"/>
            </a:lvl3pPr>
            <a:lvl4pPr indent="0" lvl="3" marL="0" rtl="0" algn="r">
              <a:spcBef>
                <a:spcPts val="0"/>
              </a:spcBef>
              <a:buNone/>
              <a:defRPr sz="1100"/>
            </a:lvl4pPr>
            <a:lvl5pPr indent="0" lvl="4" marL="0" rtl="0" algn="r">
              <a:spcBef>
                <a:spcPts val="0"/>
              </a:spcBef>
              <a:buNone/>
              <a:defRPr sz="1100"/>
            </a:lvl5pPr>
            <a:lvl6pPr indent="0" lvl="5" marL="0" rtl="0" algn="r">
              <a:spcBef>
                <a:spcPts val="0"/>
              </a:spcBef>
              <a:buNone/>
              <a:defRPr sz="1100"/>
            </a:lvl6pPr>
            <a:lvl7pPr indent="0" lvl="6" marL="0" rtl="0" algn="r">
              <a:spcBef>
                <a:spcPts val="0"/>
              </a:spcBef>
              <a:buNone/>
              <a:defRPr sz="1100"/>
            </a:lvl7pPr>
            <a:lvl8pPr indent="0" lvl="7" marL="0" rtl="0" algn="r">
              <a:spcBef>
                <a:spcPts val="0"/>
              </a:spcBef>
              <a:buNone/>
              <a:defRPr sz="1100"/>
            </a:lvl8pPr>
            <a:lvl9pPr indent="0" lvl="8" marL="0" rt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9.xml"/><Relationship Id="rId2" Type="http://schemas.openxmlformats.org/officeDocument/2006/relationships/slideLayout" Target="../slideLayouts/slideLayout10.xml"/><Relationship Id="rId3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1B1F2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263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17200"/>
            <a:ext cx="8832300" cy="3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18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●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●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-35839" y="4427100"/>
            <a:ext cx="792600" cy="792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rgbClr val="1B1F24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Inter"/>
              <a:buNone/>
              <a:defRPr sz="28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Char char="●"/>
              <a:defRPr sz="18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●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●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○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Inter"/>
              <a:buChar char="■"/>
              <a:defRPr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hyperlink" Target="mailto:dsyme@github.com" TargetMode="External"/><Relationship Id="rId4" Type="http://schemas.openxmlformats.org/officeDocument/2006/relationships/hyperlink" Target="https://githubnext.com/projects/copilot-workspace/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hyperlink" Target="https://githubnext.com/" TargetMode="External"/><Relationship Id="rId4" Type="http://schemas.openxmlformats.org/officeDocument/2006/relationships/image" Target="../media/image4.png"/><Relationship Id="rId5" Type="http://schemas.openxmlformats.org/officeDocument/2006/relationships/hyperlink" Target="https://githubnext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3"/>
          <p:cNvSpPr txBox="1"/>
          <p:nvPr>
            <p:ph type="ctrTitle"/>
          </p:nvPr>
        </p:nvSpPr>
        <p:spPr>
          <a:xfrm>
            <a:off x="1142400" y="2444875"/>
            <a:ext cx="7720800" cy="78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Thought Partnership for AI-Enriched Dev Tools</a:t>
            </a:r>
            <a:endParaRPr/>
          </a:p>
        </p:txBody>
      </p:sp>
      <p:sp>
        <p:nvSpPr>
          <p:cNvPr id="87" name="Google Shape;87;p23"/>
          <p:cNvSpPr txBox="1"/>
          <p:nvPr>
            <p:ph idx="1" type="subTitle"/>
          </p:nvPr>
        </p:nvSpPr>
        <p:spPr>
          <a:xfrm>
            <a:off x="1193250" y="3744200"/>
            <a:ext cx="6492600" cy="94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 Syme and the Copilot Workspace team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Next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/>
          <p:nvPr>
            <p:ph type="ctrTitle"/>
          </p:nvPr>
        </p:nvSpPr>
        <p:spPr>
          <a:xfrm>
            <a:off x="1142400" y="2444875"/>
            <a:ext cx="6594300" cy="65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Next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0" i="1" lang="en" sz="2300">
                <a:latin typeface="Roboto"/>
                <a:ea typeface="Roboto"/>
                <a:cs typeface="Roboto"/>
                <a:sym typeface="Roboto"/>
              </a:rPr>
              <a:t>Investigating the future of software development</a:t>
            </a:r>
            <a:endParaRPr b="0" i="1" sz="2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20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0" i="1" lang="en" sz="2300">
                <a:latin typeface="Roboto"/>
                <a:ea typeface="Roboto"/>
                <a:cs typeface="Roboto"/>
                <a:sym typeface="Roboto"/>
              </a:rPr>
              <a:t>Research, Build, Balance, Ship, Learn</a:t>
            </a:r>
            <a:endParaRPr b="0" i="1" sz="23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5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/>
              <a:t>“</a:t>
            </a:r>
            <a:r>
              <a:rPr i="1" lang="en" sz="2500"/>
              <a:t>Any task, any software”</a:t>
            </a:r>
            <a:br>
              <a:rPr i="1" lang="en" sz="2500"/>
            </a:br>
            <a:br>
              <a:rPr i="1" lang="en" sz="2500"/>
            </a:br>
            <a:r>
              <a:rPr lang="en" sz="2500"/>
              <a:t>“</a:t>
            </a:r>
            <a:r>
              <a:rPr i="1" lang="en" sz="2500"/>
              <a:t>Make github.com AI-rich, today”</a:t>
            </a:r>
            <a:br>
              <a:rPr i="1" lang="en" sz="2500"/>
            </a:br>
            <a:br>
              <a:rPr i="1" lang="en" sz="2500"/>
            </a:br>
            <a:r>
              <a:rPr lang="en" sz="2500"/>
              <a:t>“</a:t>
            </a:r>
            <a:r>
              <a:rPr i="1" lang="en" sz="2500"/>
              <a:t>Make github.com a place to get coding done”</a:t>
            </a:r>
            <a:br>
              <a:rPr i="1" lang="en" sz="2500"/>
            </a:br>
            <a:br>
              <a:rPr i="1" lang="en" sz="2500"/>
            </a:br>
            <a:r>
              <a:rPr lang="en" sz="2500"/>
              <a:t>“</a:t>
            </a:r>
            <a:r>
              <a:rPr i="1" lang="en" sz="2500"/>
              <a:t>Bring natural language to the IDE”</a:t>
            </a:r>
            <a:br>
              <a:rPr i="1" lang="en" sz="2500"/>
            </a:br>
            <a:br>
              <a:rPr i="1" lang="en" sz="2500"/>
            </a:br>
            <a:r>
              <a:rPr i="1" lang="en" sz="2500"/>
              <a:t>“What does it mean to program with words?”</a:t>
            </a:r>
            <a:endParaRPr i="1" sz="2500"/>
          </a:p>
        </p:txBody>
      </p:sp>
      <p:sp>
        <p:nvSpPr>
          <p:cNvPr id="98" name="Google Shape;98;p25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Situation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6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Situation</a:t>
            </a:r>
            <a:endParaRPr/>
          </a:p>
        </p:txBody>
      </p:sp>
      <p:sp>
        <p:nvSpPr>
          <p:cNvPr id="104" name="Google Shape;104;p26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" sz="2500"/>
            </a:br>
            <a:r>
              <a:rPr i="1" lang="en" sz="2500"/>
              <a:t>Software activity begins with words and intent</a:t>
            </a:r>
            <a:br>
              <a:rPr i="1" lang="en" sz="2500"/>
            </a:br>
            <a:br>
              <a:rPr lang="en" sz="2500"/>
            </a:br>
            <a:r>
              <a:rPr lang="en" sz="2500"/>
              <a:t>Before a code change, before a pull request, there are words - a discussion, a bug report, a feature request, an engineering task, a meeting, a design document, an idea.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Journey, Together</a:t>
            </a:r>
            <a:endParaRPr/>
          </a:p>
        </p:txBody>
      </p:sp>
      <p:pic>
        <p:nvPicPr>
          <p:cNvPr id="110" name="Google Shape;11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361" y="1344100"/>
            <a:ext cx="2455276" cy="245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7"/>
          <p:cNvSpPr txBox="1"/>
          <p:nvPr/>
        </p:nvSpPr>
        <p:spPr>
          <a:xfrm>
            <a:off x="6237950" y="4774200"/>
            <a:ext cx="290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https://www.flaticon.com/free-icons/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Journey, Together</a:t>
            </a:r>
            <a:endParaRPr/>
          </a:p>
        </p:txBody>
      </p:sp>
      <p:pic>
        <p:nvPicPr>
          <p:cNvPr id="118" name="Google Shape;1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361" y="1344100"/>
            <a:ext cx="2455276" cy="245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28"/>
          <p:cNvSpPr txBox="1"/>
          <p:nvPr/>
        </p:nvSpPr>
        <p:spPr>
          <a:xfrm>
            <a:off x="6237950" y="4774200"/>
            <a:ext cx="290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https://www.flaticon.com/free-icons/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0" name="Google Shape;120;p28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8"/>
          <p:cNvSpPr/>
          <p:nvPr/>
        </p:nvSpPr>
        <p:spPr>
          <a:xfrm>
            <a:off x="1600525" y="3178125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Idea</a:t>
            </a:r>
            <a:endParaRPr sz="1800"/>
          </a:p>
        </p:txBody>
      </p:sp>
      <p:sp>
        <p:nvSpPr>
          <p:cNvPr id="122" name="Google Shape;122;p28"/>
          <p:cNvSpPr/>
          <p:nvPr/>
        </p:nvSpPr>
        <p:spPr>
          <a:xfrm>
            <a:off x="6001075" y="1120725"/>
            <a:ext cx="2455272" cy="168404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Code</a:t>
            </a:r>
            <a:br>
              <a:rPr lang="en" sz="1800"/>
            </a:br>
            <a:r>
              <a:rPr lang="en" sz="1800"/>
              <a:t>🏆🏆🏆</a:t>
            </a:r>
            <a:endParaRPr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Journey, Together</a:t>
            </a:r>
            <a:endParaRPr/>
          </a:p>
        </p:txBody>
      </p:sp>
      <p:pic>
        <p:nvPicPr>
          <p:cNvPr id="128" name="Google Shape;12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361" y="1344100"/>
            <a:ext cx="2455276" cy="245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9"/>
          <p:cNvSpPr txBox="1"/>
          <p:nvPr/>
        </p:nvSpPr>
        <p:spPr>
          <a:xfrm>
            <a:off x="6237950" y="4774200"/>
            <a:ext cx="290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https://www.flaticon.com/free-icons/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29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9"/>
          <p:cNvSpPr/>
          <p:nvPr/>
        </p:nvSpPr>
        <p:spPr>
          <a:xfrm>
            <a:off x="1600525" y="3178125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Change Intent</a:t>
            </a:r>
            <a:endParaRPr sz="1800"/>
          </a:p>
        </p:txBody>
      </p:sp>
      <p:sp>
        <p:nvSpPr>
          <p:cNvPr id="132" name="Google Shape;132;p29"/>
          <p:cNvSpPr/>
          <p:nvPr/>
        </p:nvSpPr>
        <p:spPr>
          <a:xfrm>
            <a:off x="6001075" y="1120725"/>
            <a:ext cx="2455272" cy="168404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Change</a:t>
            </a:r>
            <a:br>
              <a:rPr lang="en" sz="1800"/>
            </a:br>
            <a:r>
              <a:rPr lang="en" sz="1800"/>
              <a:t>🏆🏆🏆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Journey, Together</a:t>
            </a:r>
            <a:endParaRPr/>
          </a:p>
        </p:txBody>
      </p:sp>
      <p:pic>
        <p:nvPicPr>
          <p:cNvPr id="138" name="Google Shape;138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4361" y="1344100"/>
            <a:ext cx="2455276" cy="2455276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0"/>
          <p:cNvSpPr txBox="1"/>
          <p:nvPr/>
        </p:nvSpPr>
        <p:spPr>
          <a:xfrm>
            <a:off x="6237950" y="4774200"/>
            <a:ext cx="2906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https://www.flaticon.com/free-icons/</a:t>
            </a:r>
            <a:endParaRPr sz="12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30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30"/>
          <p:cNvSpPr/>
          <p:nvPr/>
        </p:nvSpPr>
        <p:spPr>
          <a:xfrm>
            <a:off x="1600525" y="3178125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GitHub Issue</a:t>
            </a:r>
            <a:endParaRPr sz="1800"/>
          </a:p>
        </p:txBody>
      </p:sp>
      <p:sp>
        <p:nvSpPr>
          <p:cNvPr id="142" name="Google Shape;142;p30"/>
          <p:cNvSpPr/>
          <p:nvPr/>
        </p:nvSpPr>
        <p:spPr>
          <a:xfrm>
            <a:off x="6001075" y="1120725"/>
            <a:ext cx="2455272" cy="168404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GitHub Pull Request</a:t>
            </a:r>
            <a:br>
              <a:rPr lang="en" sz="1800"/>
            </a:br>
            <a:r>
              <a:rPr lang="en" sz="1800"/>
              <a:t>🏆🏆🏆</a:t>
            </a:r>
            <a:endParaRPr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Journey, Together</a:t>
            </a:r>
            <a:endParaRPr/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The original GitHub </a:t>
            </a:r>
            <a:r>
              <a:rPr lang="en" sz="2500"/>
              <a:t>Copilot offers completion of code in your editor</a:t>
            </a:r>
            <a:endParaRPr sz="2500"/>
          </a:p>
          <a:p>
            <a:pPr indent="-361950" lvl="0" marL="457200" rtl="0" algn="l">
              <a:spcBef>
                <a:spcPts val="120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You are already located at a pinpoint of change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You accept/reject small bits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You move your cursor around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You have to type quite a lot </a:t>
            </a:r>
            <a:endParaRPr sz="2100"/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SzPts val="2100"/>
              <a:buChar char="●"/>
            </a:pPr>
            <a:r>
              <a:rPr lang="en" sz="2100"/>
              <a:t>Copilot sort of infers what you are trying to do</a:t>
            </a:r>
            <a:endParaRPr sz="2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This is magical: a finely honed surgical assistant</a:t>
            </a:r>
            <a:endParaRPr sz="2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Journey, Together</a:t>
            </a:r>
            <a:endParaRPr/>
          </a:p>
        </p:txBody>
      </p:sp>
      <p:sp>
        <p:nvSpPr>
          <p:cNvPr id="154" name="Google Shape;154;p32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Changing perspective</a:t>
            </a:r>
            <a:br>
              <a:rPr lang="en" sz="2500"/>
            </a:br>
            <a:endParaRPr sz="2500"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500"/>
              <a:t>Pinpoint Surgery    		→	Whole Operation </a:t>
            </a:r>
            <a:br>
              <a:rPr lang="en" sz="2500"/>
            </a:br>
            <a:br>
              <a:rPr lang="en" sz="2500"/>
            </a:br>
            <a:r>
              <a:rPr lang="en" sz="2500"/>
              <a:t>	Single Point of Change 	→	Whole Repository</a:t>
            </a:r>
            <a:br>
              <a:rPr lang="en" sz="2500"/>
            </a:br>
            <a:br>
              <a:rPr lang="en" sz="2500"/>
            </a:br>
            <a:r>
              <a:rPr lang="en" sz="2500"/>
              <a:t>	Implicit Task 				→	Explicit Task</a:t>
            </a:r>
            <a:endParaRPr sz="2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Journey, Together</a:t>
            </a:r>
            <a:endParaRPr/>
          </a:p>
        </p:txBody>
      </p:sp>
      <p:sp>
        <p:nvSpPr>
          <p:cNvPr id="160" name="Google Shape;160;p33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br>
              <a:rPr lang="en" sz="2100"/>
            </a:br>
            <a:r>
              <a:rPr lang="en" sz="2100"/>
              <a:t>“Add a refresh button to the main page”</a:t>
            </a:r>
            <a:endParaRPr sz="2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“Create end-to-end tests using Playwright”</a:t>
            </a:r>
            <a:endParaRPr sz="2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“Set up continuous integration using GitHub Actions”</a:t>
            </a:r>
            <a:endParaRPr sz="2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“Set up production resources in Azure using Terraform”</a:t>
            </a:r>
            <a:endParaRPr sz="21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00"/>
              <a:t>“Read coverage report and add unit tests to repo”</a:t>
            </a:r>
            <a:endParaRPr sz="21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100"/>
              <a:t>“Create a website for UK house prices”</a:t>
            </a:r>
            <a:endParaRPr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328825" y="216775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Need</a:t>
            </a:r>
            <a:endParaRPr/>
          </a:p>
        </p:txBody>
      </p:sp>
      <p:sp>
        <p:nvSpPr>
          <p:cNvPr id="166" name="Google Shape;166;p34"/>
          <p:cNvSpPr txBox="1"/>
          <p:nvPr>
            <p:ph idx="1" type="body"/>
          </p:nvPr>
        </p:nvSpPr>
        <p:spPr>
          <a:xfrm>
            <a:off x="422825" y="863550"/>
            <a:ext cx="8400900" cy="3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i="1" lang="en" sz="1779"/>
              <a:t>Contextual</a:t>
            </a:r>
            <a:r>
              <a:rPr lang="en" sz="1779"/>
              <a:t>. Aware of the context — repository, issue, pull request</a:t>
            </a:r>
            <a:endParaRPr sz="17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i="1" lang="en" sz="1779"/>
              <a:t>A</a:t>
            </a:r>
            <a:r>
              <a:rPr i="1" lang="en" sz="1779"/>
              <a:t>ssistive</a:t>
            </a:r>
            <a:r>
              <a:rPr lang="en" sz="1779"/>
              <a:t>. Navigate unfamiliar tasks, augmenting your development skills</a:t>
            </a:r>
            <a:endParaRPr sz="17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i="1" lang="en" sz="1779"/>
              <a:t>Pervasive</a:t>
            </a:r>
            <a:r>
              <a:rPr lang="en" sz="1779"/>
              <a:t>. Ready and waiting</a:t>
            </a:r>
            <a:r>
              <a:rPr lang="en" sz="1779"/>
              <a:t> for you</a:t>
            </a:r>
            <a:r>
              <a:rPr lang="en" sz="1779"/>
              <a:t>, wherever software change begins, on every issue in every repository</a:t>
            </a:r>
            <a:endParaRPr sz="17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i="1" lang="en" sz="1779"/>
              <a:t>Iterative</a:t>
            </a:r>
            <a:r>
              <a:rPr lang="en" sz="1779"/>
              <a:t>. Empowers you to check, review, refine AI-generated outputs - you are in control</a:t>
            </a:r>
            <a:endParaRPr sz="17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i="1" lang="en" sz="1779"/>
              <a:t>Collaborative</a:t>
            </a:r>
            <a:r>
              <a:rPr lang="en" sz="1779"/>
              <a:t>. You share sessions with your team, publish links to your sessions.</a:t>
            </a:r>
            <a:endParaRPr sz="1779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rPr i="1" lang="en" sz="1779"/>
              <a:t>Configurable</a:t>
            </a:r>
            <a:r>
              <a:rPr lang="en" sz="1779"/>
              <a:t>. Integrate into workflows, e.g. via deep links</a:t>
            </a:r>
            <a:endParaRPr sz="1779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note on evaluation methodology</a:t>
            </a:r>
            <a:endParaRPr/>
          </a:p>
        </p:txBody>
      </p:sp>
      <p:sp>
        <p:nvSpPr>
          <p:cNvPr id="172" name="Google Shape;172;p35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88"/>
              <a:buFont typeface="Arial"/>
              <a:buChar char="●"/>
            </a:pPr>
            <a:r>
              <a:rPr lang="en" sz="2087">
                <a:latin typeface="Arial"/>
                <a:ea typeface="Arial"/>
                <a:cs typeface="Arial"/>
                <a:sym typeface="Arial"/>
              </a:rPr>
              <a:t>We don’t need to write papers. Our measure is ultimately influence on delivered supported product design</a:t>
            </a:r>
            <a:br>
              <a:rPr lang="en" sz="2087">
                <a:latin typeface="Arial"/>
                <a:ea typeface="Arial"/>
                <a:cs typeface="Arial"/>
                <a:sym typeface="Arial"/>
              </a:rPr>
            </a:br>
            <a:endParaRPr sz="2087">
              <a:latin typeface="Arial"/>
              <a:ea typeface="Arial"/>
              <a:cs typeface="Arial"/>
              <a:sym typeface="Arial"/>
            </a:endParaRPr>
          </a:p>
          <a:p>
            <a:pPr indent="-361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8"/>
              <a:buFont typeface="Arial"/>
              <a:buChar char="●"/>
            </a:pPr>
            <a:r>
              <a:rPr lang="en" sz="2087">
                <a:latin typeface="Arial"/>
                <a:ea typeface="Arial"/>
                <a:cs typeface="Arial"/>
                <a:sym typeface="Arial"/>
              </a:rPr>
              <a:t>Primary techniques</a:t>
            </a:r>
            <a:endParaRPr sz="2087">
              <a:latin typeface="Arial"/>
              <a:ea typeface="Arial"/>
              <a:cs typeface="Arial"/>
              <a:sym typeface="Arial"/>
            </a:endParaRPr>
          </a:p>
          <a:p>
            <a:pPr indent="-36115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8"/>
              <a:buFont typeface="Arial"/>
              <a:buChar char="○"/>
            </a:pPr>
            <a:r>
              <a:rPr lang="en" sz="2087">
                <a:latin typeface="Arial"/>
                <a:ea typeface="Arial"/>
                <a:cs typeface="Arial"/>
                <a:sym typeface="Arial"/>
              </a:rPr>
              <a:t>Simulated walkthroughs of development activities</a:t>
            </a:r>
            <a:endParaRPr sz="2087">
              <a:latin typeface="Arial"/>
              <a:ea typeface="Arial"/>
              <a:cs typeface="Arial"/>
              <a:sym typeface="Arial"/>
            </a:endParaRPr>
          </a:p>
          <a:p>
            <a:pPr indent="-36115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8"/>
              <a:buFont typeface="Arial"/>
              <a:buChar char="○"/>
            </a:pPr>
            <a:r>
              <a:rPr lang="en" sz="2087">
                <a:latin typeface="Arial"/>
                <a:ea typeface="Arial"/>
                <a:cs typeface="Arial"/>
                <a:sym typeface="Arial"/>
              </a:rPr>
              <a:t>Dogfooding</a:t>
            </a:r>
            <a:endParaRPr sz="2087">
              <a:latin typeface="Arial"/>
              <a:ea typeface="Arial"/>
              <a:cs typeface="Arial"/>
              <a:sym typeface="Arial"/>
            </a:endParaRPr>
          </a:p>
          <a:p>
            <a:pPr indent="-36115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8"/>
              <a:buFont typeface="Arial"/>
              <a:buChar char="○"/>
            </a:pPr>
            <a:r>
              <a:rPr lang="en" sz="2087">
                <a:latin typeface="Arial"/>
                <a:ea typeface="Arial"/>
                <a:cs typeface="Arial"/>
                <a:sym typeface="Arial"/>
              </a:rPr>
              <a:t>“Baseline” test suite over ~50 tasks, capturing current state and eyeball impact of changes</a:t>
            </a:r>
            <a:endParaRPr sz="2087">
              <a:latin typeface="Arial"/>
              <a:ea typeface="Arial"/>
              <a:cs typeface="Arial"/>
              <a:sym typeface="Arial"/>
            </a:endParaRPr>
          </a:p>
          <a:p>
            <a:pPr indent="-36115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8"/>
              <a:buFont typeface="Arial"/>
              <a:buChar char="○"/>
            </a:pPr>
            <a:r>
              <a:rPr lang="en" sz="2087">
                <a:latin typeface="Arial"/>
                <a:ea typeface="Arial"/>
                <a:cs typeface="Arial"/>
                <a:sym typeface="Arial"/>
              </a:rPr>
              <a:t>Some benchmarking</a:t>
            </a:r>
            <a:endParaRPr sz="2087">
              <a:latin typeface="Arial"/>
              <a:ea typeface="Arial"/>
              <a:cs typeface="Arial"/>
              <a:sym typeface="Arial"/>
            </a:endParaRPr>
          </a:p>
          <a:p>
            <a:pPr indent="-36115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8"/>
              <a:buFont typeface="Arial"/>
              <a:buChar char="○"/>
            </a:pPr>
            <a:r>
              <a:rPr lang="en" sz="2087">
                <a:latin typeface="Arial"/>
                <a:ea typeface="Arial"/>
                <a:cs typeface="Arial"/>
                <a:sym typeface="Arial"/>
              </a:rPr>
              <a:t>Some qualitative user testing</a:t>
            </a:r>
            <a:endParaRPr sz="2087">
              <a:latin typeface="Arial"/>
              <a:ea typeface="Arial"/>
              <a:cs typeface="Arial"/>
              <a:sym typeface="Arial"/>
            </a:endParaRPr>
          </a:p>
          <a:p>
            <a:pPr indent="-361156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088"/>
              <a:buFont typeface="Arial"/>
              <a:buChar char="○"/>
            </a:pPr>
            <a:r>
              <a:rPr lang="en" sz="2087">
                <a:latin typeface="Arial"/>
                <a:ea typeface="Arial"/>
                <a:cs typeface="Arial"/>
                <a:sym typeface="Arial"/>
              </a:rPr>
              <a:t>Release to early adoption waitlist and collect feedback</a:t>
            </a:r>
            <a:endParaRPr sz="2087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6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54"/>
          </a:p>
        </p:txBody>
      </p:sp>
      <p:sp>
        <p:nvSpPr>
          <p:cNvPr id="178" name="Google Shape;178;p36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The Original Concept</a:t>
            </a:r>
            <a:endParaRPr sz="2620"/>
          </a:p>
        </p:txBody>
      </p:sp>
      <p:sp>
        <p:nvSpPr>
          <p:cNvPr id="179" name="Google Shape;179;p36"/>
          <p:cNvSpPr/>
          <p:nvPr/>
        </p:nvSpPr>
        <p:spPr>
          <a:xfrm>
            <a:off x="1143775" y="2836150"/>
            <a:ext cx="1831500" cy="1820400"/>
          </a:xfrm>
          <a:prstGeom prst="cube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</a:t>
            </a:r>
            <a:endParaRPr/>
          </a:p>
        </p:txBody>
      </p:sp>
      <p:sp>
        <p:nvSpPr>
          <p:cNvPr id="180" name="Google Shape;180;p36"/>
          <p:cNvSpPr/>
          <p:nvPr/>
        </p:nvSpPr>
        <p:spPr>
          <a:xfrm>
            <a:off x="2372050" y="863550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“words”</a:t>
            </a:r>
            <a:endParaRPr/>
          </a:p>
        </p:txBody>
      </p:sp>
      <p:cxnSp>
        <p:nvCxnSpPr>
          <p:cNvPr id="181" name="Google Shape;181;p36"/>
          <p:cNvCxnSpPr/>
          <p:nvPr/>
        </p:nvCxnSpPr>
        <p:spPr>
          <a:xfrm flipH="1" rot="10800000">
            <a:off x="2043050" y="2013700"/>
            <a:ext cx="559200" cy="5373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36"/>
          <p:cNvSpPr txBox="1"/>
          <p:nvPr/>
        </p:nvSpPr>
        <p:spPr>
          <a:xfrm>
            <a:off x="1494700" y="2046525"/>
            <a:ext cx="7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topic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7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54"/>
          </a:p>
        </p:txBody>
      </p:sp>
      <p:sp>
        <p:nvSpPr>
          <p:cNvPr id="188" name="Google Shape;188;p37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The Original Concept</a:t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</p:txBody>
      </p:sp>
      <p:sp>
        <p:nvSpPr>
          <p:cNvPr id="189" name="Google Shape;189;p37"/>
          <p:cNvSpPr/>
          <p:nvPr/>
        </p:nvSpPr>
        <p:spPr>
          <a:xfrm>
            <a:off x="1143775" y="2836150"/>
            <a:ext cx="1831500" cy="1820400"/>
          </a:xfrm>
          <a:prstGeom prst="cube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</a:t>
            </a:r>
            <a:endParaRPr/>
          </a:p>
        </p:txBody>
      </p:sp>
      <p:sp>
        <p:nvSpPr>
          <p:cNvPr id="190" name="Google Shape;190;p37"/>
          <p:cNvSpPr/>
          <p:nvPr/>
        </p:nvSpPr>
        <p:spPr>
          <a:xfrm>
            <a:off x="2372050" y="863550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“blue”</a:t>
            </a:r>
            <a:endParaRPr/>
          </a:p>
        </p:txBody>
      </p:sp>
      <p:cxnSp>
        <p:nvCxnSpPr>
          <p:cNvPr id="191" name="Google Shape;191;p37"/>
          <p:cNvCxnSpPr/>
          <p:nvPr/>
        </p:nvCxnSpPr>
        <p:spPr>
          <a:xfrm flipH="1" rot="10800000">
            <a:off x="2043050" y="2013700"/>
            <a:ext cx="559200" cy="5373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37"/>
          <p:cNvSpPr txBox="1"/>
          <p:nvPr/>
        </p:nvSpPr>
        <p:spPr>
          <a:xfrm>
            <a:off x="1494700" y="2046525"/>
            <a:ext cx="7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color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54"/>
          </a:p>
        </p:txBody>
      </p:sp>
      <p:sp>
        <p:nvSpPr>
          <p:cNvPr id="198" name="Google Shape;198;p38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The Original Concept</a:t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</p:txBody>
      </p:sp>
      <p:sp>
        <p:nvSpPr>
          <p:cNvPr id="199" name="Google Shape;199;p38"/>
          <p:cNvSpPr/>
          <p:nvPr/>
        </p:nvSpPr>
        <p:spPr>
          <a:xfrm>
            <a:off x="1143775" y="2836150"/>
            <a:ext cx="1831500" cy="1820400"/>
          </a:xfrm>
          <a:prstGeom prst="cube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</a:t>
            </a:r>
            <a:endParaRPr/>
          </a:p>
        </p:txBody>
      </p:sp>
      <p:sp>
        <p:nvSpPr>
          <p:cNvPr id="200" name="Google Shape;200;p38"/>
          <p:cNvSpPr/>
          <p:nvPr/>
        </p:nvSpPr>
        <p:spPr>
          <a:xfrm>
            <a:off x="2372050" y="863550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“cube”</a:t>
            </a:r>
            <a:endParaRPr/>
          </a:p>
        </p:txBody>
      </p:sp>
      <p:cxnSp>
        <p:nvCxnSpPr>
          <p:cNvPr id="201" name="Google Shape;201;p38"/>
          <p:cNvCxnSpPr/>
          <p:nvPr/>
        </p:nvCxnSpPr>
        <p:spPr>
          <a:xfrm flipH="1" rot="10800000">
            <a:off x="2043050" y="2013700"/>
            <a:ext cx="559200" cy="5373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2" name="Google Shape;202;p38"/>
          <p:cNvSpPr txBox="1"/>
          <p:nvPr/>
        </p:nvSpPr>
        <p:spPr>
          <a:xfrm>
            <a:off x="1494700" y="2046525"/>
            <a:ext cx="7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shape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54"/>
          </a:p>
        </p:txBody>
      </p:sp>
      <p:sp>
        <p:nvSpPr>
          <p:cNvPr id="208" name="Google Shape;208;p39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The Original Concept</a:t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</p:txBody>
      </p:sp>
      <p:sp>
        <p:nvSpPr>
          <p:cNvPr id="209" name="Google Shape;209;p39"/>
          <p:cNvSpPr/>
          <p:nvPr/>
        </p:nvSpPr>
        <p:spPr>
          <a:xfrm>
            <a:off x="1143775" y="2836150"/>
            <a:ext cx="1831500" cy="1820400"/>
          </a:xfrm>
          <a:prstGeom prst="cube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</a:t>
            </a:r>
            <a:endParaRPr/>
          </a:p>
        </p:txBody>
      </p:sp>
      <p:sp>
        <p:nvSpPr>
          <p:cNvPr id="210" name="Google Shape;210;p39"/>
          <p:cNvSpPr/>
          <p:nvPr/>
        </p:nvSpPr>
        <p:spPr>
          <a:xfrm>
            <a:off x="6417750" y="2770350"/>
            <a:ext cx="1831500" cy="1820400"/>
          </a:xfrm>
          <a:prstGeom prst="cube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CHANGED THING</a:t>
            </a:r>
            <a:endParaRPr/>
          </a:p>
        </p:txBody>
      </p:sp>
      <p:sp>
        <p:nvSpPr>
          <p:cNvPr id="211" name="Google Shape;211;p39"/>
          <p:cNvSpPr/>
          <p:nvPr/>
        </p:nvSpPr>
        <p:spPr>
          <a:xfrm>
            <a:off x="2372050" y="863550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“words”</a:t>
            </a:r>
            <a:endParaRPr/>
          </a:p>
        </p:txBody>
      </p:sp>
      <p:sp>
        <p:nvSpPr>
          <p:cNvPr id="212" name="Google Shape;212;p39"/>
          <p:cNvSpPr/>
          <p:nvPr/>
        </p:nvSpPr>
        <p:spPr>
          <a:xfrm>
            <a:off x="5277175" y="863550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“changed words”</a:t>
            </a:r>
            <a:endParaRPr/>
          </a:p>
        </p:txBody>
      </p:sp>
      <p:cxnSp>
        <p:nvCxnSpPr>
          <p:cNvPr id="213" name="Google Shape;213;p39"/>
          <p:cNvCxnSpPr/>
          <p:nvPr/>
        </p:nvCxnSpPr>
        <p:spPr>
          <a:xfrm flipH="1" rot="10800000">
            <a:off x="2043050" y="2013700"/>
            <a:ext cx="559200" cy="5373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4" name="Google Shape;214;p39"/>
          <p:cNvCxnSpPr/>
          <p:nvPr/>
        </p:nvCxnSpPr>
        <p:spPr>
          <a:xfrm>
            <a:off x="6528550" y="1991700"/>
            <a:ext cx="383700" cy="5265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5" name="Google Shape;215;p39"/>
          <p:cNvSpPr txBox="1"/>
          <p:nvPr/>
        </p:nvSpPr>
        <p:spPr>
          <a:xfrm>
            <a:off x="1494700" y="2046525"/>
            <a:ext cx="7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topic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6" name="Google Shape;216;p39"/>
          <p:cNvSpPr txBox="1"/>
          <p:nvPr/>
        </p:nvSpPr>
        <p:spPr>
          <a:xfrm>
            <a:off x="6977100" y="2082250"/>
            <a:ext cx="7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topic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17" name="Google Shape;217;p39"/>
          <p:cNvCxnSpPr/>
          <p:nvPr/>
        </p:nvCxnSpPr>
        <p:spPr>
          <a:xfrm>
            <a:off x="4280325" y="1377550"/>
            <a:ext cx="7677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8" name="Google Shape;218;p39"/>
          <p:cNvCxnSpPr/>
          <p:nvPr/>
        </p:nvCxnSpPr>
        <p:spPr>
          <a:xfrm>
            <a:off x="3896625" y="1965625"/>
            <a:ext cx="2533200" cy="94740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219" name="Google Shape;219;p39"/>
          <p:cNvCxnSpPr/>
          <p:nvPr/>
        </p:nvCxnSpPr>
        <p:spPr>
          <a:xfrm>
            <a:off x="3260475" y="3559975"/>
            <a:ext cx="2972100" cy="0"/>
          </a:xfrm>
          <a:prstGeom prst="straightConnector1">
            <a:avLst/>
          </a:prstGeom>
          <a:noFill/>
          <a:ln cap="flat" cmpd="sng" w="38100">
            <a:solidFill>
              <a:srgbClr val="666666"/>
            </a:solidFill>
            <a:prstDash val="dot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54"/>
          </a:p>
        </p:txBody>
      </p:sp>
      <p:sp>
        <p:nvSpPr>
          <p:cNvPr id="225" name="Google Shape;225;p40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The Original Concept</a:t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</p:txBody>
      </p:sp>
      <p:sp>
        <p:nvSpPr>
          <p:cNvPr id="226" name="Google Shape;226;p40"/>
          <p:cNvSpPr/>
          <p:nvPr/>
        </p:nvSpPr>
        <p:spPr>
          <a:xfrm>
            <a:off x="1143775" y="2836150"/>
            <a:ext cx="1831500" cy="1820400"/>
          </a:xfrm>
          <a:prstGeom prst="cube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</a:t>
            </a:r>
            <a:endParaRPr/>
          </a:p>
        </p:txBody>
      </p:sp>
      <p:sp>
        <p:nvSpPr>
          <p:cNvPr id="227" name="Google Shape;227;p40"/>
          <p:cNvSpPr/>
          <p:nvPr/>
        </p:nvSpPr>
        <p:spPr>
          <a:xfrm>
            <a:off x="6417750" y="2770350"/>
            <a:ext cx="1831500" cy="1820400"/>
          </a:xfrm>
          <a:prstGeom prst="cube">
            <a:avLst>
              <a:gd fmla="val 25000" name="adj"/>
            </a:avLst>
          </a:prstGeom>
          <a:solidFill>
            <a:srgbClr val="6AA84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THING</a:t>
            </a:r>
            <a:endParaRPr/>
          </a:p>
        </p:txBody>
      </p:sp>
      <p:sp>
        <p:nvSpPr>
          <p:cNvPr id="228" name="Google Shape;228;p40"/>
          <p:cNvSpPr/>
          <p:nvPr/>
        </p:nvSpPr>
        <p:spPr>
          <a:xfrm>
            <a:off x="2372050" y="863550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blue</a:t>
            </a:r>
            <a:endParaRPr/>
          </a:p>
        </p:txBody>
      </p:sp>
      <p:sp>
        <p:nvSpPr>
          <p:cNvPr id="229" name="Google Shape;229;p40"/>
          <p:cNvSpPr/>
          <p:nvPr/>
        </p:nvSpPr>
        <p:spPr>
          <a:xfrm>
            <a:off x="5277175" y="863550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dark green</a:t>
            </a:r>
            <a:endParaRPr/>
          </a:p>
        </p:txBody>
      </p:sp>
      <p:cxnSp>
        <p:nvCxnSpPr>
          <p:cNvPr id="230" name="Google Shape;230;p40"/>
          <p:cNvCxnSpPr/>
          <p:nvPr/>
        </p:nvCxnSpPr>
        <p:spPr>
          <a:xfrm flipH="1" rot="10800000">
            <a:off x="2043050" y="2013700"/>
            <a:ext cx="559200" cy="5373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1" name="Google Shape;231;p40"/>
          <p:cNvCxnSpPr/>
          <p:nvPr/>
        </p:nvCxnSpPr>
        <p:spPr>
          <a:xfrm>
            <a:off x="6528550" y="1991700"/>
            <a:ext cx="383700" cy="5265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2" name="Google Shape;232;p40"/>
          <p:cNvSpPr txBox="1"/>
          <p:nvPr/>
        </p:nvSpPr>
        <p:spPr>
          <a:xfrm>
            <a:off x="1494700" y="2046525"/>
            <a:ext cx="7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color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33" name="Google Shape;233;p40"/>
          <p:cNvSpPr txBox="1"/>
          <p:nvPr/>
        </p:nvSpPr>
        <p:spPr>
          <a:xfrm>
            <a:off x="6977100" y="2082250"/>
            <a:ext cx="71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color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34" name="Google Shape;234;p40"/>
          <p:cNvCxnSpPr/>
          <p:nvPr/>
        </p:nvCxnSpPr>
        <p:spPr>
          <a:xfrm>
            <a:off x="4280325" y="1377550"/>
            <a:ext cx="7677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654"/>
          </a:p>
        </p:txBody>
      </p:sp>
      <p:sp>
        <p:nvSpPr>
          <p:cNvPr id="240" name="Google Shape;240;p41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620"/>
              <a:t>The Original Concept</a:t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t/>
            </a:r>
            <a:endParaRPr sz="2620"/>
          </a:p>
        </p:txBody>
      </p:sp>
      <p:sp>
        <p:nvSpPr>
          <p:cNvPr id="241" name="Google Shape;241;p41"/>
          <p:cNvSpPr/>
          <p:nvPr/>
        </p:nvSpPr>
        <p:spPr>
          <a:xfrm>
            <a:off x="2372050" y="863550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One yellow and small, one blue and large</a:t>
            </a:r>
            <a:endParaRPr sz="1200"/>
          </a:p>
        </p:txBody>
      </p:sp>
      <p:sp>
        <p:nvSpPr>
          <p:cNvPr id="242" name="Google Shape;242;p41"/>
          <p:cNvSpPr/>
          <p:nvPr/>
        </p:nvSpPr>
        <p:spPr>
          <a:xfrm>
            <a:off x="5277175" y="863550"/>
            <a:ext cx="1699920" cy="1052784"/>
          </a:xfrm>
          <a:prstGeom prst="cloud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Two</a:t>
            </a:r>
            <a:r>
              <a:rPr lang="en" sz="1200"/>
              <a:t> </a:t>
            </a:r>
            <a:r>
              <a:rPr b="1" lang="en" sz="1200"/>
              <a:t>green</a:t>
            </a:r>
            <a:r>
              <a:rPr lang="en" sz="1200"/>
              <a:t> and small, one </a:t>
            </a:r>
            <a:r>
              <a:rPr b="1" lang="en" sz="1200"/>
              <a:t>red</a:t>
            </a:r>
            <a:r>
              <a:rPr lang="en" sz="1200"/>
              <a:t> and </a:t>
            </a:r>
            <a:r>
              <a:rPr b="1" lang="en" sz="1200"/>
              <a:t>medium</a:t>
            </a:r>
            <a:endParaRPr sz="1300"/>
          </a:p>
        </p:txBody>
      </p:sp>
      <p:cxnSp>
        <p:nvCxnSpPr>
          <p:cNvPr id="243" name="Google Shape;243;p41"/>
          <p:cNvCxnSpPr/>
          <p:nvPr/>
        </p:nvCxnSpPr>
        <p:spPr>
          <a:xfrm flipH="1" rot="10800000">
            <a:off x="2043050" y="2013700"/>
            <a:ext cx="559200" cy="5373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4" name="Google Shape;244;p41"/>
          <p:cNvCxnSpPr/>
          <p:nvPr/>
        </p:nvCxnSpPr>
        <p:spPr>
          <a:xfrm>
            <a:off x="6528550" y="1991700"/>
            <a:ext cx="383700" cy="52650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5" name="Google Shape;245;p41"/>
          <p:cNvSpPr txBox="1"/>
          <p:nvPr/>
        </p:nvSpPr>
        <p:spPr>
          <a:xfrm>
            <a:off x="6795250" y="1827000"/>
            <a:ext cx="712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cubes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246" name="Google Shape;246;p41"/>
          <p:cNvCxnSpPr/>
          <p:nvPr/>
        </p:nvCxnSpPr>
        <p:spPr>
          <a:xfrm>
            <a:off x="4280325" y="1377550"/>
            <a:ext cx="76770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7" name="Google Shape;247;p41"/>
          <p:cNvSpPr/>
          <p:nvPr/>
        </p:nvSpPr>
        <p:spPr>
          <a:xfrm>
            <a:off x="1143775" y="4083825"/>
            <a:ext cx="712800" cy="572700"/>
          </a:xfrm>
          <a:prstGeom prst="cube">
            <a:avLst>
              <a:gd fmla="val 25000" name="adj"/>
            </a:avLst>
          </a:prstGeom>
          <a:solidFill>
            <a:schemeClr val="accent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41"/>
          <p:cNvSpPr/>
          <p:nvPr/>
        </p:nvSpPr>
        <p:spPr>
          <a:xfrm>
            <a:off x="2121775" y="2571750"/>
            <a:ext cx="1337400" cy="1173600"/>
          </a:xfrm>
          <a:prstGeom prst="cube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1"/>
          <p:cNvSpPr/>
          <p:nvPr/>
        </p:nvSpPr>
        <p:spPr>
          <a:xfrm>
            <a:off x="2408450" y="4169500"/>
            <a:ext cx="712800" cy="537300"/>
          </a:xfrm>
          <a:prstGeom prst="can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1"/>
          <p:cNvSpPr/>
          <p:nvPr/>
        </p:nvSpPr>
        <p:spPr>
          <a:xfrm>
            <a:off x="1009250" y="2806950"/>
            <a:ext cx="712800" cy="537300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1"/>
          <p:cNvSpPr/>
          <p:nvPr/>
        </p:nvSpPr>
        <p:spPr>
          <a:xfrm>
            <a:off x="422825" y="3448050"/>
            <a:ext cx="712800" cy="537300"/>
          </a:xfrm>
          <a:prstGeom prst="can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1"/>
          <p:cNvSpPr/>
          <p:nvPr/>
        </p:nvSpPr>
        <p:spPr>
          <a:xfrm>
            <a:off x="3214800" y="3815200"/>
            <a:ext cx="794124" cy="572724"/>
          </a:xfrm>
          <a:prstGeom prst="cloud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41"/>
          <p:cNvSpPr/>
          <p:nvPr/>
        </p:nvSpPr>
        <p:spPr>
          <a:xfrm>
            <a:off x="166250" y="2564988"/>
            <a:ext cx="794124" cy="572724"/>
          </a:xfrm>
          <a:prstGeom prst="cloud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41"/>
          <p:cNvSpPr/>
          <p:nvPr/>
        </p:nvSpPr>
        <p:spPr>
          <a:xfrm>
            <a:off x="6754595" y="2866588"/>
            <a:ext cx="794100" cy="783600"/>
          </a:xfrm>
          <a:prstGeom prst="cube">
            <a:avLst>
              <a:gd fmla="val 2500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1"/>
          <p:cNvSpPr/>
          <p:nvPr/>
        </p:nvSpPr>
        <p:spPr>
          <a:xfrm>
            <a:off x="7041263" y="4074200"/>
            <a:ext cx="712800" cy="537300"/>
          </a:xfrm>
          <a:prstGeom prst="can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41"/>
          <p:cNvSpPr/>
          <p:nvPr/>
        </p:nvSpPr>
        <p:spPr>
          <a:xfrm>
            <a:off x="5642063" y="2711650"/>
            <a:ext cx="712800" cy="537300"/>
          </a:xfrm>
          <a:prstGeom prst="can">
            <a:avLst>
              <a:gd fmla="val 25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41"/>
          <p:cNvSpPr/>
          <p:nvPr/>
        </p:nvSpPr>
        <p:spPr>
          <a:xfrm>
            <a:off x="5055638" y="3352750"/>
            <a:ext cx="712800" cy="537300"/>
          </a:xfrm>
          <a:prstGeom prst="can">
            <a:avLst>
              <a:gd fmla="val 25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1"/>
          <p:cNvSpPr/>
          <p:nvPr/>
        </p:nvSpPr>
        <p:spPr>
          <a:xfrm>
            <a:off x="7847613" y="3719900"/>
            <a:ext cx="794124" cy="572724"/>
          </a:xfrm>
          <a:prstGeom prst="cloud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41"/>
          <p:cNvSpPr/>
          <p:nvPr/>
        </p:nvSpPr>
        <p:spPr>
          <a:xfrm>
            <a:off x="4799063" y="2469688"/>
            <a:ext cx="794124" cy="572724"/>
          </a:xfrm>
          <a:prstGeom prst="cloud">
            <a:avLst/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41"/>
          <p:cNvSpPr/>
          <p:nvPr/>
        </p:nvSpPr>
        <p:spPr>
          <a:xfrm>
            <a:off x="5730075" y="4083825"/>
            <a:ext cx="559200" cy="572700"/>
          </a:xfrm>
          <a:prstGeom prst="cube">
            <a:avLst>
              <a:gd fmla="val 25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41"/>
          <p:cNvSpPr/>
          <p:nvPr/>
        </p:nvSpPr>
        <p:spPr>
          <a:xfrm>
            <a:off x="6125263" y="3720425"/>
            <a:ext cx="559200" cy="572700"/>
          </a:xfrm>
          <a:prstGeom prst="cube">
            <a:avLst>
              <a:gd fmla="val 250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1"/>
          <p:cNvSpPr txBox="1"/>
          <p:nvPr/>
        </p:nvSpPr>
        <p:spPr>
          <a:xfrm>
            <a:off x="1143775" y="2043938"/>
            <a:ext cx="148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cubes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2"/>
          <p:cNvSpPr txBox="1"/>
          <p:nvPr>
            <p:ph idx="1" type="body"/>
          </p:nvPr>
        </p:nvSpPr>
        <p:spPr>
          <a:xfrm>
            <a:off x="422825" y="863550"/>
            <a:ext cx="8400900" cy="3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Change is described in </a:t>
            </a:r>
            <a:r>
              <a:rPr b="1" lang="en"/>
              <a:t>natural l</a:t>
            </a:r>
            <a:r>
              <a:rPr b="1" lang="en"/>
              <a:t>anguage</a:t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Specifications=words </a:t>
            </a:r>
            <a:r>
              <a:rPr lang="en"/>
              <a:t>are </a:t>
            </a:r>
            <a:r>
              <a:rPr b="1" lang="en" u="sng"/>
              <a:t>ephemeral</a:t>
            </a:r>
            <a:endParaRPr b="1" u="sng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There are </a:t>
            </a:r>
            <a:r>
              <a:rPr b="1" lang="en"/>
              <a:t>many possible specifications</a:t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Embrace the </a:t>
            </a:r>
            <a:r>
              <a:rPr b="1" lang="en"/>
              <a:t>fluidity </a:t>
            </a:r>
            <a:r>
              <a:rPr lang="en"/>
              <a:t>and </a:t>
            </a:r>
            <a:r>
              <a:rPr b="1" lang="en"/>
              <a:t>power </a:t>
            </a:r>
            <a:r>
              <a:rPr lang="en"/>
              <a:t>of </a:t>
            </a:r>
            <a:r>
              <a:rPr b="1" lang="en"/>
              <a:t>words</a:t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/>
              <a:t>The model both </a:t>
            </a:r>
            <a:r>
              <a:rPr b="1" lang="en"/>
              <a:t>hides </a:t>
            </a:r>
            <a:r>
              <a:rPr lang="en"/>
              <a:t>and </a:t>
            </a:r>
            <a:r>
              <a:rPr b="1" lang="en"/>
              <a:t>fills in </a:t>
            </a:r>
            <a:r>
              <a:rPr lang="en"/>
              <a:t>the details</a:t>
            </a:r>
            <a:endParaRPr/>
          </a:p>
        </p:txBody>
      </p:sp>
      <p:sp>
        <p:nvSpPr>
          <p:cNvPr id="268" name="Google Shape;268;p42"/>
          <p:cNvSpPr txBox="1"/>
          <p:nvPr>
            <p:ph type="title"/>
          </p:nvPr>
        </p:nvSpPr>
        <p:spPr>
          <a:xfrm>
            <a:off x="328825" y="216775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Principles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3"/>
          <p:cNvSpPr txBox="1"/>
          <p:nvPr>
            <p:ph type="title"/>
          </p:nvPr>
        </p:nvSpPr>
        <p:spPr>
          <a:xfrm>
            <a:off x="490250" y="450150"/>
            <a:ext cx="8224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- Issue Solving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4"/>
          <p:cNvSpPr txBox="1"/>
          <p:nvPr>
            <p:ph type="title"/>
          </p:nvPr>
        </p:nvSpPr>
        <p:spPr>
          <a:xfrm>
            <a:off x="490250" y="450150"/>
            <a:ext cx="8224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- Repo Tasks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5"/>
          <p:cNvSpPr txBox="1"/>
          <p:nvPr>
            <p:ph type="title"/>
          </p:nvPr>
        </p:nvSpPr>
        <p:spPr>
          <a:xfrm>
            <a:off x="490250" y="450150"/>
            <a:ext cx="82242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- Repo Creation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6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Dance of Alignment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46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The human and AI-tooling are two highly stateful machines/animals.  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For the human, state = psychological matrix of perception, understanding…</a:t>
            </a:r>
            <a:br>
              <a:rPr lang="en" sz="1687">
                <a:latin typeface="Arial"/>
                <a:ea typeface="Arial"/>
                <a:cs typeface="Arial"/>
                <a:sym typeface="Arial"/>
              </a:rPr>
            </a:b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For the AI, state = the available context state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Each state “evolves” in the course of the journey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Each must “understand” the moves the other makes</a:t>
            </a:r>
            <a:br>
              <a:rPr lang="en" sz="1687">
                <a:latin typeface="Arial"/>
                <a:ea typeface="Arial"/>
                <a:cs typeface="Arial"/>
                <a:sym typeface="Arial"/>
              </a:rPr>
            </a:b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Neither must get too far ahead of the other</a:t>
            </a:r>
            <a:br>
              <a:rPr lang="en" sz="1687">
                <a:latin typeface="Arial"/>
                <a:ea typeface="Arial"/>
                <a:cs typeface="Arial"/>
                <a:sym typeface="Arial"/>
              </a:rPr>
            </a:b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Each move/action can be seen as an “offering” to the other, a </a:t>
            </a:r>
            <a:r>
              <a:rPr i="1" lang="en" sz="1687">
                <a:latin typeface="Arial"/>
                <a:ea typeface="Arial"/>
                <a:cs typeface="Arial"/>
                <a:sym typeface="Arial"/>
              </a:rPr>
              <a:t>pas de deux</a:t>
            </a:r>
            <a:br>
              <a:rPr i="1" lang="en" sz="1687">
                <a:latin typeface="Arial"/>
                <a:ea typeface="Arial"/>
                <a:cs typeface="Arial"/>
                <a:sym typeface="Arial"/>
              </a:rPr>
            </a:br>
            <a:endParaRPr i="1" sz="168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Mis-alignment </a:t>
            </a:r>
            <a:r>
              <a:rPr lang="en" sz="1687">
                <a:latin typeface="Arial"/>
                <a:ea typeface="Arial"/>
                <a:cs typeface="Arial"/>
                <a:sym typeface="Arial"/>
              </a:rPr>
              <a:t>can be observed qualitatively (“WTF?”), sometimes measured.</a:t>
            </a:r>
            <a:endParaRPr sz="1687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7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Agents to Co-agents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47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AI tooling is an endless sequence of divergence and re-convergence between the human and the AI. This is the "</a:t>
            </a:r>
            <a:r>
              <a:rPr b="1"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" in "</a:t>
            </a:r>
            <a:r>
              <a:rPr b="1"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pilot".</a:t>
            </a:r>
            <a:endParaRPr sz="16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An AI </a:t>
            </a:r>
            <a:r>
              <a:rPr b="1" lang="en" sz="1687" u="sng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r>
              <a:rPr lang="en" sz="1687" u="sng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is usually conceptualised as autonomous.We must discard this thinking, and instead embrace a variation of the concept suited for integration into </a:t>
            </a:r>
            <a:r>
              <a:rPr b="1"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</a:t>
            </a: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pilot: </a:t>
            </a:r>
            <a:r>
              <a:rPr b="1" lang="en" sz="1687" u="sng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co-agents</a:t>
            </a: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6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co-</a:t>
            </a: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agent is a </a:t>
            </a:r>
            <a:r>
              <a:rPr b="1" lang="en" sz="1687" u="sng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controllable</a:t>
            </a: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687" u="sng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guidable</a:t>
            </a: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687" u="sng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cooperative</a:t>
            </a:r>
            <a:r>
              <a:rPr lang="en" sz="1687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687" u="sng">
                <a:latin typeface="Arial"/>
                <a:ea typeface="Arial"/>
                <a:cs typeface="Arial"/>
                <a:sym typeface="Arial"/>
              </a:rPr>
              <a:t>self-re-aligning</a:t>
            </a:r>
            <a:r>
              <a:rPr lang="en" sz="1687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unfolding of the reasoning and decision points of an agent.</a:t>
            </a:r>
            <a:endParaRPr sz="16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88"/>
              <a:buFont typeface="Arial"/>
              <a:buNone/>
            </a:pP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If an autonomous agent has progress A → B → C, the co-agent is one that can</a:t>
            </a:r>
            <a:endParaRPr sz="16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B0CCC7"/>
              </a:buClr>
              <a:buSzPts val="1688"/>
              <a:buFont typeface="Arial"/>
              <a:buChar char="●"/>
            </a:pP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propose step A to the human - or multiple possibilities A1, A2 etc.</a:t>
            </a:r>
            <a:endParaRPr sz="16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688"/>
              <a:buFont typeface="Arial"/>
              <a:buChar char="●"/>
            </a:pP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receive confirmation of A </a:t>
            </a:r>
            <a:r>
              <a:rPr b="1"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and/or adjustment to take step A'</a:t>
            </a:r>
            <a:endParaRPr b="1" sz="16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1688"/>
              <a:buFont typeface="Arial"/>
              <a:buChar char="●"/>
            </a:pPr>
            <a:r>
              <a:rPr lang="en" sz="16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etc..</a:t>
            </a:r>
            <a:endParaRPr sz="16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From Agents to </a:t>
            </a:r>
            <a:r>
              <a:rPr lang="en"/>
              <a:t>Co-agents</a:t>
            </a:r>
            <a:endParaRPr/>
          </a:p>
        </p:txBody>
      </p:sp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1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88"/>
              <a:buFont typeface="Arial"/>
              <a:buChar char="●"/>
            </a:pPr>
            <a:r>
              <a:rPr lang="en" sz="20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Co-agents don’t offer more in a step than a human can digest</a:t>
            </a:r>
            <a:br>
              <a:rPr lang="en" sz="20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</a:br>
            <a:endParaRPr sz="20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88"/>
              <a:buFont typeface="Arial"/>
              <a:buChar char="●"/>
            </a:pPr>
            <a:r>
              <a:rPr lang="en" sz="20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Each significant offering from a co-agent is</a:t>
            </a:r>
            <a:r>
              <a:rPr lang="en" sz="20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2087">
                <a:latin typeface="Arial"/>
                <a:ea typeface="Arial"/>
                <a:cs typeface="Arial"/>
                <a:sym typeface="Arial"/>
              </a:rPr>
              <a:t>controllable</a:t>
            </a:r>
            <a:br>
              <a:rPr lang="en" sz="20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</a:br>
            <a:endParaRPr sz="20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88"/>
              <a:buFont typeface="Arial"/>
              <a:buChar char="●"/>
            </a:pPr>
            <a:r>
              <a:rPr lang="en" sz="20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Those </a:t>
            </a:r>
            <a:r>
              <a:rPr lang="en" sz="2087">
                <a:latin typeface="Arial"/>
                <a:ea typeface="Arial"/>
                <a:cs typeface="Arial"/>
                <a:sym typeface="Arial"/>
              </a:rPr>
              <a:t>controls</a:t>
            </a:r>
            <a:r>
              <a:rPr lang="en" sz="20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 apply to all downstream offerings</a:t>
            </a:r>
            <a:br>
              <a:rPr lang="en" sz="20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</a:br>
            <a:endParaRPr sz="20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11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088"/>
              <a:buFont typeface="Arial"/>
              <a:buChar char="●"/>
            </a:pPr>
            <a:r>
              <a:rPr lang="en" sz="20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Co-agents attempt to maintain the integrity of their offerings under </a:t>
            </a:r>
            <a:r>
              <a:rPr lang="en" sz="2087">
                <a:latin typeface="Arial"/>
                <a:ea typeface="Arial"/>
                <a:cs typeface="Arial"/>
                <a:sym typeface="Arial"/>
              </a:rPr>
              <a:t>further human supervision and control</a:t>
            </a:r>
            <a:endParaRPr sz="20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9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Six Dimensions of Alignment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9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Achieving repeated “Alignment” between the AI and Human is crucial. 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Six dimensions affecting alignment are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687">
                <a:latin typeface="Arial"/>
                <a:ea typeface="Arial"/>
                <a:cs typeface="Arial"/>
                <a:sym typeface="Arial"/>
              </a:rPr>
              <a:t>size </a:t>
            </a:r>
            <a:r>
              <a:rPr lang="en" sz="1687">
                <a:latin typeface="Arial"/>
                <a:ea typeface="Arial"/>
                <a:cs typeface="Arial"/>
                <a:sym typeface="Arial"/>
              </a:rPr>
              <a:t>of each “offering” from the AI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687">
                <a:latin typeface="Arial"/>
                <a:ea typeface="Arial"/>
                <a:cs typeface="Arial"/>
                <a:sym typeface="Arial"/>
              </a:rPr>
              <a:t>quality </a:t>
            </a:r>
            <a:r>
              <a:rPr lang="en" sz="1687">
                <a:latin typeface="Arial"/>
                <a:ea typeface="Arial"/>
                <a:cs typeface="Arial"/>
                <a:sym typeface="Arial"/>
              </a:rPr>
              <a:t>of the offering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687">
                <a:latin typeface="Arial"/>
                <a:ea typeface="Arial"/>
                <a:cs typeface="Arial"/>
                <a:sym typeface="Arial"/>
              </a:rPr>
              <a:t>time </a:t>
            </a:r>
            <a:r>
              <a:rPr lang="en" sz="1687">
                <a:latin typeface="Arial"/>
                <a:ea typeface="Arial"/>
                <a:cs typeface="Arial"/>
                <a:sym typeface="Arial"/>
              </a:rPr>
              <a:t>to offering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687">
                <a:latin typeface="Arial"/>
                <a:ea typeface="Arial"/>
                <a:cs typeface="Arial"/>
                <a:sym typeface="Arial"/>
              </a:rPr>
              <a:t>UX </a:t>
            </a:r>
            <a:r>
              <a:rPr lang="en" sz="1687">
                <a:latin typeface="Arial"/>
                <a:ea typeface="Arial"/>
                <a:cs typeface="Arial"/>
                <a:sym typeface="Arial"/>
              </a:rPr>
              <a:t>used to show it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the ease of </a:t>
            </a:r>
            <a:r>
              <a:rPr b="1" lang="en" sz="1687">
                <a:latin typeface="Arial"/>
                <a:ea typeface="Arial"/>
                <a:cs typeface="Arial"/>
                <a:sym typeface="Arial"/>
              </a:rPr>
              <a:t>accept/ignore/control</a:t>
            </a:r>
            <a:endParaRPr b="1" sz="1687">
              <a:latin typeface="Arial"/>
              <a:ea typeface="Arial"/>
              <a:cs typeface="Arial"/>
              <a:sym typeface="Arial"/>
            </a:endParaRPr>
          </a:p>
          <a:p>
            <a:pPr indent="-33575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88"/>
              <a:buFont typeface="Arial"/>
              <a:buChar char="●"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b="1" lang="en" sz="1687">
                <a:latin typeface="Arial"/>
                <a:ea typeface="Arial"/>
                <a:cs typeface="Arial"/>
                <a:sym typeface="Arial"/>
              </a:rPr>
              <a:t>human capacity </a:t>
            </a:r>
            <a:r>
              <a:rPr lang="en" sz="1687">
                <a:latin typeface="Arial"/>
                <a:ea typeface="Arial"/>
                <a:cs typeface="Arial"/>
                <a:sym typeface="Arial"/>
              </a:rPr>
              <a:t>to check and correct the offering</a:t>
            </a:r>
            <a:endParaRPr sz="1687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87">
                <a:latin typeface="Arial"/>
                <a:ea typeface="Arial"/>
                <a:cs typeface="Arial"/>
                <a:sym typeface="Arial"/>
              </a:rPr>
              <a:t>Every dimension matters. Not all are under the control of the tool or model developer.</a:t>
            </a:r>
            <a:endParaRPr sz="16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0"/>
          <p:cNvSpPr txBox="1"/>
          <p:nvPr>
            <p:ph idx="1" type="body"/>
          </p:nvPr>
        </p:nvSpPr>
        <p:spPr>
          <a:xfrm>
            <a:off x="422825" y="863550"/>
            <a:ext cx="8400900" cy="3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Question answering/Idea generation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Question asking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Spec writing + revision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Planning + revision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Implementation + revision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Code completions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Runtime Commands (“build the VSCode extension”)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/>
              <a:t>Pull request summaries</a:t>
            </a:r>
            <a:endParaRPr/>
          </a:p>
        </p:txBody>
      </p:sp>
      <p:sp>
        <p:nvSpPr>
          <p:cNvPr id="313" name="Google Shape;313;p50"/>
          <p:cNvSpPr txBox="1"/>
          <p:nvPr>
            <p:ph type="title"/>
          </p:nvPr>
        </p:nvSpPr>
        <p:spPr>
          <a:xfrm>
            <a:off x="328825" y="216775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Offerings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idx="1" type="body"/>
          </p:nvPr>
        </p:nvSpPr>
        <p:spPr>
          <a:xfrm>
            <a:off x="422825" y="863550"/>
            <a:ext cx="8400900" cy="3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Clarification edits to task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Edit AI offerings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Choose from ideas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Reject/Accept/Re-roll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Revision Commands (“also add tests”)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/>
              <a:t>Runtime Commands (“build the VSCode extension”)</a:t>
            </a:r>
            <a:endParaRPr/>
          </a:p>
        </p:txBody>
      </p:sp>
      <p:sp>
        <p:nvSpPr>
          <p:cNvPr id="319" name="Google Shape;319;p51"/>
          <p:cNvSpPr txBox="1"/>
          <p:nvPr>
            <p:ph type="title"/>
          </p:nvPr>
        </p:nvSpPr>
        <p:spPr>
          <a:xfrm>
            <a:off x="328825" y="216775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Control Techniques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2"/>
          <p:cNvSpPr txBox="1"/>
          <p:nvPr>
            <p:ph idx="1" type="body"/>
          </p:nvPr>
        </p:nvSpPr>
        <p:spPr>
          <a:xfrm>
            <a:off x="422825" y="863550"/>
            <a:ext cx="8400900" cy="3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6957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Crucial for almost every AI offering</a:t>
            </a:r>
            <a:endParaRPr/>
          </a:p>
          <a:p>
            <a:pPr indent="-36957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Need to reduce 100,000+ possible files to ~20 files</a:t>
            </a:r>
            <a:endParaRPr/>
          </a:p>
          <a:p>
            <a:pPr indent="-34607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Phase 1: AI-generated regexp codesearch</a:t>
            </a:r>
            <a:endParaRPr/>
          </a:p>
          <a:p>
            <a:pPr indent="-34607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Phase 2: algorithmic ranking, to ~5000 files</a:t>
            </a:r>
            <a:endParaRPr/>
          </a:p>
          <a:p>
            <a:pPr indent="-346075" lvl="1" marL="914400" rtl="0" algn="l">
              <a:spcBef>
                <a:spcPts val="100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Phase 3: Divide-and-conquer LLM ranking based on filenames and tiny bits of content</a:t>
            </a:r>
            <a:endParaRPr/>
          </a:p>
          <a:p>
            <a:pPr indent="-36957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File-based, not snippet-based</a:t>
            </a:r>
            <a:endParaRPr/>
          </a:p>
          <a:p>
            <a:pPr indent="-369570" lvl="0" marL="457200" rtl="0" algn="l">
              <a:spcBef>
                <a:spcPts val="10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Refined at later stages, e.g. per-file once plan is known</a:t>
            </a:r>
            <a:endParaRPr/>
          </a:p>
          <a:p>
            <a:pPr indent="-369570" lvl="0" marL="457200" rtl="0" algn="l">
              <a:spcBef>
                <a:spcPts val="1000"/>
              </a:spcBef>
              <a:spcAft>
                <a:spcPts val="1000"/>
              </a:spcAft>
              <a:buSzPct val="100000"/>
              <a:buChar char="●"/>
            </a:pPr>
            <a:r>
              <a:rPr lang="en"/>
              <a:t>Evaluated by SWE and other benchmarks</a:t>
            </a:r>
            <a:endParaRPr/>
          </a:p>
        </p:txBody>
      </p:sp>
      <p:sp>
        <p:nvSpPr>
          <p:cNvPr id="325" name="Google Shape;325;p52"/>
          <p:cNvSpPr txBox="1"/>
          <p:nvPr>
            <p:ph type="title"/>
          </p:nvPr>
        </p:nvSpPr>
        <p:spPr>
          <a:xfrm>
            <a:off x="328825" y="216775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 selection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3"/>
          <p:cNvSpPr txBox="1"/>
          <p:nvPr>
            <p:ph idx="1" type="body"/>
          </p:nvPr>
        </p:nvSpPr>
        <p:spPr>
          <a:xfrm>
            <a:off x="422825" y="863550"/>
            <a:ext cx="8400900" cy="3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Early CW had four modal stages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b="1" lang="en"/>
              <a:t>Task → Spec </a:t>
            </a:r>
            <a:r>
              <a:rPr b="1" lang="en"/>
              <a:t>→ </a:t>
            </a:r>
            <a:r>
              <a:rPr b="1" lang="en"/>
              <a:t>Plan </a:t>
            </a:r>
            <a:r>
              <a:rPr b="1" lang="en"/>
              <a:t>→ </a:t>
            </a:r>
            <a:r>
              <a:rPr b="1" lang="en"/>
              <a:t>Code</a:t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Now entirely iterative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Task+Ideas → Task+Ideas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Task+Code → Task+Code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 major challenge in all AI tooling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Less is more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1000"/>
              </a:spcAft>
              <a:buSzPts val="2000"/>
              <a:buChar char="○"/>
            </a:pPr>
            <a:r>
              <a:rPr lang="en"/>
              <a:t>Needs very careful UX design</a:t>
            </a:r>
            <a:endParaRPr/>
          </a:p>
        </p:txBody>
      </p:sp>
      <p:sp>
        <p:nvSpPr>
          <p:cNvPr id="331" name="Google Shape;331;p53"/>
          <p:cNvSpPr txBox="1"/>
          <p:nvPr>
            <p:ph type="title"/>
          </p:nvPr>
        </p:nvSpPr>
        <p:spPr>
          <a:xfrm>
            <a:off x="328825" y="216775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Achieving Iteration is hard!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4"/>
          <p:cNvSpPr txBox="1"/>
          <p:nvPr>
            <p:ph idx="1" type="body"/>
          </p:nvPr>
        </p:nvSpPr>
        <p:spPr>
          <a:xfrm>
            <a:off x="422825" y="863550"/>
            <a:ext cx="8400900" cy="3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We use “speculative decoding”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/>
              <a:t>Uses logprob analysis to do model-pipelined lookahead in text to determine first edit point</a:t>
            </a:r>
            <a:endParaRPr/>
          </a:p>
        </p:txBody>
      </p:sp>
      <p:sp>
        <p:nvSpPr>
          <p:cNvPr id="337" name="Google Shape;337;p54"/>
          <p:cNvSpPr txBox="1"/>
          <p:nvPr>
            <p:ph type="title"/>
          </p:nvPr>
        </p:nvSpPr>
        <p:spPr>
          <a:xfrm>
            <a:off x="328825" y="216775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Fast file rewriting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5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Future of Programming</a:t>
            </a:r>
            <a:endParaRPr/>
          </a:p>
        </p:txBody>
      </p:sp>
      <p:sp>
        <p:nvSpPr>
          <p:cNvPr id="343" name="Google Shape;343;p55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75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188"/>
              <a:buFont typeface="Arial"/>
              <a:buChar char="●"/>
            </a:pPr>
            <a:r>
              <a:rPr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Software is </a:t>
            </a:r>
            <a:r>
              <a:rPr b="1"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created </a:t>
            </a:r>
            <a:r>
              <a:rPr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using words</a:t>
            </a:r>
            <a:br>
              <a:rPr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</a:br>
            <a:endParaRPr sz="21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5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188"/>
              <a:buFont typeface="Arial"/>
              <a:buChar char="●"/>
            </a:pPr>
            <a:r>
              <a:rPr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Software is </a:t>
            </a:r>
            <a:r>
              <a:rPr b="1"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changed</a:t>
            </a:r>
            <a:r>
              <a:rPr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 using words</a:t>
            </a:r>
            <a:br>
              <a:rPr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</a:br>
            <a:endParaRPr sz="21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506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B0CCC7"/>
              </a:buClr>
              <a:buSzPts val="2188"/>
              <a:buFont typeface="Arial"/>
              <a:buChar char="●"/>
            </a:pPr>
            <a:r>
              <a:rPr b="1"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Code </a:t>
            </a:r>
            <a:r>
              <a:rPr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is still the permanent notation of record</a:t>
            </a:r>
            <a:endParaRPr sz="21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187">
                <a:solidFill>
                  <a:srgbClr val="B0CCC7"/>
                </a:solidFill>
                <a:latin typeface="Arial"/>
                <a:ea typeface="Arial"/>
                <a:cs typeface="Arial"/>
                <a:sym typeface="Arial"/>
              </a:rPr>
              <a:t>The programming language used is still critical (like the format used for an image or document is critical)</a:t>
            </a:r>
            <a:endParaRPr sz="2187">
              <a:solidFill>
                <a:srgbClr val="B0CCC7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6"/>
          <p:cNvSpPr txBox="1"/>
          <p:nvPr>
            <p:ph type="title"/>
          </p:nvPr>
        </p:nvSpPr>
        <p:spPr>
          <a:xfrm>
            <a:off x="328825" y="216775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it a go!</a:t>
            </a:r>
            <a:endParaRPr/>
          </a:p>
        </p:txBody>
      </p:sp>
      <p:sp>
        <p:nvSpPr>
          <p:cNvPr id="349" name="Google Shape;349;p56"/>
          <p:cNvSpPr txBox="1"/>
          <p:nvPr>
            <p:ph idx="1" type="body"/>
          </p:nvPr>
        </p:nvSpPr>
        <p:spPr>
          <a:xfrm>
            <a:off x="422825" y="939750"/>
            <a:ext cx="8400900" cy="39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Sign up to the preview!</a:t>
            </a:r>
            <a:br>
              <a:rPr lang="en"/>
            </a:br>
            <a:r>
              <a:rPr lang="en"/>
              <a:t>	s</a:t>
            </a:r>
            <a:r>
              <a:rPr lang="en"/>
              <a:t>end us your github handle, we’ll get you added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dsyme@github.com</a:t>
            </a:r>
            <a:r>
              <a:rPr lang="en"/>
              <a:t>	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githubnext.com/projects/copilot-workspace/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57"/>
          <p:cNvSpPr/>
          <p:nvPr/>
        </p:nvSpPr>
        <p:spPr>
          <a:xfrm>
            <a:off x="3599698" y="1116375"/>
            <a:ext cx="1944600" cy="1944600"/>
          </a:xfrm>
          <a:prstGeom prst="ellipse">
            <a:avLst/>
          </a:prstGeom>
          <a:noFill/>
          <a:ln cap="flat" cmpd="sng" w="28575">
            <a:solidFill>
              <a:srgbClr val="83E3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57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7503" y="1587657"/>
            <a:ext cx="1418924" cy="100205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57"/>
          <p:cNvSpPr txBox="1"/>
          <p:nvPr/>
        </p:nvSpPr>
        <p:spPr>
          <a:xfrm>
            <a:off x="3593550" y="3120970"/>
            <a:ext cx="1956900" cy="4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83E3D9"/>
                </a:solidFill>
                <a:latin typeface="Inter"/>
                <a:ea typeface="Inter"/>
                <a:cs typeface="Inter"/>
                <a:sym typeface="Inter"/>
              </a:rPr>
              <a:t>GitHub Next</a:t>
            </a:r>
            <a:endParaRPr b="1" sz="2000">
              <a:solidFill>
                <a:srgbClr val="83E3D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57" name="Google Shape;357;p57"/>
          <p:cNvSpPr txBox="1"/>
          <p:nvPr/>
        </p:nvSpPr>
        <p:spPr>
          <a:xfrm>
            <a:off x="3528299" y="3564300"/>
            <a:ext cx="2087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Investigating </a:t>
            </a:r>
            <a:r>
              <a:rPr lang="en"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future of software development</a:t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8B939E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u="sng">
                <a:solidFill>
                  <a:schemeClr val="hlink"/>
                </a:solidFill>
                <a:hlinkClick r:id="rId5"/>
              </a:rPr>
              <a:t>githubnext.com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358" name="Google Shape;358;p57"/>
          <p:cNvSpPr txBox="1"/>
          <p:nvPr>
            <p:ph type="title"/>
          </p:nvPr>
        </p:nvSpPr>
        <p:spPr>
          <a:xfrm>
            <a:off x="286325" y="234000"/>
            <a:ext cx="7926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57"/>
          <p:cNvSpPr txBox="1"/>
          <p:nvPr>
            <p:ph idx="1" type="body"/>
          </p:nvPr>
        </p:nvSpPr>
        <p:spPr>
          <a:xfrm>
            <a:off x="350050" y="1046975"/>
            <a:ext cx="8185500" cy="340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