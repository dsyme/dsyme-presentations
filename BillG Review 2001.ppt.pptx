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0"/>
  </p:notesMasterIdLst>
  <p:handoutMasterIdLst>
    <p:handoutMasterId r:id="rId31"/>
  </p:handoutMasterIdLst>
  <p:sldIdLst>
    <p:sldId id="256" r:id="rId2"/>
    <p:sldId id="302" r:id="rId3"/>
    <p:sldId id="399" r:id="rId4"/>
    <p:sldId id="375" r:id="rId5"/>
    <p:sldId id="437" r:id="rId6"/>
    <p:sldId id="473" r:id="rId7"/>
    <p:sldId id="423" r:id="rId8"/>
    <p:sldId id="457" r:id="rId9"/>
    <p:sldId id="434" r:id="rId10"/>
    <p:sldId id="460" r:id="rId11"/>
    <p:sldId id="454" r:id="rId12"/>
    <p:sldId id="386" r:id="rId13"/>
    <p:sldId id="425" r:id="rId14"/>
    <p:sldId id="376" r:id="rId15"/>
    <p:sldId id="465" r:id="rId16"/>
    <p:sldId id="475" r:id="rId17"/>
    <p:sldId id="474" r:id="rId18"/>
    <p:sldId id="477" r:id="rId19"/>
    <p:sldId id="392" r:id="rId20"/>
    <p:sldId id="476" r:id="rId21"/>
    <p:sldId id="417" r:id="rId22"/>
    <p:sldId id="418" r:id="rId23"/>
    <p:sldId id="427" r:id="rId24"/>
    <p:sldId id="456" r:id="rId25"/>
    <p:sldId id="464" r:id="rId26"/>
    <p:sldId id="472" r:id="rId27"/>
    <p:sldId id="469" r:id="rId28"/>
    <p:sldId id="470" r:id="rId2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84EB6F"/>
    <a:srgbClr val="6FEBE8"/>
    <a:srgbClr val="68B0F2"/>
    <a:srgbClr val="060000"/>
    <a:srgbClr val="808080"/>
    <a:srgbClr val="9966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4" autoAdjust="0"/>
    <p:restoredTop sz="90929"/>
  </p:normalViewPr>
  <p:slideViewPr>
    <p:cSldViewPr>
      <p:cViewPr varScale="1">
        <p:scale>
          <a:sx n="66" d="100"/>
          <a:sy n="66" d="100"/>
        </p:scale>
        <p:origin x="178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>
            <a:extLst>
              <a:ext uri="{FF2B5EF4-FFF2-40B4-BE49-F238E27FC236}">
                <a16:creationId xmlns:a16="http://schemas.microsoft.com/office/drawing/2014/main" id="{5D12A3B6-B891-EF64-A957-5E382AB442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altLang="en-US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DE1315A9-2C1F-9C19-34AA-ABA557673C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altLang="en-US"/>
          </a:p>
        </p:txBody>
      </p:sp>
      <p:sp>
        <p:nvSpPr>
          <p:cNvPr id="356356" name="Rectangle 4">
            <a:extLst>
              <a:ext uri="{FF2B5EF4-FFF2-40B4-BE49-F238E27FC236}">
                <a16:creationId xmlns:a16="http://schemas.microsoft.com/office/drawing/2014/main" id="{0EE8CFFF-9255-5CA7-FDE5-36BFD04B249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altLang="en-US"/>
          </a:p>
        </p:txBody>
      </p:sp>
      <p:sp>
        <p:nvSpPr>
          <p:cNvPr id="356357" name="Rectangle 5">
            <a:extLst>
              <a:ext uri="{FF2B5EF4-FFF2-40B4-BE49-F238E27FC236}">
                <a16:creationId xmlns:a16="http://schemas.microsoft.com/office/drawing/2014/main" id="{4600300A-2D81-1D3C-2677-B90B030147E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BA7EF9B-4352-4084-9DC3-E2796AB2E87D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630D8F85-FC34-F514-856C-9998CC22F1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/>
            </a:lvl1pPr>
          </a:lstStyle>
          <a:p>
            <a:endParaRPr lang="en-US" altLang="en-US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4EE5BE6D-2D78-C6B0-004F-11164498AC9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endParaRPr lang="en-US" altLang="en-US"/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799119A7-9F72-242A-AE68-7C41462A0AC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387F5591-B04A-61E2-F55B-974C042DE0E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A27C13CC-B859-E123-4370-D3CF368A57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/>
            </a:lvl1pPr>
          </a:lstStyle>
          <a:p>
            <a:endParaRPr lang="en-US" altLang="en-US"/>
          </a:p>
        </p:txBody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0376BA49-F440-27C8-A516-5EE87CA8D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fld id="{FF000BB4-9E13-4F74-A651-A815E894730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0CF718D3-E7D5-C334-5EE4-F8399F63CCE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905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FA9C382C-29A0-FCBC-3DF6-2AEFE077AC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686050" y="3492500"/>
            <a:ext cx="6102350" cy="1752600"/>
          </a:xfrm>
        </p:spPr>
        <p:txBody>
          <a:bodyPr/>
          <a:lstStyle>
            <a:lvl1pPr marL="0" indent="0" algn="r"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80580" name="Rectangle 4">
            <a:extLst>
              <a:ext uri="{FF2B5EF4-FFF2-40B4-BE49-F238E27FC236}">
                <a16:creationId xmlns:a16="http://schemas.microsoft.com/office/drawing/2014/main" id="{BC800EC5-0D8D-2C5D-E027-5D596EAB8C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359150" y="6343650"/>
            <a:ext cx="1905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280581" name="Rectangle 5">
            <a:extLst>
              <a:ext uri="{FF2B5EF4-FFF2-40B4-BE49-F238E27FC236}">
                <a16:creationId xmlns:a16="http://schemas.microsoft.com/office/drawing/2014/main" id="{47C9804D-AE80-D383-0B37-7F8C012CDE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19800" y="634365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280582" name="Rectangle 6">
            <a:extLst>
              <a:ext uri="{FF2B5EF4-FFF2-40B4-BE49-F238E27FC236}">
                <a16:creationId xmlns:a16="http://schemas.microsoft.com/office/drawing/2014/main" id="{2D535F3C-A3FF-B759-0DE6-B5FCAB11C9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F9104-9A34-4A86-AC30-24ABD3458A1E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80583" name="Picture 7">
            <a:extLst>
              <a:ext uri="{FF2B5EF4-FFF2-40B4-BE49-F238E27FC236}">
                <a16:creationId xmlns:a16="http://schemas.microsoft.com/office/drawing/2014/main" id="{58D000F2-380D-E660-09E3-777D72B4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5562600"/>
            <a:ext cx="2286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0589" name="Rectangle 13">
            <a:extLst>
              <a:ext uri="{FF2B5EF4-FFF2-40B4-BE49-F238E27FC236}">
                <a16:creationId xmlns:a16="http://schemas.microsoft.com/office/drawing/2014/main" id="{D13D756F-F6C6-BADC-059E-E47054ECD8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153400" y="6478588"/>
            <a:ext cx="996950" cy="387350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0590" name="Rectangle 14">
            <a:extLst>
              <a:ext uri="{FF2B5EF4-FFF2-40B4-BE49-F238E27FC236}">
                <a16:creationId xmlns:a16="http://schemas.microsoft.com/office/drawing/2014/main" id="{A97C45A8-3329-3E0E-97C6-E46592A8E1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992188"/>
            <a:ext cx="9145588" cy="825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0591" name="Rectangle 15">
            <a:extLst>
              <a:ext uri="{FF2B5EF4-FFF2-40B4-BE49-F238E27FC236}">
                <a16:creationId xmlns:a16="http://schemas.microsoft.com/office/drawing/2014/main" id="{9AAC52BD-C9EE-AFDE-96E9-1D0EBDDE46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02388"/>
            <a:ext cx="9145588" cy="825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0592" name="Rectangle 16">
            <a:extLst>
              <a:ext uri="{FF2B5EF4-FFF2-40B4-BE49-F238E27FC236}">
                <a16:creationId xmlns:a16="http://schemas.microsoft.com/office/drawing/2014/main" id="{3EDDF399-7386-0F53-1DC9-C815038B9B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600" y="0"/>
            <a:ext cx="82550" cy="685958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0593" name="Rectangle 17">
            <a:extLst>
              <a:ext uri="{FF2B5EF4-FFF2-40B4-BE49-F238E27FC236}">
                <a16:creationId xmlns:a16="http://schemas.microsoft.com/office/drawing/2014/main" id="{633755AA-2464-967E-FF6D-95A3A34CC7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68388"/>
            <a:ext cx="609600" cy="912812"/>
          </a:xfrm>
          <a:prstGeom prst="rect">
            <a:avLst/>
          </a:prstGeom>
          <a:solidFill>
            <a:srgbClr val="FF33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4E3A-F477-5188-4E8F-7BED1492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AB6E-EAD1-A84B-25B9-848BDD55F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E4564-F188-67D1-22E5-D8C29C93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FA515-DF4D-4999-FAA5-F1C998E975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ABDBA3-0798-45F6-92A3-E985224EF7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280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0FA7-B91E-842B-368B-2B172A62E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56E34-5CBE-5BE0-D8C3-2827FC7B9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0B67-DCA8-FEAA-3368-E23960CF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C7A11-1380-0272-3E4D-DD557EC0C3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DD00C3C-9079-4717-801F-4BFED8419D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1550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119F-4ABB-5794-9C68-DE1502F9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795E7-1BBF-75DC-C337-CE10BB1B6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39624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2054-B011-7C6E-C87E-053575C90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371600"/>
            <a:ext cx="39624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0E170-D218-5829-17A5-27BA7213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F4B5C-21A3-29EC-D9E0-3399BA373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A040BD-92D3-41A0-A868-796197B40D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49808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4E4F-7663-E412-8EB4-F123659E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C939D-A864-C916-7D39-00D0C58D3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84DA8-90D1-D309-C9CC-1238B7F9A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A4DBD-92B0-2507-2870-7D509231E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66B8B-EAD8-802D-7879-3C4F08C56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4DF3B-1D42-1BA6-4F52-DC482C90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920AE0-9DFF-CF1B-8CF9-B9F7BC8C56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24C8E1E-EBCB-4738-8A21-8A917A4AEC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542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BA00-CE65-52BE-CCD4-C9F8F6AC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738FD-81F8-F6D2-1FC3-B22EB159E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16A8C-01B4-B349-ADA1-4F54CC310F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5991BB-0AC0-455D-BF50-BD90A81F80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37616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203A6-CABF-2199-C123-56E52E5B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93CEF1-3DBD-0151-125D-1C24D3AE4D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4D13AE-0845-46C0-9C9A-707AD51BAC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75460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D0C7-CAFE-608C-F8BF-525690C6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59C10-FD12-2F12-D239-B020C0ED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50C98-6D18-06D0-BF87-95FA85F69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6FA9F-EF5D-BF5A-B813-A558F6C5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6478B-AA0A-46D6-B8F2-61E13FA56B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E703F87-8687-4864-B2D2-402BDBBEE3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32376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3B7B-B285-B5EE-BEB3-0E32DFB3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557E97-7639-1046-33B4-E6F91B344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8A6F8-6064-1380-249C-66F6D385A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F14C7-CAE8-2EC4-FB15-A40B046E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56040-61F3-48CD-FFE6-5340E2C5E9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011761-98E5-4A03-9552-994ACBE5E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47149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B7CB-3DAA-4012-C212-6003E218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BBBB0-4EDA-E26C-178C-47C0DB762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316B-70B1-CC6B-A387-35896FF2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F72A6-4CEC-8588-554B-D63C7FA8E4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A0B4BF-93D7-4238-984F-A85560727C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79300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1D9AA-3389-A02E-946D-9213B9507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72300" y="152400"/>
            <a:ext cx="20193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54630-14ED-2018-FB71-2E8773176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4400" y="152400"/>
            <a:ext cx="59055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B177-DBD6-9BBA-591C-034BD5BD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C39F7-E012-B5CA-EC93-C14FAFCA38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1698EA4-9A26-4BE4-A862-4756E7976E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1644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5" name="Rectangle 3">
            <a:extLst>
              <a:ext uri="{FF2B5EF4-FFF2-40B4-BE49-F238E27FC236}">
                <a16:creationId xmlns:a16="http://schemas.microsoft.com/office/drawing/2014/main" id="{FEB794EC-7B85-6F2E-8807-5C8D4E341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477000"/>
            <a:ext cx="996950" cy="387350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79556" name="Rectangle 4">
            <a:extLst>
              <a:ext uri="{FF2B5EF4-FFF2-40B4-BE49-F238E27FC236}">
                <a16:creationId xmlns:a16="http://schemas.microsoft.com/office/drawing/2014/main" id="{6DBBE9D4-FABC-9FE2-350A-A97ABAA1F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600"/>
            <a:ext cx="9145588" cy="825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79557" name="Rectangle 5">
            <a:extLst>
              <a:ext uri="{FF2B5EF4-FFF2-40B4-BE49-F238E27FC236}">
                <a16:creationId xmlns:a16="http://schemas.microsoft.com/office/drawing/2014/main" id="{F299E38A-95DA-7D71-9F86-11C1B7265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0800"/>
            <a:ext cx="9145588" cy="825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79558" name="Rectangle 6">
            <a:extLst>
              <a:ext uri="{FF2B5EF4-FFF2-40B4-BE49-F238E27FC236}">
                <a16:creationId xmlns:a16="http://schemas.microsoft.com/office/drawing/2014/main" id="{9AB81B1B-F9E8-03BA-07A5-B2C071A05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-1588"/>
            <a:ext cx="82550" cy="685958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79559" name="Rectangle 7">
            <a:extLst>
              <a:ext uri="{FF2B5EF4-FFF2-40B4-BE49-F238E27FC236}">
                <a16:creationId xmlns:a16="http://schemas.microsoft.com/office/drawing/2014/main" id="{06D51C80-779A-5D27-EBDF-092F50794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"/>
            <a:ext cx="77231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79560" name="Rectangle 8">
            <a:extLst>
              <a:ext uri="{FF2B5EF4-FFF2-40B4-BE49-F238E27FC236}">
                <a16:creationId xmlns:a16="http://schemas.microsoft.com/office/drawing/2014/main" id="{508CD3B7-BBC8-FD76-46CB-07B833B0C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71600"/>
            <a:ext cx="8077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79561" name="Rectangle 9">
            <a:extLst>
              <a:ext uri="{FF2B5EF4-FFF2-40B4-BE49-F238E27FC236}">
                <a16:creationId xmlns:a16="http://schemas.microsoft.com/office/drawing/2014/main" id="{6C4E4163-FE75-D894-11EC-A66AD3E870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33763" y="6477000"/>
            <a:ext cx="19050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279562" name="Rectangle 10">
            <a:extLst>
              <a:ext uri="{FF2B5EF4-FFF2-40B4-BE49-F238E27FC236}">
                <a16:creationId xmlns:a16="http://schemas.microsoft.com/office/drawing/2014/main" id="{A04FC1D2-CF0F-513E-2CB2-5C5B2A99A1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16688"/>
            <a:ext cx="1905000" cy="34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BBFD22C5-AFBC-4854-801B-111C1C15F09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79563" name="Rectangle 11">
            <a:extLst>
              <a:ext uri="{FF2B5EF4-FFF2-40B4-BE49-F238E27FC236}">
                <a16:creationId xmlns:a16="http://schemas.microsoft.com/office/drawing/2014/main" id="{49E3FFC5-8318-DDC8-D14E-837822179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6800"/>
            <a:ext cx="609600" cy="914400"/>
          </a:xfrm>
          <a:prstGeom prst="rect">
            <a:avLst/>
          </a:prstGeom>
          <a:solidFill>
            <a:srgbClr val="FF33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hf hdr="0" ftr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EE412D3-4D62-0DED-A4C7-032B179572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7C15B49-D08D-F6C1-59D7-F509858AF8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DAE6841C-C6C2-4A54-99A7-8B109C9D1B57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B2C85145-1111-7B0C-F017-44997754B9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1905000"/>
            <a:ext cx="7772400" cy="1143000"/>
          </a:xfrm>
        </p:spPr>
        <p:txBody>
          <a:bodyPr/>
          <a:lstStyle/>
          <a:p>
            <a:pPr algn="ctr"/>
            <a:r>
              <a:rPr lang="en-GB" altLang="en-US"/>
              <a:t>Programming Languages</a:t>
            </a:r>
            <a:br>
              <a:rPr lang="en-GB" altLang="en-US"/>
            </a:br>
            <a:r>
              <a:rPr lang="en-GB" altLang="en-US"/>
              <a:t>and  .NET</a:t>
            </a:r>
            <a:endParaRPr lang="en-US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0C9EEEC-0E31-7DAC-E14E-77DF743256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492500"/>
            <a:ext cx="7264400" cy="1752600"/>
          </a:xfrm>
        </p:spPr>
        <p:txBody>
          <a:bodyPr/>
          <a:lstStyle/>
          <a:p>
            <a:pPr algn="ctr"/>
            <a:r>
              <a:rPr lang="en-GB" altLang="en-US"/>
              <a:t>Don Syme</a:t>
            </a:r>
          </a:p>
          <a:p>
            <a:pPr algn="ctr"/>
            <a:r>
              <a:rPr lang="en-GB" altLang="en-US" sz="2400"/>
              <a:t>MSR Cambridge</a:t>
            </a:r>
            <a:br>
              <a:rPr lang="en-GB" altLang="en-US" sz="2400"/>
            </a:br>
            <a:r>
              <a:rPr lang="en-GB" altLang="en-US" sz="2400"/>
              <a:t>Principles of Programming Group</a:t>
            </a:r>
            <a:endParaRPr lang="en-US" altLang="en-US" sz="24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38AEF3B-E6F0-D418-2A23-838620F1A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F07E117-2662-CC2E-5ECF-B53517B6C2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C7EAB6-97FD-419B-ABD0-78929769425A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8491916E-811F-EBD4-9DEA-08FF9287C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Today</a:t>
            </a:r>
            <a:endParaRPr lang="en-US" altLang="en-U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21CD3465-BD74-11F0-CC39-9A4894EB0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GB" altLang="en-US"/>
              <a:t>1. Our .NET Framework Research</a:t>
            </a:r>
          </a:p>
          <a:p>
            <a:pPr marL="838200" lvl="1" indent="-381000"/>
            <a:endParaRPr lang="en-GB" altLang="en-US"/>
          </a:p>
          <a:p>
            <a:pPr marL="457200" indent="-457200"/>
            <a:endParaRPr lang="en-GB" altLang="en-US"/>
          </a:p>
          <a:p>
            <a:pPr marL="457200" indent="-457200"/>
            <a:r>
              <a:rPr lang="en-GB" altLang="en-US"/>
              <a:t>2. Generics for .NET</a:t>
            </a:r>
          </a:p>
          <a:p>
            <a:pPr marL="838200" lvl="1" indent="-381000"/>
            <a:endParaRPr lang="en-GB" altLang="en-US"/>
          </a:p>
          <a:p>
            <a:pPr marL="457200" indent="-457200"/>
            <a:endParaRPr lang="en-GB" altLang="en-US"/>
          </a:p>
          <a:p>
            <a:pPr marL="457200" indent="-457200"/>
            <a:r>
              <a:rPr lang="en-GB" altLang="en-US"/>
              <a:t>3. Academic Languages for .NET</a:t>
            </a:r>
          </a:p>
          <a:p>
            <a:pPr marL="838200" lvl="1" indent="-381000"/>
            <a:endParaRPr lang="en-GB" altLang="en-US"/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DD34DACD-2906-100A-173C-44A3C032F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8077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38200" indent="-3810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400" indent="-3810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We’ve been working with CLR &amp; C# for ~2 years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Generics are designed, prototyped and ready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We’re helping to successfully engage academic interest in the CLR</a:t>
            </a: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With big benefits for Microsoft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1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1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1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1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58AFE20-56B2-371E-4A16-F3E8EF4D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2DEBA50-1C29-42AF-9786-54801B2225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ACDEC2-FEE1-4109-A59E-AFD9CDF0F2B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52932" name="Line 4">
            <a:extLst>
              <a:ext uri="{FF2B5EF4-FFF2-40B4-BE49-F238E27FC236}">
                <a16:creationId xmlns:a16="http://schemas.microsoft.com/office/drawing/2014/main" id="{0EB344EE-7070-D41D-0840-187F67ACB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14600"/>
            <a:ext cx="83058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33" name="Line 5">
            <a:extLst>
              <a:ext uri="{FF2B5EF4-FFF2-40B4-BE49-F238E27FC236}">
                <a16:creationId xmlns:a16="http://schemas.microsoft.com/office/drawing/2014/main" id="{00EEC1F7-9A6E-17CE-2AA4-46E56A47E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362200"/>
            <a:ext cx="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34" name="Line 6">
            <a:extLst>
              <a:ext uri="{FF2B5EF4-FFF2-40B4-BE49-F238E27FC236}">
                <a16:creationId xmlns:a16="http://schemas.microsoft.com/office/drawing/2014/main" id="{DB451A27-68CC-BB0C-4FDC-37F3921E3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362200"/>
            <a:ext cx="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35" name="Line 7">
            <a:extLst>
              <a:ext uri="{FF2B5EF4-FFF2-40B4-BE49-F238E27FC236}">
                <a16:creationId xmlns:a16="http://schemas.microsoft.com/office/drawing/2014/main" id="{8986B223-ECB5-7D2E-529A-E667496CD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362200"/>
            <a:ext cx="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36" name="Line 8">
            <a:extLst>
              <a:ext uri="{FF2B5EF4-FFF2-40B4-BE49-F238E27FC236}">
                <a16:creationId xmlns:a16="http://schemas.microsoft.com/office/drawing/2014/main" id="{85C14D59-58BE-F784-3FC6-66511F9A9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62200"/>
            <a:ext cx="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38" name="Line 10">
            <a:extLst>
              <a:ext uri="{FF2B5EF4-FFF2-40B4-BE49-F238E27FC236}">
                <a16:creationId xmlns:a16="http://schemas.microsoft.com/office/drawing/2014/main" id="{F311AB09-0A44-E92F-106A-324E5E03E4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362200"/>
            <a:ext cx="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39" name="Line 11">
            <a:extLst>
              <a:ext uri="{FF2B5EF4-FFF2-40B4-BE49-F238E27FC236}">
                <a16:creationId xmlns:a16="http://schemas.microsoft.com/office/drawing/2014/main" id="{DD2D72E5-E874-936F-94BA-F61734F1B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362200"/>
            <a:ext cx="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40" name="Line 12">
            <a:extLst>
              <a:ext uri="{FF2B5EF4-FFF2-40B4-BE49-F238E27FC236}">
                <a16:creationId xmlns:a16="http://schemas.microsoft.com/office/drawing/2014/main" id="{E1623463-CFD8-08CA-161C-5D3BDD2D4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2362200"/>
            <a:ext cx="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30" name="Rectangle 2">
            <a:extLst>
              <a:ext uri="{FF2B5EF4-FFF2-40B4-BE49-F238E27FC236}">
                <a16:creationId xmlns:a16="http://schemas.microsoft.com/office/drawing/2014/main" id="{6CDB9334-0685-1079-0F43-242F3763F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88925"/>
            <a:ext cx="8180388" cy="641350"/>
          </a:xfrm>
        </p:spPr>
        <p:txBody>
          <a:bodyPr/>
          <a:lstStyle/>
          <a:p>
            <a:r>
              <a:rPr lang="en-GB" altLang="en-US"/>
              <a:t>Our Involvements with CLR &amp; C#</a:t>
            </a:r>
            <a:endParaRPr lang="en-US" altLang="en-US"/>
          </a:p>
        </p:txBody>
      </p:sp>
      <p:sp>
        <p:nvSpPr>
          <p:cNvPr id="252941" name="Text Box 13">
            <a:extLst>
              <a:ext uri="{FF2B5EF4-FFF2-40B4-BE49-F238E27FC236}">
                <a16:creationId xmlns:a16="http://schemas.microsoft.com/office/drawing/2014/main" id="{0BADDDBB-8BC5-219D-BB71-DAFB0CD5A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133600"/>
            <a:ext cx="6667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800">
                <a:latin typeface="Trebuchet MS" panose="020B0603020202020204" pitchFamily="34" charset="0"/>
              </a:rPr>
              <a:t>1999</a:t>
            </a:r>
            <a:endParaRPr lang="en-US" altLang="en-US" sz="1800">
              <a:latin typeface="Trebuchet MS" panose="020B0603020202020204" pitchFamily="34" charset="0"/>
            </a:endParaRPr>
          </a:p>
        </p:txBody>
      </p:sp>
      <p:sp>
        <p:nvSpPr>
          <p:cNvPr id="252942" name="Text Box 14">
            <a:extLst>
              <a:ext uri="{FF2B5EF4-FFF2-40B4-BE49-F238E27FC236}">
                <a16:creationId xmlns:a16="http://schemas.microsoft.com/office/drawing/2014/main" id="{B1026F56-03BA-11B8-BD51-D09AC5C92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133600"/>
            <a:ext cx="6667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800">
                <a:latin typeface="Trebuchet MS" panose="020B0603020202020204" pitchFamily="34" charset="0"/>
              </a:rPr>
              <a:t>2000</a:t>
            </a:r>
            <a:endParaRPr lang="en-US" altLang="en-US" sz="1800">
              <a:latin typeface="Trebuchet MS" panose="020B0603020202020204" pitchFamily="34" charset="0"/>
            </a:endParaRPr>
          </a:p>
        </p:txBody>
      </p:sp>
      <p:sp>
        <p:nvSpPr>
          <p:cNvPr id="252943" name="Text Box 15">
            <a:extLst>
              <a:ext uri="{FF2B5EF4-FFF2-40B4-BE49-F238E27FC236}">
                <a16:creationId xmlns:a16="http://schemas.microsoft.com/office/drawing/2014/main" id="{80A13928-6F08-5995-BFB3-80BC36EEC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667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800">
                <a:latin typeface="Trebuchet MS" panose="020B0603020202020204" pitchFamily="34" charset="0"/>
              </a:rPr>
              <a:t>2001</a:t>
            </a:r>
            <a:endParaRPr lang="en-US" altLang="en-US" sz="1800">
              <a:latin typeface="Trebuchet MS" panose="020B0603020202020204" pitchFamily="34" charset="0"/>
            </a:endParaRPr>
          </a:p>
        </p:txBody>
      </p:sp>
      <p:sp>
        <p:nvSpPr>
          <p:cNvPr id="252944" name="Text Box 16">
            <a:extLst>
              <a:ext uri="{FF2B5EF4-FFF2-40B4-BE49-F238E27FC236}">
                <a16:creationId xmlns:a16="http://schemas.microsoft.com/office/drawing/2014/main" id="{A5517AC7-870D-9DF8-112C-483F05F7C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725" y="2133600"/>
            <a:ext cx="4365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800">
                <a:latin typeface="Trebuchet MS" panose="020B0603020202020204" pitchFamily="34" charset="0"/>
              </a:rPr>
              <a:t>...</a:t>
            </a:r>
            <a:endParaRPr lang="en-US" altLang="en-US" sz="1800">
              <a:latin typeface="Trebuchet MS" panose="020B0603020202020204" pitchFamily="34" charset="0"/>
            </a:endParaRPr>
          </a:p>
        </p:txBody>
      </p:sp>
      <p:sp>
        <p:nvSpPr>
          <p:cNvPr id="252945" name="Text Box 17">
            <a:extLst>
              <a:ext uri="{FF2B5EF4-FFF2-40B4-BE49-F238E27FC236}">
                <a16:creationId xmlns:a16="http://schemas.microsoft.com/office/drawing/2014/main" id="{4903EE84-79A9-9BE8-BFF0-E7FA68CE7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133600"/>
            <a:ext cx="6667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800">
                <a:latin typeface="Trebuchet MS" panose="020B0603020202020204" pitchFamily="34" charset="0"/>
              </a:rPr>
              <a:t>1998</a:t>
            </a:r>
            <a:endParaRPr lang="en-US" altLang="en-US" sz="1800">
              <a:latin typeface="Trebuchet MS" panose="020B0603020202020204" pitchFamily="34" charset="0"/>
            </a:endParaRPr>
          </a:p>
        </p:txBody>
      </p:sp>
      <p:sp>
        <p:nvSpPr>
          <p:cNvPr id="252946" name="Line 18">
            <a:extLst>
              <a:ext uri="{FF2B5EF4-FFF2-40B4-BE49-F238E27FC236}">
                <a16:creationId xmlns:a16="http://schemas.microsoft.com/office/drawing/2014/main" id="{6F53EB35-07D1-2D5B-7F26-386B7690A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3462338"/>
            <a:ext cx="3810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47" name="Text Box 19">
            <a:extLst>
              <a:ext uri="{FF2B5EF4-FFF2-40B4-BE49-F238E27FC236}">
                <a16:creationId xmlns:a16="http://schemas.microsoft.com/office/drawing/2014/main" id="{3172B4F1-9805-55F9-3F4D-05F38CDC7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124200"/>
            <a:ext cx="21034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2000" b="1">
                <a:latin typeface="Trebuchet MS" panose="020B0603020202020204" pitchFamily="34" charset="0"/>
              </a:rPr>
              <a:t>CLR Verification</a:t>
            </a:r>
            <a:endParaRPr lang="en-US" altLang="en-US" sz="2000" b="1">
              <a:latin typeface="Trebuchet MS" panose="020B0603020202020204" pitchFamily="34" charset="0"/>
            </a:endParaRPr>
          </a:p>
        </p:txBody>
      </p:sp>
      <p:sp>
        <p:nvSpPr>
          <p:cNvPr id="252953" name="Line 25">
            <a:extLst>
              <a:ext uri="{FF2B5EF4-FFF2-40B4-BE49-F238E27FC236}">
                <a16:creationId xmlns:a16="http://schemas.microsoft.com/office/drawing/2014/main" id="{3D8AFE39-1B59-09BD-0EC1-8EBBB36F7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038600"/>
            <a:ext cx="2743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54" name="Text Box 26">
            <a:extLst>
              <a:ext uri="{FF2B5EF4-FFF2-40B4-BE49-F238E27FC236}">
                <a16:creationId xmlns:a16="http://schemas.microsoft.com/office/drawing/2014/main" id="{638C0AE5-7377-0B72-DCA5-EE5198531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657600"/>
            <a:ext cx="25669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2000" b="1">
                <a:latin typeface="Trebuchet MS" panose="020B0603020202020204" pitchFamily="34" charset="0"/>
              </a:rPr>
              <a:t>Generics for C#,CLR</a:t>
            </a:r>
            <a:endParaRPr lang="en-US" altLang="en-US" sz="2000" b="1">
              <a:latin typeface="Trebuchet MS" panose="020B0603020202020204" pitchFamily="34" charset="0"/>
            </a:endParaRPr>
          </a:p>
        </p:txBody>
      </p:sp>
      <p:sp>
        <p:nvSpPr>
          <p:cNvPr id="252956" name="Line 28">
            <a:extLst>
              <a:ext uri="{FF2B5EF4-FFF2-40B4-BE49-F238E27FC236}">
                <a16:creationId xmlns:a16="http://schemas.microsoft.com/office/drawing/2014/main" id="{D15459E5-0770-D085-114D-272B864FC8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4648200"/>
            <a:ext cx="2743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57" name="Text Box 29">
            <a:extLst>
              <a:ext uri="{FF2B5EF4-FFF2-40B4-BE49-F238E27FC236}">
                <a16:creationId xmlns:a16="http://schemas.microsoft.com/office/drawing/2014/main" id="{1E320110-3CBE-94E8-F063-72E62C5D6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267200"/>
            <a:ext cx="36337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2000" b="1">
                <a:latin typeface="Trebuchet MS" panose="020B0603020202020204" pitchFamily="34" charset="0"/>
              </a:rPr>
              <a:t>Academic Languages on .NET</a:t>
            </a:r>
            <a:endParaRPr lang="en-US" altLang="en-US" sz="2000" b="1">
              <a:latin typeface="Trebuchet MS" panose="020B0603020202020204" pitchFamily="34" charset="0"/>
            </a:endParaRPr>
          </a:p>
        </p:txBody>
      </p:sp>
      <p:sp>
        <p:nvSpPr>
          <p:cNvPr id="252959" name="Line 31">
            <a:extLst>
              <a:ext uri="{FF2B5EF4-FFF2-40B4-BE49-F238E27FC236}">
                <a16:creationId xmlns:a16="http://schemas.microsoft.com/office/drawing/2014/main" id="{093501BD-7B6E-AC41-5CC8-C008D71C2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4102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60" name="Text Box 32">
            <a:extLst>
              <a:ext uri="{FF2B5EF4-FFF2-40B4-BE49-F238E27FC236}">
                <a16:creationId xmlns:a16="http://schemas.microsoft.com/office/drawing/2014/main" id="{1A6A1B1B-EA01-618F-FF8A-83FD56EAC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029200"/>
            <a:ext cx="186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2000" b="1">
                <a:latin typeface="Trebuchet MS" panose="020B0603020202020204" pitchFamily="34" charset="0"/>
              </a:rPr>
              <a:t>Polyphonic C#</a:t>
            </a:r>
            <a:endParaRPr lang="en-US" altLang="en-US" sz="2000" b="1">
              <a:latin typeface="Trebuchet MS" panose="020B0603020202020204" pitchFamily="34" charset="0"/>
            </a:endParaRPr>
          </a:p>
        </p:txBody>
      </p:sp>
      <p:sp>
        <p:nvSpPr>
          <p:cNvPr id="252963" name="Text Box 35">
            <a:extLst>
              <a:ext uri="{FF2B5EF4-FFF2-40B4-BE49-F238E27FC236}">
                <a16:creationId xmlns:a16="http://schemas.microsoft.com/office/drawing/2014/main" id="{A16988C3-8579-7DF6-A28A-519DE205C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371600"/>
            <a:ext cx="5794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GB" altLang="en-US" sz="2000">
                <a:solidFill>
                  <a:schemeClr val="bg2"/>
                </a:solidFill>
                <a:latin typeface="Arial" panose="020B0604020202020204" pitchFamily="34" charset="0"/>
              </a:rPr>
              <a:t>50% of time for 8 Researchers, 1 SDE, 1 PostDoc</a:t>
            </a:r>
            <a:endParaRPr lang="en-US" altLang="en-US" sz="20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52965" name="AutoShape 37">
            <a:extLst>
              <a:ext uri="{FF2B5EF4-FFF2-40B4-BE49-F238E27FC236}">
                <a16:creationId xmlns:a16="http://schemas.microsoft.com/office/drawing/2014/main" id="{A83C5808-187B-7169-B5D3-3A9816AB2C0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715000" y="1827213"/>
            <a:ext cx="3124200" cy="1330325"/>
          </a:xfrm>
          <a:prstGeom prst="wedgeRectCallout">
            <a:avLst>
              <a:gd name="adj1" fmla="val -108995"/>
              <a:gd name="adj2" fmla="val 56088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/>
          <a:p>
            <a:pPr algn="l"/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Design, Analysis, Testing</a:t>
            </a: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Wrote initial specification</a:t>
            </a: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40,000 generated test cases</a:t>
            </a: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Major design flaws found</a:t>
            </a: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Patent written &amp; filed</a:t>
            </a:r>
          </a:p>
        </p:txBody>
      </p:sp>
      <p:sp>
        <p:nvSpPr>
          <p:cNvPr id="252978" name="AutoShape 50">
            <a:extLst>
              <a:ext uri="{FF2B5EF4-FFF2-40B4-BE49-F238E27FC236}">
                <a16:creationId xmlns:a16="http://schemas.microsoft.com/office/drawing/2014/main" id="{0474AD54-1D56-BA18-43D6-A4D6B0A3D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86000"/>
            <a:ext cx="381000" cy="533400"/>
          </a:xfrm>
          <a:prstGeom prst="lightningBolt">
            <a:avLst/>
          </a:prstGeom>
          <a:solidFill>
            <a:srgbClr val="66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52980" name="AutoShape 52">
            <a:extLst>
              <a:ext uri="{FF2B5EF4-FFF2-40B4-BE49-F238E27FC236}">
                <a16:creationId xmlns:a16="http://schemas.microsoft.com/office/drawing/2014/main" id="{5FD62338-3F05-0181-D1EE-8623C487545B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248400" y="3443288"/>
            <a:ext cx="2362200" cy="352425"/>
          </a:xfrm>
          <a:prstGeom prst="wedgeRectCallout">
            <a:avLst>
              <a:gd name="adj1" fmla="val -77958"/>
              <a:gd name="adj2" fmla="val 62611"/>
            </a:avLst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/>
          <a:p>
            <a:pPr algn="l"/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Case Study</a:t>
            </a:r>
          </a:p>
        </p:txBody>
      </p:sp>
      <p:sp>
        <p:nvSpPr>
          <p:cNvPr id="252981" name="AutoShape 53">
            <a:extLst>
              <a:ext uri="{FF2B5EF4-FFF2-40B4-BE49-F238E27FC236}">
                <a16:creationId xmlns:a16="http://schemas.microsoft.com/office/drawing/2014/main" id="{D8328E11-5AF9-3B4F-50B1-2CCC525138FB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553200" y="3976688"/>
            <a:ext cx="2362200" cy="352425"/>
          </a:xfrm>
          <a:prstGeom prst="wedgeRectCallout">
            <a:avLst>
              <a:gd name="adj1" fmla="val -71037"/>
              <a:gd name="adj2" fmla="val 63514"/>
            </a:avLst>
          </a:prstGeom>
          <a:solidFill>
            <a:schemeClr val="hlink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/>
          <a:p>
            <a:pPr algn="l"/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Case Study</a:t>
            </a:r>
          </a:p>
        </p:txBody>
      </p:sp>
      <p:sp>
        <p:nvSpPr>
          <p:cNvPr id="252976" name="Line 48">
            <a:extLst>
              <a:ext uri="{FF2B5EF4-FFF2-40B4-BE49-F238E27FC236}">
                <a16:creationId xmlns:a16="http://schemas.microsoft.com/office/drawing/2014/main" id="{6541F7FE-8A42-90E1-C0B6-A269D1287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6025" y="6096000"/>
            <a:ext cx="27432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66" name="AutoShape 38">
            <a:extLst>
              <a:ext uri="{FF2B5EF4-FFF2-40B4-BE49-F238E27FC236}">
                <a16:creationId xmlns:a16="http://schemas.microsoft.com/office/drawing/2014/main" id="{CEA924AC-2B78-4958-824E-36C6ADD48FFF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705600" y="5562600"/>
            <a:ext cx="1981200" cy="352425"/>
          </a:xfrm>
          <a:prstGeom prst="wedgeRectCallout">
            <a:avLst>
              <a:gd name="adj1" fmla="val -133412"/>
              <a:gd name="adj2" fmla="val 27477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/>
          <a:p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PDC, MSDN etc.</a:t>
            </a:r>
            <a:endParaRPr lang="en-US" altLang="en-US" sz="16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52969" name="AutoShape 41">
            <a:extLst>
              <a:ext uri="{FF2B5EF4-FFF2-40B4-BE49-F238E27FC236}">
                <a16:creationId xmlns:a16="http://schemas.microsoft.com/office/drawing/2014/main" id="{D55B9293-264B-AF41-329B-34A451D22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5945188"/>
            <a:ext cx="304800" cy="304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52970" name="AutoShape 42">
            <a:extLst>
              <a:ext uri="{FF2B5EF4-FFF2-40B4-BE49-F238E27FC236}">
                <a16:creationId xmlns:a16="http://schemas.microsoft.com/office/drawing/2014/main" id="{D252F892-7202-560A-6830-78C856A04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5945188"/>
            <a:ext cx="304800" cy="304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52971" name="AutoShape 43">
            <a:extLst>
              <a:ext uri="{FF2B5EF4-FFF2-40B4-BE49-F238E27FC236}">
                <a16:creationId xmlns:a16="http://schemas.microsoft.com/office/drawing/2014/main" id="{11930A6D-524A-2C6D-7475-C0C4AA3CF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5945188"/>
            <a:ext cx="304800" cy="304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52972" name="AutoShape 44">
            <a:extLst>
              <a:ext uri="{FF2B5EF4-FFF2-40B4-BE49-F238E27FC236}">
                <a16:creationId xmlns:a16="http://schemas.microsoft.com/office/drawing/2014/main" id="{13549AD8-2B06-295D-3706-92020732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5945188"/>
            <a:ext cx="304800" cy="304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52973" name="AutoShape 45">
            <a:extLst>
              <a:ext uri="{FF2B5EF4-FFF2-40B4-BE49-F238E27FC236}">
                <a16:creationId xmlns:a16="http://schemas.microsoft.com/office/drawing/2014/main" id="{3893A0B7-68DD-2531-BDB0-764E67A51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825" y="5945188"/>
            <a:ext cx="304800" cy="304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52974" name="AutoShape 46">
            <a:extLst>
              <a:ext uri="{FF2B5EF4-FFF2-40B4-BE49-F238E27FC236}">
                <a16:creationId xmlns:a16="http://schemas.microsoft.com/office/drawing/2014/main" id="{FAE1C33B-D5C8-A9B0-8FB4-65889C4BC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25" y="5945188"/>
            <a:ext cx="304800" cy="30480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52982" name="Text Box 54">
            <a:extLst>
              <a:ext uri="{FF2B5EF4-FFF2-40B4-BE49-F238E27FC236}">
                <a16:creationId xmlns:a16="http://schemas.microsoft.com/office/drawing/2014/main" id="{C30AB0DE-4DA2-4342-7314-601659725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638800"/>
            <a:ext cx="2417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2000" b="1">
                <a:latin typeface="Trebuchet MS" panose="020B0603020202020204" pitchFamily="34" charset="0"/>
              </a:rPr>
              <a:t>External Talks etc.</a:t>
            </a:r>
            <a:endParaRPr lang="en-US" altLang="en-US" sz="2000" b="1">
              <a:latin typeface="Trebuchet MS" panose="020B0603020202020204" pitchFamily="34" charset="0"/>
            </a:endParaRPr>
          </a:p>
        </p:txBody>
      </p:sp>
      <p:sp>
        <p:nvSpPr>
          <p:cNvPr id="252983" name="Text Box 55">
            <a:extLst>
              <a:ext uri="{FF2B5EF4-FFF2-40B4-BE49-F238E27FC236}">
                <a16:creationId xmlns:a16="http://schemas.microsoft.com/office/drawing/2014/main" id="{B4E34133-D4E8-21C1-B362-4E8971B5E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362200"/>
            <a:ext cx="561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2800" b="1">
                <a:solidFill>
                  <a:schemeClr val="tx2"/>
                </a:solidFill>
              </a:rPr>
              <a:t>C</a:t>
            </a:r>
            <a:r>
              <a:rPr lang="en-GB" altLang="en-US" sz="2800" b="1" baseline="30000">
                <a:solidFill>
                  <a:schemeClr val="tx2"/>
                </a:solidFill>
                <a:sym typeface="Symbol" panose="05050102010706020507" pitchFamily="18" charset="2"/>
              </a:rPr>
              <a:t></a:t>
            </a:r>
            <a:endParaRPr lang="en-US" altLang="en-US" sz="2800" b="1" baseline="30000">
              <a:solidFill>
                <a:schemeClr val="tx2"/>
              </a:solidFill>
            </a:endParaRPr>
          </a:p>
        </p:txBody>
      </p:sp>
      <p:sp>
        <p:nvSpPr>
          <p:cNvPr id="252986" name="Line 58">
            <a:extLst>
              <a:ext uri="{FF2B5EF4-FFF2-40B4-BE49-F238E27FC236}">
                <a16:creationId xmlns:a16="http://schemas.microsoft.com/office/drawing/2014/main" id="{869ABA89-71E9-164A-D999-DFB81C2B6A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76825" y="6096000"/>
            <a:ext cx="638175" cy="15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87" name="Line 59">
            <a:extLst>
              <a:ext uri="{FF2B5EF4-FFF2-40B4-BE49-F238E27FC236}">
                <a16:creationId xmlns:a16="http://schemas.microsoft.com/office/drawing/2014/main" id="{ED9B5F30-61B9-7D05-1AED-1D81CA0C4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410200"/>
            <a:ext cx="685800" cy="15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88" name="Line 60">
            <a:extLst>
              <a:ext uri="{FF2B5EF4-FFF2-40B4-BE49-F238E27FC236}">
                <a16:creationId xmlns:a16="http://schemas.microsoft.com/office/drawing/2014/main" id="{58AA08B0-B190-23FC-8FB8-80957E84A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648200"/>
            <a:ext cx="685800" cy="15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89" name="AutoShape 61">
            <a:extLst>
              <a:ext uri="{FF2B5EF4-FFF2-40B4-BE49-F238E27FC236}">
                <a16:creationId xmlns:a16="http://schemas.microsoft.com/office/drawing/2014/main" id="{7C8EF6A7-8D32-09EC-983D-9CAF5A4AC675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477000" y="4572000"/>
            <a:ext cx="2667000" cy="596900"/>
          </a:xfrm>
          <a:prstGeom prst="wedgeRectCallout">
            <a:avLst>
              <a:gd name="adj1" fmla="val -75833"/>
              <a:gd name="adj2" fmla="val 42023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/>
          <a:p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Just Beginning</a:t>
            </a:r>
            <a:b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(Proof of Concept)</a:t>
            </a:r>
          </a:p>
        </p:txBody>
      </p:sp>
      <p:sp>
        <p:nvSpPr>
          <p:cNvPr id="252990" name="Line 62">
            <a:extLst>
              <a:ext uri="{FF2B5EF4-FFF2-40B4-BE49-F238E27FC236}">
                <a16:creationId xmlns:a16="http://schemas.microsoft.com/office/drawing/2014/main" id="{D2F039EE-92DE-7771-E25E-E5212CC78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685800" cy="15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2991" name="Line 63">
            <a:extLst>
              <a:ext uri="{FF2B5EF4-FFF2-40B4-BE49-F238E27FC236}">
                <a16:creationId xmlns:a16="http://schemas.microsoft.com/office/drawing/2014/main" id="{0A857229-EB5B-539F-7382-80ECB58AD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50" y="3462338"/>
            <a:ext cx="685800" cy="158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60C0FCB-B301-7895-6FCE-BB668176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221C795-27C9-0C95-17BC-1CBA8D1D55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7832E5-487E-406F-AF56-6CBDE6ED7012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20162" name="Rectangle 2">
            <a:extLst>
              <a:ext uri="{FF2B5EF4-FFF2-40B4-BE49-F238E27FC236}">
                <a16:creationId xmlns:a16="http://schemas.microsoft.com/office/drawing/2014/main" id="{8784BFD7-EAFA-DFBC-A324-02969274B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Today</a:t>
            </a:r>
            <a:endParaRPr lang="en-US" altLang="en-US"/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754D97B3-C1FC-ED7A-C80C-5F0B9B602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ctr"/>
            <a:endParaRPr lang="en-GB" altLang="en-US" sz="3200" b="1"/>
          </a:p>
          <a:p>
            <a:pPr marL="457200" indent="-457200" algn="ctr"/>
            <a:endParaRPr lang="en-GB" altLang="en-US" sz="3200" b="1"/>
          </a:p>
          <a:p>
            <a:pPr marL="457200" indent="-457200" algn="ctr"/>
            <a:endParaRPr lang="en-GB" altLang="en-US" sz="3200" b="1"/>
          </a:p>
          <a:p>
            <a:pPr marL="457200" indent="-457200" algn="ctr"/>
            <a:r>
              <a:rPr lang="en-GB" altLang="en-US" sz="3200" b="1"/>
              <a:t>Case Study: Generics for .NET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984B512-46E4-7CAD-E3E0-D84A4B8B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A44DBF1-C529-244D-F276-C00FA0905F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E1675B-5583-4CDC-8BBE-45B9282CFD2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3A8D5E98-901B-D232-0986-11E6C640C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Status</a:t>
            </a:r>
            <a:endParaRPr lang="en-GB" altLang="en-US" sz="4000"/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99C39413-23FA-4967-AAC8-70AF1CAB8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1. A world first</a:t>
            </a:r>
          </a:p>
          <a:p>
            <a:pPr lvl="1"/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r>
              <a:rPr lang="en-GB" altLang="en-US"/>
              <a:t>2. Design is suitable for C#, C++, VB, ML, Haskell...</a:t>
            </a:r>
          </a:p>
          <a:p>
            <a:endParaRPr lang="en-GB" altLang="en-US"/>
          </a:p>
          <a:p>
            <a:r>
              <a:rPr lang="en-GB" altLang="en-US"/>
              <a:t>3. Our CLR and C# prototypes are fast, robust and ready</a:t>
            </a:r>
          </a:p>
        </p:txBody>
      </p:sp>
      <p:sp>
        <p:nvSpPr>
          <p:cNvPr id="310276" name="Text Box 4">
            <a:extLst>
              <a:ext uri="{FF2B5EF4-FFF2-40B4-BE49-F238E27FC236}">
                <a16:creationId xmlns:a16="http://schemas.microsoft.com/office/drawing/2014/main" id="{ABF6BE86-6F48-5B58-5491-0B581C550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988" y="2057400"/>
            <a:ext cx="582295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 sz="2000">
                <a:latin typeface="Arial" panose="020B0604020202020204" pitchFamily="34" charset="0"/>
              </a:rPr>
              <a:t> First generics for a JVM or CLR</a:t>
            </a:r>
          </a:p>
          <a:p>
            <a:pPr algn="l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 sz="2000">
                <a:latin typeface="Arial" panose="020B0604020202020204" pitchFamily="34" charset="0"/>
              </a:rPr>
              <a:t> First cross-language generics</a:t>
            </a:r>
          </a:p>
          <a:p>
            <a:pPr algn="l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 sz="2000">
                <a:latin typeface="Arial" panose="020B0604020202020204" pitchFamily="34" charset="0"/>
              </a:rPr>
              <a:t> First making full use of dynamic code generation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9B99A67-FBD0-070C-6176-3B47B4A3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F510AEA-0688-A8D0-AB29-B80FBA50F8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3AE44-0602-4EA1-BCC8-3E387DCE12E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8F71BE06-187B-73B1-FCC8-9A654F75A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Introduction</a:t>
            </a:r>
            <a:endParaRPr lang="en-GB" altLang="en-US" sz="4000"/>
          </a:p>
        </p:txBody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28399D49-0E86-D9FB-4ED1-F50185A0A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endParaRPr lang="en-GB" altLang="en-US"/>
          </a:p>
          <a:p>
            <a:pPr marL="533400" indent="-533400"/>
            <a:endParaRPr lang="en-GB" altLang="en-US"/>
          </a:p>
          <a:p>
            <a:pPr marL="533400" indent="-533400"/>
            <a:endParaRPr lang="en-GB" altLang="en-US"/>
          </a:p>
          <a:p>
            <a:pPr marL="533400" indent="-533400"/>
            <a:endParaRPr lang="en-GB" altLang="en-US"/>
          </a:p>
          <a:p>
            <a:pPr marL="533400" indent="-533400"/>
            <a:endParaRPr lang="en-GB" altLang="en-US"/>
          </a:p>
          <a:p>
            <a:pPr marL="533400" indent="-533400"/>
            <a:endParaRPr lang="en-GB" altLang="en-US"/>
          </a:p>
          <a:p>
            <a:pPr marL="533400" indent="-533400">
              <a:buFont typeface="Wingdings" panose="05000000000000000000" pitchFamily="2" charset="2"/>
              <a:buChar char="n"/>
            </a:pPr>
            <a:endParaRPr lang="en-GB" altLang="en-US"/>
          </a:p>
          <a:p>
            <a:pPr marL="533400" indent="-533400">
              <a:buFont typeface="Wingdings" panose="05000000000000000000" pitchFamily="2" charset="2"/>
              <a:buChar char="n"/>
            </a:pPr>
            <a:endParaRPr lang="en-GB" altLang="en-US"/>
          </a:p>
        </p:txBody>
      </p:sp>
      <p:sp>
        <p:nvSpPr>
          <p:cNvPr id="357380" name="AutoShape 4">
            <a:extLst>
              <a:ext uri="{FF2B5EF4-FFF2-40B4-BE49-F238E27FC236}">
                <a16:creationId xmlns:a16="http://schemas.microsoft.com/office/drawing/2014/main" id="{3711280C-45D7-592B-9F29-FD1F8BB1A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48000"/>
            <a:ext cx="5172075" cy="1938338"/>
          </a:xfrm>
          <a:prstGeom prst="foldedCorner">
            <a:avLst>
              <a:gd name="adj" fmla="val 12500"/>
            </a:avLst>
          </a:prstGeom>
          <a:solidFill>
            <a:srgbClr val="DBB557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GB" altLang="en-US" sz="1200" b="1">
                <a:latin typeface="Lucida Console" panose="020B0609040504020204" pitchFamily="49" charset="0"/>
              </a:rPr>
              <a:t>public class Stack&lt;T&gt;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{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  public Stack() { nitems = 0; items = new T[10]; }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  public T Pop() { return items[--nitems]; }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  public void Push(T x) { ... ; items[nitems++] = x; }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  public bool IsEmpty() { ... }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  private T[] items;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  private int nitems;</a:t>
            </a:r>
            <a:br>
              <a:rPr lang="en-GB" altLang="en-US" sz="1200" b="1">
                <a:latin typeface="Lucida Console" panose="020B0609040504020204" pitchFamily="49" charset="0"/>
              </a:rPr>
            </a:br>
            <a:r>
              <a:rPr lang="en-GB" altLang="en-US" sz="1200" b="1">
                <a:latin typeface="Lucida Console" panose="020B0609040504020204" pitchFamily="49" charset="0"/>
              </a:rPr>
              <a:t>}</a:t>
            </a:r>
            <a:endParaRPr lang="en-US" altLang="en-US" sz="1200" b="1">
              <a:latin typeface="Lucida Console" panose="020B0609040504020204" pitchFamily="49" charset="0"/>
            </a:endParaRPr>
          </a:p>
        </p:txBody>
      </p:sp>
      <p:sp>
        <p:nvSpPr>
          <p:cNvPr id="357381" name="AutoShape 5">
            <a:extLst>
              <a:ext uri="{FF2B5EF4-FFF2-40B4-BE49-F238E27FC236}">
                <a16:creationId xmlns:a16="http://schemas.microsoft.com/office/drawing/2014/main" id="{79EAB190-C37A-A37E-4512-2375200EF65E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38200" y="1371600"/>
            <a:ext cx="2257425" cy="1206500"/>
          </a:xfrm>
          <a:prstGeom prst="wedgeRectCallout">
            <a:avLst>
              <a:gd name="adj1" fmla="val 31787"/>
              <a:gd name="adj2" fmla="val 88949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>
            <a:spAutoFit/>
          </a:bodyPr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Generic Classes,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Generic Interfaces,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Generic Structs,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Generic Code</a:t>
            </a:r>
          </a:p>
        </p:txBody>
      </p:sp>
      <p:sp>
        <p:nvSpPr>
          <p:cNvPr id="357382" name="Text Box 6">
            <a:extLst>
              <a:ext uri="{FF2B5EF4-FFF2-40B4-BE49-F238E27FC236}">
                <a16:creationId xmlns:a16="http://schemas.microsoft.com/office/drawing/2014/main" id="{C689D165-923F-3D2B-01A1-8337A036A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105400"/>
            <a:ext cx="5095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r>
              <a:rPr lang="en-GB" altLang="en-US" sz="2000" b="1">
                <a:latin typeface="Arial" panose="020B0604020202020204" pitchFamily="34" charset="0"/>
              </a:rPr>
              <a:t>C#</a:t>
            </a:r>
            <a:endParaRPr lang="en-US" altLang="en-US" sz="2000" b="1">
              <a:latin typeface="Arial" panose="020B0604020202020204" pitchFamily="34" charset="0"/>
            </a:endParaRPr>
          </a:p>
        </p:txBody>
      </p:sp>
      <p:sp>
        <p:nvSpPr>
          <p:cNvPr id="357389" name="AutoShape 13">
            <a:extLst>
              <a:ext uri="{FF2B5EF4-FFF2-40B4-BE49-F238E27FC236}">
                <a16:creationId xmlns:a16="http://schemas.microsoft.com/office/drawing/2014/main" id="{76748D46-4E21-370A-50D4-ED1530E15804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035800" y="2789238"/>
            <a:ext cx="1625600" cy="352425"/>
          </a:xfrm>
          <a:prstGeom prst="wedgeRectCallout">
            <a:avLst>
              <a:gd name="adj1" fmla="val -37111"/>
              <a:gd name="adj2" fmla="val 176125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>
            <a:spAutoFit/>
          </a:bodyPr>
          <a:lstStyle/>
          <a:p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Others agree...</a:t>
            </a:r>
          </a:p>
        </p:txBody>
      </p:sp>
      <p:grpSp>
        <p:nvGrpSpPr>
          <p:cNvPr id="357402" name="Group 26">
            <a:extLst>
              <a:ext uri="{FF2B5EF4-FFF2-40B4-BE49-F238E27FC236}">
                <a16:creationId xmlns:a16="http://schemas.microsoft.com/office/drawing/2014/main" id="{A6033868-35B6-F9FA-03AD-C18D8166B50D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3733800"/>
            <a:ext cx="2406650" cy="2501900"/>
            <a:chOff x="3840" y="2352"/>
            <a:chExt cx="1516" cy="1576"/>
          </a:xfrm>
        </p:grpSpPr>
        <p:sp>
          <p:nvSpPr>
            <p:cNvPr id="357384" name="Text Box 8">
              <a:extLst>
                <a:ext uri="{FF2B5EF4-FFF2-40B4-BE49-F238E27FC236}">
                  <a16:creationId xmlns:a16="http://schemas.microsoft.com/office/drawing/2014/main" id="{DA81C63B-445A-D450-80B9-7BE064893798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4080" y="2352"/>
              <a:ext cx="398" cy="24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GB" altLang="en-US" sz="1800" b="1" i="1">
                  <a:solidFill>
                    <a:schemeClr val="bg1"/>
                  </a:solidFill>
                  <a:latin typeface="Arial" panose="020B0604020202020204" pitchFamily="34" charset="0"/>
                </a:rPr>
                <a:t>C++</a:t>
              </a:r>
              <a:endParaRPr lang="en-US" altLang="en-US" sz="1800" b="1" i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7386" name="Text Box 10">
              <a:extLst>
                <a:ext uri="{FF2B5EF4-FFF2-40B4-BE49-F238E27FC236}">
                  <a16:creationId xmlns:a16="http://schemas.microsoft.com/office/drawing/2014/main" id="{7BCC49AF-9375-B77B-0BB4-FA5824C8856C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4518" y="2736"/>
              <a:ext cx="334" cy="24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GB" altLang="en-US" sz="1800" b="1" i="1">
                  <a:solidFill>
                    <a:schemeClr val="bg1"/>
                  </a:solidFill>
                  <a:latin typeface="Arial" panose="020B0604020202020204" pitchFamily="34" charset="0"/>
                </a:rPr>
                <a:t>ML</a:t>
              </a:r>
              <a:endParaRPr lang="en-US" altLang="en-US" sz="1800" b="1" i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7387" name="Text Box 11">
              <a:extLst>
                <a:ext uri="{FF2B5EF4-FFF2-40B4-BE49-F238E27FC236}">
                  <a16:creationId xmlns:a16="http://schemas.microsoft.com/office/drawing/2014/main" id="{9A6DCDD2-0112-F0C3-B6CF-5F7D577AA9BB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4890" y="2352"/>
              <a:ext cx="398" cy="24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GB" altLang="en-US" sz="1800" b="1" i="1">
                  <a:solidFill>
                    <a:schemeClr val="bg1"/>
                  </a:solidFill>
                  <a:latin typeface="Arial" panose="020B0604020202020204" pitchFamily="34" charset="0"/>
                </a:rPr>
                <a:t>Ada</a:t>
              </a:r>
              <a:endParaRPr lang="en-US" altLang="en-US" sz="1800" b="1" i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7388" name="Text Box 12">
              <a:extLst>
                <a:ext uri="{FF2B5EF4-FFF2-40B4-BE49-F238E27FC236}">
                  <a16:creationId xmlns:a16="http://schemas.microsoft.com/office/drawing/2014/main" id="{E40A17C8-9627-777E-398B-D5B3EA572607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4726" y="3120"/>
              <a:ext cx="630" cy="24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GB" altLang="en-US" sz="1800" b="1" i="1">
                  <a:solidFill>
                    <a:schemeClr val="bg1"/>
                  </a:solidFill>
                  <a:latin typeface="Arial" panose="020B0604020202020204" pitchFamily="34" charset="0"/>
                </a:rPr>
                <a:t>Haskell</a:t>
              </a:r>
              <a:endParaRPr lang="en-US" altLang="en-US" sz="1800" b="1" i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7392" name="Text Box 16">
              <a:extLst>
                <a:ext uri="{FF2B5EF4-FFF2-40B4-BE49-F238E27FC236}">
                  <a16:creationId xmlns:a16="http://schemas.microsoft.com/office/drawing/2014/main" id="{C5D21A95-4B05-7DC9-5638-94471B9C02CA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3968" y="2928"/>
              <a:ext cx="478" cy="24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US" altLang="en-US" sz="1800" b="1" i="1">
                  <a:solidFill>
                    <a:schemeClr val="bg1"/>
                  </a:solidFill>
                  <a:latin typeface="Arial" panose="020B0604020202020204" pitchFamily="34" charset="0"/>
                </a:rPr>
                <a:t>Eiffel</a:t>
              </a:r>
            </a:p>
          </p:txBody>
        </p:sp>
        <p:sp>
          <p:nvSpPr>
            <p:cNvPr id="357393" name="Text Box 17">
              <a:extLst>
                <a:ext uri="{FF2B5EF4-FFF2-40B4-BE49-F238E27FC236}">
                  <a16:creationId xmlns:a16="http://schemas.microsoft.com/office/drawing/2014/main" id="{455E3C75-342B-CB28-9788-C9DFEE392590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3840" y="3264"/>
              <a:ext cx="686" cy="24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US" altLang="en-US" sz="1800" b="1" i="1">
                  <a:solidFill>
                    <a:schemeClr val="bg1"/>
                  </a:solidFill>
                  <a:latin typeface="Arial" panose="020B0604020202020204" pitchFamily="34" charset="0"/>
                </a:rPr>
                <a:t>Mercury</a:t>
              </a:r>
            </a:p>
          </p:txBody>
        </p:sp>
        <p:sp>
          <p:nvSpPr>
            <p:cNvPr id="357394" name="Text Box 18">
              <a:extLst>
                <a:ext uri="{FF2B5EF4-FFF2-40B4-BE49-F238E27FC236}">
                  <a16:creationId xmlns:a16="http://schemas.microsoft.com/office/drawing/2014/main" id="{BE453EE8-FA78-E88E-3EB1-D04774D9FE39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4416" y="3552"/>
              <a:ext cx="836" cy="376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US" altLang="en-US" sz="1600" b="1" i="1">
                  <a:solidFill>
                    <a:schemeClr val="bg1"/>
                  </a:solidFill>
                  <a:latin typeface="Arial" panose="020B0604020202020204" pitchFamily="34" charset="0"/>
                </a:rPr>
                <a:t>Component</a:t>
              </a:r>
              <a:br>
                <a:rPr lang="en-US" altLang="en-US" sz="1600" b="1" i="1">
                  <a:solidFill>
                    <a:schemeClr val="bg1"/>
                  </a:solidFill>
                  <a:latin typeface="Arial" panose="020B0604020202020204" pitchFamily="34" charset="0"/>
                </a:rPr>
              </a:br>
              <a:r>
                <a:rPr lang="en-US" altLang="en-US" sz="1600" b="1" i="1">
                  <a:solidFill>
                    <a:schemeClr val="bg1"/>
                  </a:solidFill>
                  <a:latin typeface="Arial" panose="020B0604020202020204" pitchFamily="34" charset="0"/>
                </a:rPr>
                <a:t>Pascal</a:t>
              </a:r>
            </a:p>
          </p:txBody>
        </p:sp>
      </p:grpSp>
      <p:grpSp>
        <p:nvGrpSpPr>
          <p:cNvPr id="357399" name="Group 23">
            <a:extLst>
              <a:ext uri="{FF2B5EF4-FFF2-40B4-BE49-F238E27FC236}">
                <a16:creationId xmlns:a16="http://schemas.microsoft.com/office/drawing/2014/main" id="{07030E5C-EFD6-58AC-6D51-8F8CC9CF42E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495800"/>
            <a:ext cx="5083175" cy="2141538"/>
            <a:chOff x="432" y="2832"/>
            <a:chExt cx="3202" cy="1349"/>
          </a:xfrm>
        </p:grpSpPr>
        <p:sp>
          <p:nvSpPr>
            <p:cNvPr id="357397" name="AutoShape 21">
              <a:extLst>
                <a:ext uri="{FF2B5EF4-FFF2-40B4-BE49-F238E27FC236}">
                  <a16:creationId xmlns:a16="http://schemas.microsoft.com/office/drawing/2014/main" id="{184613E6-EE85-1BCF-15EC-900100B82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832"/>
              <a:ext cx="2098" cy="1349"/>
            </a:xfrm>
            <a:prstGeom prst="foldedCorner">
              <a:avLst>
                <a:gd name="adj" fmla="val 12500"/>
              </a:avLst>
            </a:prstGeom>
            <a:solidFill>
              <a:srgbClr val="DBB557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r>
                <a:rPr lang="en-GB" altLang="en-US" sz="1200" b="1">
                  <a:latin typeface="Lucida Console" panose="020B0609040504020204" pitchFamily="49" charset="0"/>
                </a:rPr>
                <a:t>Stack&lt;int&gt; st;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..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switch (oper)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{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  case ‘*’ :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    st.Push (st.Pop() * st.Pop());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    break;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  case ‘*’ :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    ...</a:t>
              </a:r>
              <a:br>
                <a:rPr lang="en-GB" altLang="en-US" sz="1200" b="1">
                  <a:latin typeface="Lucida Console" panose="020B0609040504020204" pitchFamily="49" charset="0"/>
                </a:rPr>
              </a:br>
              <a:r>
                <a:rPr lang="en-GB" altLang="en-US" sz="1200" b="1">
                  <a:latin typeface="Lucida Console" panose="020B0609040504020204" pitchFamily="49" charset="0"/>
                </a:rPr>
                <a:t>}</a:t>
              </a:r>
              <a:endParaRPr lang="en-US" altLang="en-US" sz="1200" b="1">
                <a:latin typeface="Lucida Console" panose="020B0609040504020204" pitchFamily="49" charset="0"/>
              </a:endParaRPr>
            </a:p>
          </p:txBody>
        </p:sp>
        <p:sp>
          <p:nvSpPr>
            <p:cNvPr id="357398" name="AutoShape 22">
              <a:extLst>
                <a:ext uri="{FF2B5EF4-FFF2-40B4-BE49-F238E27FC236}">
                  <a16:creationId xmlns:a16="http://schemas.microsoft.com/office/drawing/2014/main" id="{F9EEAF87-91A8-C94F-EDDD-D345D3E2FAD6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432" y="3840"/>
              <a:ext cx="1646" cy="241"/>
            </a:xfrm>
            <a:prstGeom prst="wedgeRectCallout">
              <a:avLst>
                <a:gd name="adj1" fmla="val 45079"/>
                <a:gd name="adj2" fmla="val -382778"/>
              </a:avLst>
            </a:prstGeom>
            <a:solidFill>
              <a:schemeClr val="accent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 anchorCtr="1">
              <a:spAutoFit/>
            </a:bodyPr>
            <a:lstStyle/>
            <a:p>
              <a:r>
                <a:rPr lang="en-GB" altLang="en-US" sz="1800" b="1">
                  <a:solidFill>
                    <a:schemeClr val="bg1"/>
                  </a:solidFill>
                  <a:latin typeface="Arial" panose="020B0604020202020204" pitchFamily="34" charset="0"/>
                </a:rPr>
                <a:t>Using a Generic Class</a:t>
              </a:r>
            </a:p>
          </p:txBody>
        </p:sp>
      </p:grpSp>
      <p:grpSp>
        <p:nvGrpSpPr>
          <p:cNvPr id="357401" name="Group 25">
            <a:extLst>
              <a:ext uri="{FF2B5EF4-FFF2-40B4-BE49-F238E27FC236}">
                <a16:creationId xmlns:a16="http://schemas.microsoft.com/office/drawing/2014/main" id="{7737B2DF-C378-7649-A0CD-254056891320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219200"/>
            <a:ext cx="5592763" cy="1206500"/>
            <a:chOff x="2112" y="768"/>
            <a:chExt cx="3523" cy="760"/>
          </a:xfrm>
        </p:grpSpPr>
        <p:sp>
          <p:nvSpPr>
            <p:cNvPr id="357390" name="AutoShape 14">
              <a:extLst>
                <a:ext uri="{FF2B5EF4-FFF2-40B4-BE49-F238E27FC236}">
                  <a16:creationId xmlns:a16="http://schemas.microsoft.com/office/drawing/2014/main" id="{A9DC01E1-F9ED-F675-2CAA-0C093E63BA8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112" y="768"/>
              <a:ext cx="1723" cy="587"/>
            </a:xfrm>
            <a:prstGeom prst="wedgeRectCallout">
              <a:avLst>
                <a:gd name="adj1" fmla="val -15699"/>
                <a:gd name="adj2" fmla="val 25639"/>
              </a:avLst>
            </a:prstGeom>
            <a:solidFill>
              <a:schemeClr val="accent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 anchorCtr="1">
              <a:spAutoFit/>
            </a:bodyPr>
            <a:lstStyle>
              <a:lvl1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800" b="1">
                  <a:solidFill>
                    <a:schemeClr val="bg1"/>
                  </a:solidFill>
                </a:rPr>
                <a:t>For:</a:t>
              </a:r>
              <a:br>
                <a:rPr lang="en-GB" altLang="en-US" sz="1800" b="1">
                  <a:solidFill>
                    <a:schemeClr val="bg1"/>
                  </a:solidFill>
                </a:rPr>
              </a:br>
              <a:r>
                <a:rPr lang="en-GB" altLang="en-US" sz="1800" b="1">
                  <a:solidFill>
                    <a:schemeClr val="bg1"/>
                  </a:solidFill>
                </a:rPr>
                <a:t>	Collection Classes, </a:t>
              </a:r>
              <a:br>
                <a:rPr lang="en-GB" altLang="en-US" sz="1800" b="1">
                  <a:solidFill>
                    <a:schemeClr val="bg1"/>
                  </a:solidFill>
                </a:rPr>
              </a:br>
              <a:r>
                <a:rPr lang="en-GB" altLang="en-US" sz="1800" b="1">
                  <a:solidFill>
                    <a:schemeClr val="bg1"/>
                  </a:solidFill>
                </a:rPr>
                <a:t>	Algorithms</a:t>
              </a:r>
            </a:p>
          </p:txBody>
        </p:sp>
        <p:sp>
          <p:nvSpPr>
            <p:cNvPr id="357400" name="AutoShape 24">
              <a:extLst>
                <a:ext uri="{FF2B5EF4-FFF2-40B4-BE49-F238E27FC236}">
                  <a16:creationId xmlns:a16="http://schemas.microsoft.com/office/drawing/2014/main" id="{0B4FF7D8-EA3E-9BF9-E27F-B1C3D74A2EE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936" y="768"/>
              <a:ext cx="1699" cy="760"/>
            </a:xfrm>
            <a:prstGeom prst="wedgeRectCallout">
              <a:avLst>
                <a:gd name="adj1" fmla="val -41644"/>
                <a:gd name="adj2" fmla="val 31315"/>
              </a:avLst>
            </a:prstGeom>
            <a:solidFill>
              <a:schemeClr val="accent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 anchorCtr="1">
              <a:spAutoFit/>
            </a:bodyPr>
            <a:lstStyle>
              <a:lvl1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>
                <a:spcBef>
                  <a:spcPct val="0"/>
                </a:spcBef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76238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1800" b="1">
                  <a:solidFill>
                    <a:schemeClr val="bg1"/>
                  </a:solidFill>
                </a:rPr>
                <a:t>Benefits:</a:t>
              </a:r>
              <a:br>
                <a:rPr lang="en-GB" altLang="en-US" sz="1800" b="1">
                  <a:solidFill>
                    <a:schemeClr val="bg1"/>
                  </a:solidFill>
                </a:rPr>
              </a:br>
              <a:r>
                <a:rPr lang="en-GB" altLang="en-US" sz="1800" b="1">
                  <a:solidFill>
                    <a:schemeClr val="bg1"/>
                  </a:solidFill>
                </a:rPr>
                <a:t>	Code Reuse,</a:t>
              </a:r>
              <a:br>
                <a:rPr lang="en-GB" altLang="en-US" sz="1800" b="1">
                  <a:solidFill>
                    <a:schemeClr val="bg1"/>
                  </a:solidFill>
                </a:rPr>
              </a:br>
              <a:r>
                <a:rPr lang="en-GB" altLang="en-US" sz="1800" b="1">
                  <a:solidFill>
                    <a:schemeClr val="bg1"/>
                  </a:solidFill>
                </a:rPr>
                <a:t>	Faster Code,</a:t>
              </a:r>
              <a:br>
                <a:rPr lang="en-GB" altLang="en-US" sz="1800" b="1">
                  <a:solidFill>
                    <a:schemeClr val="bg1"/>
                  </a:solidFill>
                </a:rPr>
              </a:br>
              <a:r>
                <a:rPr lang="en-GB" altLang="en-US" sz="1800" b="1">
                  <a:solidFill>
                    <a:schemeClr val="bg1"/>
                  </a:solidFill>
                </a:rPr>
                <a:t>	Safer Programming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9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E146B33-4C94-3E42-8FA7-7467F434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51AB2E0-5460-23A6-61E1-B9221B363F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9D243-61FE-499A-9C8C-1DC9D769C28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86722" name="Rectangle 2">
            <a:extLst>
              <a:ext uri="{FF2B5EF4-FFF2-40B4-BE49-F238E27FC236}">
                <a16:creationId xmlns:a16="http://schemas.microsoft.com/office/drawing/2014/main" id="{057A76AC-A0A5-825E-F18A-6185687F01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 A Good Thing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A53BCE15-4155-56D5-0D19-2BC9E0BF3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Ada, C++, Eiffel, ML, Haskell, Mercury, ...</a:t>
            </a:r>
          </a:p>
          <a:p>
            <a:pPr lvl="1"/>
            <a:endParaRPr lang="en-GB" altLang="en-US" sz="2000"/>
          </a:p>
          <a:p>
            <a:r>
              <a:rPr lang="en-GB" altLang="en-US" sz="2400"/>
              <a:t>Sun want it in Java, but can’t get it </a:t>
            </a:r>
          </a:p>
          <a:p>
            <a:pPr lvl="1"/>
            <a:r>
              <a:rPr lang="en-GB" altLang="en-US" sz="2000"/>
              <a:t>Most popular feature requested</a:t>
            </a:r>
          </a:p>
          <a:p>
            <a:pPr lvl="1"/>
            <a:r>
              <a:rPr lang="en-GB" altLang="en-US" sz="2000"/>
              <a:t>3 design attempts</a:t>
            </a:r>
          </a:p>
          <a:p>
            <a:pPr lvl="1"/>
            <a:r>
              <a:rPr lang="en-GB" altLang="en-US" sz="2000"/>
              <a:t>It requires modifications to the JVM to “do it right”</a:t>
            </a:r>
          </a:p>
          <a:p>
            <a:pPr lvl="1">
              <a:buFont typeface="Wingdings" panose="05000000000000000000" pitchFamily="2" charset="2"/>
              <a:buNone/>
            </a:pPr>
            <a:endParaRPr lang="en-GB" altLang="en-US" sz="2000"/>
          </a:p>
          <a:p>
            <a:r>
              <a:rPr lang="en-GB" altLang="en-US" sz="2400"/>
              <a:t>Anders to O’Reilly: </a:t>
            </a:r>
          </a:p>
          <a:p>
            <a:r>
              <a:rPr lang="en-US" altLang="en-US" sz="2400" i="1"/>
              <a:t>	</a:t>
            </a:r>
            <a:r>
              <a:rPr lang="en-US" altLang="en-US" sz="2000" i="1"/>
              <a:t>By having the Common Language Runtime understand the concept of generics, multiple languages can share the functionality. </a:t>
            </a:r>
            <a:endParaRPr lang="en-GB" altLang="en-US" sz="2000" i="1"/>
          </a:p>
          <a:p>
            <a:r>
              <a:rPr lang="en-GB" altLang="en-US" sz="2400"/>
              <a:t>MS devs all seem to agree</a:t>
            </a:r>
            <a:endParaRPr lang="en-GB" altLang="en-US" sz="2000" i="1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F26CC80-EEDB-C4C9-888F-AD50DA46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8A966C2-B192-FA8F-EB39-8422D246B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ABBCD-D1B6-4828-94BD-2EF2CCD5177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32804" name="AutoShape 4">
            <a:extLst>
              <a:ext uri="{FF2B5EF4-FFF2-40B4-BE49-F238E27FC236}">
                <a16:creationId xmlns:a16="http://schemas.microsoft.com/office/drawing/2014/main" id="{BE1D7CD2-8BDE-E154-4A70-E596D8BEE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2743200"/>
            <a:ext cx="1981200" cy="12192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Common Language Runtime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2808" name="AutoShape 8">
            <a:extLst>
              <a:ext uri="{FF2B5EF4-FFF2-40B4-BE49-F238E27FC236}">
                <a16:creationId xmlns:a16="http://schemas.microsoft.com/office/drawing/2014/main" id="{F04748EF-BF8F-976B-6B74-A38823854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975" y="2743200"/>
            <a:ext cx="1981200" cy="12192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 w="158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Frameworks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2879C4E6-ECDE-70F3-0DD4-2229B77F3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What We’ve Done</a:t>
            </a:r>
          </a:p>
        </p:txBody>
      </p:sp>
      <p:sp>
        <p:nvSpPr>
          <p:cNvPr id="332806" name="AutoShape 6">
            <a:extLst>
              <a:ext uri="{FF2B5EF4-FFF2-40B4-BE49-F238E27FC236}">
                <a16:creationId xmlns:a16="http://schemas.microsoft.com/office/drawing/2014/main" id="{7BDB6D82-0B25-1F0B-6555-B1512327F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1524000"/>
            <a:ext cx="1981200" cy="10668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C#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2807" name="AutoShape 7">
            <a:extLst>
              <a:ext uri="{FF2B5EF4-FFF2-40B4-BE49-F238E27FC236}">
                <a16:creationId xmlns:a16="http://schemas.microsoft.com/office/drawing/2014/main" id="{7BE3873D-B0A7-9C20-3B77-F7D087836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575" y="1524000"/>
            <a:ext cx="1981200" cy="10668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 w="158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VB, C++,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JScript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2809" name="Text Box 9">
            <a:extLst>
              <a:ext uri="{FF2B5EF4-FFF2-40B4-BE49-F238E27FC236}">
                <a16:creationId xmlns:a16="http://schemas.microsoft.com/office/drawing/2014/main" id="{CB480208-A195-1471-3B76-6A896D6E5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14800"/>
            <a:ext cx="6046788" cy="181927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Dynamically Load New Type Instantiations </a:t>
            </a:r>
          </a:p>
          <a:p>
            <a:pPr lvl="2" algn="l"/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e.g. Stack&lt;int&gt;</a:t>
            </a:r>
          </a:p>
          <a:p>
            <a:pPr algn="l"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Generates Code as Needed</a:t>
            </a:r>
          </a:p>
          <a:p>
            <a:pPr algn="l"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Shares Types, e.g. Stack&lt;int&gt; &amp; Stack&lt;int&gt;</a:t>
            </a:r>
          </a:p>
          <a:p>
            <a:pPr algn="l"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Shares Code, e.g. code for Stack&lt;Object&gt; &amp; Stack&lt;String&gt;</a:t>
            </a:r>
            <a:endParaRPr lang="en-US" altLang="en-US" sz="16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2812" name="AutoShape 12">
            <a:extLst>
              <a:ext uri="{FF2B5EF4-FFF2-40B4-BE49-F238E27FC236}">
                <a16:creationId xmlns:a16="http://schemas.microsoft.com/office/drawing/2014/main" id="{603C5E85-A255-FAE8-AB5F-F5F4F3661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1524000"/>
            <a:ext cx="1981200" cy="10668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 w="1587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External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Languages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32817" name="AutoShape 17">
            <a:extLst>
              <a:ext uri="{FF2B5EF4-FFF2-40B4-BE49-F238E27FC236}">
                <a16:creationId xmlns:a16="http://schemas.microsoft.com/office/drawing/2014/main" id="{CF050AB6-433A-AD22-C4C6-12C1F34F113F}"/>
              </a:ext>
            </a:extLst>
          </p:cNvPr>
          <p:cNvCxnSpPr>
            <a:cxnSpLocks noChangeShapeType="1"/>
            <a:endCxn id="332804" idx="2"/>
          </p:cNvCxnSpPr>
          <p:nvPr/>
        </p:nvCxnSpPr>
        <p:spPr bwMode="auto">
          <a:xfrm flipV="1">
            <a:off x="1752600" y="3411538"/>
            <a:ext cx="1222375" cy="7032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57C86E2-5D22-24CD-62F6-A1E570B6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AF5D58F-7F22-62D3-E265-AE83B22B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778873-7C66-44EB-86FB-F5C8EEFBDC69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07202" name="Rectangle 2">
            <a:extLst>
              <a:ext uri="{FF2B5EF4-FFF2-40B4-BE49-F238E27FC236}">
                <a16:creationId xmlns:a16="http://schemas.microsoft.com/office/drawing/2014/main" id="{45D655F7-FF81-5F65-80FB-4D043F348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Design Comparison</a:t>
            </a:r>
            <a:endParaRPr lang="en-US" altLang="en-US"/>
          </a:p>
        </p:txBody>
      </p:sp>
      <p:graphicFrame>
        <p:nvGraphicFramePr>
          <p:cNvPr id="308044" name="Group 844">
            <a:extLst>
              <a:ext uri="{FF2B5EF4-FFF2-40B4-BE49-F238E27FC236}">
                <a16:creationId xmlns:a16="http://schemas.microsoft.com/office/drawing/2014/main" id="{2B994F52-7572-B927-0150-023AA4883BCD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447800"/>
          <a:ext cx="6096000" cy="45847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114401342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44162778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1533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391605983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C++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Java with Generics (GJ)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C# with</a:t>
                      </a:r>
                      <a:b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Generics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39615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Dynamic Load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547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Runtime Types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 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97892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List&lt;int&gt;</a:t>
                      </a:r>
                      <a:b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Stack&lt;Date&gt;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 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93731"/>
                  </a:ext>
                </a:extLst>
              </a:tr>
              <a:tr h="581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Efficient Execution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06120"/>
                  </a:ext>
                </a:extLst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Code Sharing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66761"/>
                  </a:ext>
                </a:extLst>
              </a:tr>
              <a:tr h="6223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Errors at compile time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b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Link time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236793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Ship without source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490310"/>
                  </a:ext>
                </a:extLst>
              </a:tr>
              <a:tr h="6032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Easy debug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b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Name mangling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b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No type info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 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85793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EC8AC51-8CF4-F37A-A8A7-BDB9BC2A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7C1D533-37FA-FE7B-BDCC-463219A0D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BDC075-8708-429C-B973-318053C0CDC1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36898" name="AutoShape 2">
            <a:extLst>
              <a:ext uri="{FF2B5EF4-FFF2-40B4-BE49-F238E27FC236}">
                <a16:creationId xmlns:a16="http://schemas.microsoft.com/office/drawing/2014/main" id="{0A0B4229-12B1-5E8A-7E8A-4122DC6CD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962400"/>
            <a:ext cx="1981200" cy="12192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Common Language Runtime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6899" name="AutoShape 3">
            <a:extLst>
              <a:ext uri="{FF2B5EF4-FFF2-40B4-BE49-F238E27FC236}">
                <a16:creationId xmlns:a16="http://schemas.microsoft.com/office/drawing/2014/main" id="{AFF0A58B-31E4-6050-2DD8-E907E93B9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962400"/>
            <a:ext cx="1981200" cy="12192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Frameworks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6900" name="Rectangle 4">
            <a:extLst>
              <a:ext uri="{FF2B5EF4-FFF2-40B4-BE49-F238E27FC236}">
                <a16:creationId xmlns:a16="http://schemas.microsoft.com/office/drawing/2014/main" id="{80DED684-EBBA-D4F1-0686-C6F009FAB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What We’ve Done</a:t>
            </a:r>
          </a:p>
        </p:txBody>
      </p:sp>
      <p:sp>
        <p:nvSpPr>
          <p:cNvPr id="336901" name="AutoShape 5">
            <a:extLst>
              <a:ext uri="{FF2B5EF4-FFF2-40B4-BE49-F238E27FC236}">
                <a16:creationId xmlns:a16="http://schemas.microsoft.com/office/drawing/2014/main" id="{9CFDFCAB-6A22-84AB-DF25-201EC9239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590800"/>
            <a:ext cx="1981200" cy="10668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C#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6902" name="AutoShape 6">
            <a:extLst>
              <a:ext uri="{FF2B5EF4-FFF2-40B4-BE49-F238E27FC236}">
                <a16:creationId xmlns:a16="http://schemas.microsoft.com/office/drawing/2014/main" id="{3519746E-B014-F251-2EF3-99094AE85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590800"/>
            <a:ext cx="1981200" cy="10668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VB, C++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6903" name="Text Box 7">
            <a:extLst>
              <a:ext uri="{FF2B5EF4-FFF2-40B4-BE49-F238E27FC236}">
                <a16:creationId xmlns:a16="http://schemas.microsoft.com/office/drawing/2014/main" id="{F90ED146-66B2-528E-4FE6-ACDF609C4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81600"/>
            <a:ext cx="2668588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New Metadata Constructs</a:t>
            </a:r>
            <a:br>
              <a:rPr lang="en-GB" altLang="en-US" sz="1600" b="1">
                <a:latin typeface="Arial" panose="020B0604020202020204" pitchFamily="34" charset="0"/>
              </a:rPr>
            </a:br>
            <a:r>
              <a:rPr lang="en-GB" altLang="en-US" sz="1600" b="1">
                <a:latin typeface="Arial" panose="020B0604020202020204" pitchFamily="34" charset="0"/>
              </a:rPr>
              <a:t>New Instructions</a:t>
            </a:r>
            <a:br>
              <a:rPr lang="en-GB" altLang="en-US" sz="1600" b="1">
                <a:latin typeface="Arial" panose="020B0604020202020204" pitchFamily="34" charset="0"/>
              </a:rPr>
            </a:br>
            <a:r>
              <a:rPr lang="en-GB" altLang="en-US" sz="1600" b="1">
                <a:latin typeface="Arial" panose="020B0604020202020204" pitchFamily="34" charset="0"/>
              </a:rPr>
              <a:t>JIT Modifications</a:t>
            </a:r>
            <a:br>
              <a:rPr lang="en-GB" altLang="en-US" sz="1600" b="1">
                <a:latin typeface="Arial" panose="020B0604020202020204" pitchFamily="34" charset="0"/>
              </a:rPr>
            </a:br>
            <a:r>
              <a:rPr lang="en-GB" altLang="en-US" sz="1600" b="1">
                <a:latin typeface="Arial" panose="020B0604020202020204" pitchFamily="34" charset="0"/>
              </a:rPr>
              <a:t>EE Modifications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36905" name="Text Box 9">
            <a:extLst>
              <a:ext uri="{FF2B5EF4-FFF2-40B4-BE49-F238E27FC236}">
                <a16:creationId xmlns:a16="http://schemas.microsoft.com/office/drawing/2014/main" id="{A178D751-D2A9-4573-C8CB-1BFD1A85A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0225" y="2133600"/>
            <a:ext cx="1976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400" b="1">
                <a:latin typeface="Arial" panose="020B0604020202020204" pitchFamily="34" charset="0"/>
              </a:rPr>
              <a:t>Agreed Design Goals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336906" name="AutoShape 10">
            <a:extLst>
              <a:ext uri="{FF2B5EF4-FFF2-40B4-BE49-F238E27FC236}">
                <a16:creationId xmlns:a16="http://schemas.microsoft.com/office/drawing/2014/main" id="{0C58F3A7-7D23-251F-1F6C-BD56CC0EE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590800"/>
            <a:ext cx="1981200" cy="1066800"/>
          </a:xfrm>
          <a:prstGeom prst="cube">
            <a:avLst>
              <a:gd name="adj" fmla="val 9681"/>
            </a:avLst>
          </a:prstGeom>
          <a:gradFill rotWithShape="0">
            <a:gsLst>
              <a:gs pos="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External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Languages</a:t>
            </a:r>
            <a:endParaRPr lang="en-US" altLang="en-US" sz="18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6908" name="Text Box 12">
            <a:extLst>
              <a:ext uri="{FF2B5EF4-FFF2-40B4-BE49-F238E27FC236}">
                <a16:creationId xmlns:a16="http://schemas.microsoft.com/office/drawing/2014/main" id="{8989E164-762C-3618-D64F-F4E752DF9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334000"/>
            <a:ext cx="2528888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400" b="1">
                <a:latin typeface="Arial" panose="020B0604020202020204" pitchFamily="34" charset="0"/>
              </a:rPr>
              <a:t>System.Collections.Generic</a:t>
            </a:r>
            <a:br>
              <a:rPr lang="en-GB" altLang="en-US" sz="1400" b="1">
                <a:latin typeface="Arial" panose="020B0604020202020204" pitchFamily="34" charset="0"/>
              </a:rPr>
            </a:br>
            <a:r>
              <a:rPr lang="en-GB" altLang="en-US" sz="1400" b="1">
                <a:latin typeface="Arial" panose="020B0604020202020204" pitchFamily="34" charset="0"/>
              </a:rPr>
              <a:t>Code Compatibility Path</a:t>
            </a:r>
            <a:br>
              <a:rPr lang="en-GB" altLang="en-US" sz="1400" b="1">
                <a:latin typeface="Arial" panose="020B0604020202020204" pitchFamily="34" charset="0"/>
              </a:rPr>
            </a:br>
            <a:r>
              <a:rPr lang="en-GB" altLang="en-US" sz="1400" b="1">
                <a:latin typeface="Arial" panose="020B0604020202020204" pitchFamily="34" charset="0"/>
              </a:rPr>
              <a:t>Code Migration Path</a:t>
            </a:r>
            <a:br>
              <a:rPr lang="en-GB" altLang="en-US" sz="1400" b="1">
                <a:latin typeface="Arial" panose="020B0604020202020204" pitchFamily="34" charset="0"/>
              </a:rPr>
            </a:br>
            <a:endParaRPr lang="en-US" altLang="en-US" sz="1400" b="1">
              <a:latin typeface="Arial" panose="020B0604020202020204" pitchFamily="34" charset="0"/>
            </a:endParaRPr>
          </a:p>
        </p:txBody>
      </p:sp>
      <p:cxnSp>
        <p:nvCxnSpPr>
          <p:cNvPr id="336909" name="AutoShape 13">
            <a:extLst>
              <a:ext uri="{FF2B5EF4-FFF2-40B4-BE49-F238E27FC236}">
                <a16:creationId xmlns:a16="http://schemas.microsoft.com/office/drawing/2014/main" id="{3E68D840-C040-3790-D7C8-01F15768C77D}"/>
              </a:ext>
            </a:extLst>
          </p:cNvPr>
          <p:cNvCxnSpPr>
            <a:cxnSpLocks noChangeShapeType="1"/>
            <a:endCxn id="336901" idx="1"/>
          </p:cNvCxnSpPr>
          <p:nvPr/>
        </p:nvCxnSpPr>
        <p:spPr bwMode="auto">
          <a:xfrm>
            <a:off x="2254250" y="2433638"/>
            <a:ext cx="284163" cy="260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6910" name="AutoShape 14">
            <a:extLst>
              <a:ext uri="{FF2B5EF4-FFF2-40B4-BE49-F238E27FC236}">
                <a16:creationId xmlns:a16="http://schemas.microsoft.com/office/drawing/2014/main" id="{07922096-1781-2C7E-DB2E-4AB61683A623}"/>
              </a:ext>
            </a:extLst>
          </p:cNvPr>
          <p:cNvCxnSpPr>
            <a:cxnSpLocks noChangeShapeType="1"/>
            <a:stCxn id="336903" idx="0"/>
            <a:endCxn id="336898" idx="2"/>
          </p:cNvCxnSpPr>
          <p:nvPr/>
        </p:nvCxnSpPr>
        <p:spPr bwMode="auto">
          <a:xfrm flipV="1">
            <a:off x="2097088" y="4630738"/>
            <a:ext cx="798512" cy="5508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6911" name="AutoShape 15">
            <a:extLst>
              <a:ext uri="{FF2B5EF4-FFF2-40B4-BE49-F238E27FC236}">
                <a16:creationId xmlns:a16="http://schemas.microsoft.com/office/drawing/2014/main" id="{FA9C5C8B-3063-A7C0-B680-D5315CD4A1E9}"/>
              </a:ext>
            </a:extLst>
          </p:cNvPr>
          <p:cNvCxnSpPr>
            <a:cxnSpLocks noChangeShapeType="1"/>
            <a:endCxn id="336906" idx="0"/>
          </p:cNvCxnSpPr>
          <p:nvPr/>
        </p:nvCxnSpPr>
        <p:spPr bwMode="auto">
          <a:xfrm flipH="1">
            <a:off x="5005388" y="2178050"/>
            <a:ext cx="77787" cy="412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6912" name="AutoShape 16">
            <a:extLst>
              <a:ext uri="{FF2B5EF4-FFF2-40B4-BE49-F238E27FC236}">
                <a16:creationId xmlns:a16="http://schemas.microsoft.com/office/drawing/2014/main" id="{76026486-C54B-7B2B-0128-DBAC49EBE0EC}"/>
              </a:ext>
            </a:extLst>
          </p:cNvPr>
          <p:cNvCxnSpPr>
            <a:cxnSpLocks noChangeShapeType="1"/>
            <a:stCxn id="336905" idx="2"/>
            <a:endCxn id="336902" idx="0"/>
          </p:cNvCxnSpPr>
          <p:nvPr/>
        </p:nvCxnSpPr>
        <p:spPr bwMode="auto">
          <a:xfrm flipH="1">
            <a:off x="7596188" y="2438400"/>
            <a:ext cx="273050" cy="1524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6913" name="AutoShape 17">
            <a:extLst>
              <a:ext uri="{FF2B5EF4-FFF2-40B4-BE49-F238E27FC236}">
                <a16:creationId xmlns:a16="http://schemas.microsoft.com/office/drawing/2014/main" id="{76552D34-AB0E-BCF3-D400-09872C31AC51}"/>
              </a:ext>
            </a:extLst>
          </p:cNvPr>
          <p:cNvCxnSpPr>
            <a:cxnSpLocks noChangeShapeType="1"/>
            <a:stCxn id="336908" idx="0"/>
            <a:endCxn id="336899" idx="4"/>
          </p:cNvCxnSpPr>
          <p:nvPr/>
        </p:nvCxnSpPr>
        <p:spPr bwMode="auto">
          <a:xfrm flipH="1" flipV="1">
            <a:off x="7045325" y="4630738"/>
            <a:ext cx="620713" cy="7032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6916" name="Group 20">
            <a:extLst>
              <a:ext uri="{FF2B5EF4-FFF2-40B4-BE49-F238E27FC236}">
                <a16:creationId xmlns:a16="http://schemas.microsoft.com/office/drawing/2014/main" id="{DC7AF752-D164-ECF1-A34F-1F39F09E022D}"/>
              </a:ext>
            </a:extLst>
          </p:cNvPr>
          <p:cNvGrpSpPr>
            <a:grpSpLocks/>
          </p:cNvGrpSpPr>
          <p:nvPr/>
        </p:nvGrpSpPr>
        <p:grpSpPr bwMode="auto">
          <a:xfrm>
            <a:off x="482600" y="1397000"/>
            <a:ext cx="3060700" cy="5067300"/>
            <a:chOff x="304" y="880"/>
            <a:chExt cx="1928" cy="3192"/>
          </a:xfrm>
        </p:grpSpPr>
        <p:sp>
          <p:nvSpPr>
            <p:cNvPr id="336914" name="Freeform 18">
              <a:extLst>
                <a:ext uri="{FF2B5EF4-FFF2-40B4-BE49-F238E27FC236}">
                  <a16:creationId xmlns:a16="http://schemas.microsoft.com/office/drawing/2014/main" id="{903B286D-BABF-3B73-F45E-4473540DF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" y="3056"/>
              <a:ext cx="1928" cy="1016"/>
            </a:xfrm>
            <a:custGeom>
              <a:avLst/>
              <a:gdLst>
                <a:gd name="T0" fmla="*/ 272 w 1928"/>
                <a:gd name="T1" fmla="*/ 160 h 1016"/>
                <a:gd name="T2" fmla="*/ 32 w 1928"/>
                <a:gd name="T3" fmla="*/ 400 h 1016"/>
                <a:gd name="T4" fmla="*/ 80 w 1928"/>
                <a:gd name="T5" fmla="*/ 736 h 1016"/>
                <a:gd name="T6" fmla="*/ 272 w 1928"/>
                <a:gd name="T7" fmla="*/ 976 h 1016"/>
                <a:gd name="T8" fmla="*/ 1040 w 1928"/>
                <a:gd name="T9" fmla="*/ 976 h 1016"/>
                <a:gd name="T10" fmla="*/ 1520 w 1928"/>
                <a:gd name="T11" fmla="*/ 784 h 1016"/>
                <a:gd name="T12" fmla="*/ 1904 w 1928"/>
                <a:gd name="T13" fmla="*/ 448 h 1016"/>
                <a:gd name="T14" fmla="*/ 1664 w 1928"/>
                <a:gd name="T15" fmla="*/ 64 h 1016"/>
                <a:gd name="T16" fmla="*/ 800 w 1928"/>
                <a:gd name="T17" fmla="*/ 64 h 1016"/>
                <a:gd name="T18" fmla="*/ 368 w 1928"/>
                <a:gd name="T19" fmla="*/ 112 h 1016"/>
                <a:gd name="T20" fmla="*/ 224 w 1928"/>
                <a:gd name="T21" fmla="*/ 160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8" h="1016">
                  <a:moveTo>
                    <a:pt x="272" y="160"/>
                  </a:moveTo>
                  <a:cubicBezTo>
                    <a:pt x="168" y="232"/>
                    <a:pt x="64" y="304"/>
                    <a:pt x="32" y="400"/>
                  </a:cubicBezTo>
                  <a:cubicBezTo>
                    <a:pt x="0" y="496"/>
                    <a:pt x="40" y="640"/>
                    <a:pt x="80" y="736"/>
                  </a:cubicBezTo>
                  <a:cubicBezTo>
                    <a:pt x="120" y="832"/>
                    <a:pt x="112" y="936"/>
                    <a:pt x="272" y="976"/>
                  </a:cubicBezTo>
                  <a:cubicBezTo>
                    <a:pt x="432" y="1016"/>
                    <a:pt x="832" y="1008"/>
                    <a:pt x="1040" y="976"/>
                  </a:cubicBezTo>
                  <a:cubicBezTo>
                    <a:pt x="1248" y="944"/>
                    <a:pt x="1376" y="872"/>
                    <a:pt x="1520" y="784"/>
                  </a:cubicBezTo>
                  <a:cubicBezTo>
                    <a:pt x="1664" y="696"/>
                    <a:pt x="1880" y="568"/>
                    <a:pt x="1904" y="448"/>
                  </a:cubicBezTo>
                  <a:cubicBezTo>
                    <a:pt x="1928" y="328"/>
                    <a:pt x="1848" y="128"/>
                    <a:pt x="1664" y="64"/>
                  </a:cubicBezTo>
                  <a:cubicBezTo>
                    <a:pt x="1480" y="0"/>
                    <a:pt x="1016" y="56"/>
                    <a:pt x="800" y="64"/>
                  </a:cubicBezTo>
                  <a:cubicBezTo>
                    <a:pt x="584" y="72"/>
                    <a:pt x="464" y="96"/>
                    <a:pt x="368" y="112"/>
                  </a:cubicBezTo>
                  <a:cubicBezTo>
                    <a:pt x="272" y="128"/>
                    <a:pt x="248" y="144"/>
                    <a:pt x="224" y="160"/>
                  </a:cubicBezTo>
                </a:path>
              </a:pathLst>
            </a:custGeom>
            <a:noFill/>
            <a:ln w="158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endParaRPr lang="en-GB"/>
            </a:p>
          </p:txBody>
        </p:sp>
        <p:sp>
          <p:nvSpPr>
            <p:cNvPr id="336915" name="Freeform 19">
              <a:extLst>
                <a:ext uri="{FF2B5EF4-FFF2-40B4-BE49-F238E27FC236}">
                  <a16:creationId xmlns:a16="http://schemas.microsoft.com/office/drawing/2014/main" id="{C4085F92-5054-EC64-F1DF-73F61A53A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" y="880"/>
              <a:ext cx="1408" cy="704"/>
            </a:xfrm>
            <a:custGeom>
              <a:avLst/>
              <a:gdLst>
                <a:gd name="T0" fmla="*/ 56 w 1408"/>
                <a:gd name="T1" fmla="*/ 176 h 704"/>
                <a:gd name="T2" fmla="*/ 56 w 1408"/>
                <a:gd name="T3" fmla="*/ 608 h 704"/>
                <a:gd name="T4" fmla="*/ 392 w 1408"/>
                <a:gd name="T5" fmla="*/ 704 h 704"/>
                <a:gd name="T6" fmla="*/ 1064 w 1408"/>
                <a:gd name="T7" fmla="*/ 608 h 704"/>
                <a:gd name="T8" fmla="*/ 1400 w 1408"/>
                <a:gd name="T9" fmla="*/ 320 h 704"/>
                <a:gd name="T10" fmla="*/ 1016 w 1408"/>
                <a:gd name="T11" fmla="*/ 80 h 704"/>
                <a:gd name="T12" fmla="*/ 344 w 1408"/>
                <a:gd name="T13" fmla="*/ 32 h 704"/>
                <a:gd name="T14" fmla="*/ 8 w 1408"/>
                <a:gd name="T15" fmla="*/ 272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8" h="704">
                  <a:moveTo>
                    <a:pt x="56" y="176"/>
                  </a:moveTo>
                  <a:cubicBezTo>
                    <a:pt x="28" y="348"/>
                    <a:pt x="0" y="520"/>
                    <a:pt x="56" y="608"/>
                  </a:cubicBezTo>
                  <a:cubicBezTo>
                    <a:pt x="112" y="696"/>
                    <a:pt x="224" y="704"/>
                    <a:pt x="392" y="704"/>
                  </a:cubicBezTo>
                  <a:cubicBezTo>
                    <a:pt x="560" y="704"/>
                    <a:pt x="896" y="672"/>
                    <a:pt x="1064" y="608"/>
                  </a:cubicBezTo>
                  <a:cubicBezTo>
                    <a:pt x="1232" y="544"/>
                    <a:pt x="1408" y="408"/>
                    <a:pt x="1400" y="320"/>
                  </a:cubicBezTo>
                  <a:cubicBezTo>
                    <a:pt x="1392" y="232"/>
                    <a:pt x="1192" y="128"/>
                    <a:pt x="1016" y="80"/>
                  </a:cubicBezTo>
                  <a:cubicBezTo>
                    <a:pt x="840" y="32"/>
                    <a:pt x="512" y="0"/>
                    <a:pt x="344" y="32"/>
                  </a:cubicBezTo>
                  <a:cubicBezTo>
                    <a:pt x="176" y="64"/>
                    <a:pt x="72" y="224"/>
                    <a:pt x="8" y="272"/>
                  </a:cubicBezTo>
                </a:path>
              </a:pathLst>
            </a:custGeom>
            <a:noFill/>
            <a:ln w="158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endParaRPr lang="en-GB"/>
            </a:p>
          </p:txBody>
        </p:sp>
      </p:grpSp>
      <p:sp>
        <p:nvSpPr>
          <p:cNvPr id="336919" name="Text Box 23">
            <a:extLst>
              <a:ext uri="{FF2B5EF4-FFF2-40B4-BE49-F238E27FC236}">
                <a16:creationId xmlns:a16="http://schemas.microsoft.com/office/drawing/2014/main" id="{A498C00D-4934-9119-1C17-E0D7F0560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00200"/>
            <a:ext cx="1976438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400" b="1">
                <a:latin typeface="Arial" panose="020B0604020202020204" pitchFamily="34" charset="0"/>
              </a:rPr>
              <a:t>Agreed Design Goals</a:t>
            </a:r>
            <a:br>
              <a:rPr lang="en-GB" altLang="en-US" sz="1400" b="1">
                <a:latin typeface="Arial" panose="020B0604020202020204" pitchFamily="34" charset="0"/>
              </a:rPr>
            </a:br>
            <a:r>
              <a:rPr lang="en-GB" altLang="en-US" sz="1400" b="1">
                <a:latin typeface="Arial" panose="020B0604020202020204" pitchFamily="34" charset="0"/>
              </a:rPr>
              <a:t>Prototype Design</a:t>
            </a:r>
            <a:br>
              <a:rPr lang="en-GB" altLang="en-US" sz="1400" b="1">
                <a:latin typeface="Arial" panose="020B0604020202020204" pitchFamily="34" charset="0"/>
              </a:rPr>
            </a:br>
            <a:r>
              <a:rPr lang="en-GB" altLang="en-US" sz="1400" b="1">
                <a:latin typeface="Arial" panose="020B0604020202020204" pitchFamily="34" charset="0"/>
              </a:rPr>
              <a:t>Prototype Compiler</a:t>
            </a:r>
            <a:br>
              <a:rPr lang="en-GB" altLang="en-US" sz="1400" b="1">
                <a:latin typeface="Arial" panose="020B0604020202020204" pitchFamily="34" charset="0"/>
              </a:rPr>
            </a:br>
            <a:r>
              <a:rPr lang="en-GB" altLang="en-US" sz="1400" b="1">
                <a:latin typeface="Arial" panose="020B0604020202020204" pitchFamily="34" charset="0"/>
              </a:rPr>
              <a:t>Test Cases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336920" name="Text Box 24">
            <a:extLst>
              <a:ext uri="{FF2B5EF4-FFF2-40B4-BE49-F238E27FC236}">
                <a16:creationId xmlns:a16="http://schemas.microsoft.com/office/drawing/2014/main" id="{BACD4FA7-1821-7777-76E6-792800290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447800"/>
            <a:ext cx="300196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400" b="1">
                <a:latin typeface="Arial" panose="020B0604020202020204" pitchFamily="34" charset="0"/>
              </a:rPr>
              <a:t>Agreed Design Goals</a:t>
            </a:r>
            <a:br>
              <a:rPr lang="en-GB" altLang="en-US" sz="1400" b="1">
                <a:latin typeface="Arial" panose="020B0604020202020204" pitchFamily="34" charset="0"/>
              </a:rPr>
            </a:br>
            <a:r>
              <a:rPr lang="en-GB" altLang="en-US" sz="1400" b="1">
                <a:latin typeface="Arial" panose="020B0604020202020204" pitchFamily="34" charset="0"/>
              </a:rPr>
              <a:t>Haskell Compiler using Generics </a:t>
            </a:r>
            <a:br>
              <a:rPr lang="en-GB" altLang="en-US" sz="1400" b="1">
                <a:latin typeface="Arial" panose="020B0604020202020204" pitchFamily="34" charset="0"/>
              </a:rPr>
            </a:br>
            <a:r>
              <a:rPr lang="en-GB" altLang="en-US" sz="1400" b="1">
                <a:latin typeface="Arial" panose="020B0604020202020204" pitchFamily="34" charset="0"/>
              </a:rPr>
              <a:t>Presentations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82A587-7AFA-7673-409B-16BCDA8C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D12C074-A9B2-E289-F054-CA69BB94BF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FECB45-E711-4E00-8EC0-1A32C013842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1637B693-3CA8-06A3-E550-AEDDC4DC0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Implementation Summary</a:t>
            </a:r>
            <a:endParaRPr lang="en-US" altLang="en-US"/>
          </a:p>
        </p:txBody>
      </p:sp>
      <p:graphicFrame>
        <p:nvGraphicFramePr>
          <p:cNvPr id="328960" name="Group 256">
            <a:extLst>
              <a:ext uri="{FF2B5EF4-FFF2-40B4-BE49-F238E27FC236}">
                <a16:creationId xmlns:a16="http://schemas.microsoft.com/office/drawing/2014/main" id="{98DCE4CE-C2F1-D809-D3D8-1304E53A2565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219200"/>
          <a:ext cx="7391400" cy="5043488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74583867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8199354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44630434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3428066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05568702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VS PDC</a:t>
                      </a:r>
                      <a:b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(Aug 2000)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VS Beta-1</a:t>
                      </a:r>
                      <a:b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(Dec 2000)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VS Beta-2</a:t>
                      </a:r>
                      <a:b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(~Apr 2001)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If In Product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812356"/>
                  </a:ext>
                </a:extLst>
              </a:tr>
              <a:tr h="635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Generic Classes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(C#, CLR)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956188"/>
                  </a:ext>
                </a:extLst>
              </a:tr>
              <a:tr h="5270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Generic Methods</a:t>
                      </a:r>
                      <a:b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(C#, CLR)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292077"/>
                  </a:ext>
                </a:extLst>
              </a:tr>
              <a:tr h="463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Optimizations (CLR)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359769"/>
                  </a:ext>
                </a:extLst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Shared Code for Classes (CLR)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78598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Shared Code for Methods (CLR)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In Progress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19591"/>
                  </a:ext>
                </a:extLst>
              </a:tr>
              <a:tr h="3683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Constraints (C#, CLR)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In Progress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996804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Verifier, Debug (CLR)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In Progress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Done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606174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Profile, E&amp;C (CLR)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For Teams 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03883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C# Ease-of-use</a:t>
                      </a:r>
                      <a:b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VB, VC++ access, </a:t>
                      </a:r>
                      <a:b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VS support,</a:t>
                      </a:r>
                      <a:b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Collections.Generic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endParaRPr kumimoji="0" lang="en-US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For Teams 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4313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750EBE4-0B99-2A57-356E-C1496C1B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2053840-6BAF-174E-2436-CFF75E6474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875FE0-2F69-4D23-8FAD-5964C2BE8FE6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31426" name="Rectangle 2">
            <a:extLst>
              <a:ext uri="{FF2B5EF4-FFF2-40B4-BE49-F238E27FC236}">
                <a16:creationId xmlns:a16="http://schemas.microsoft.com/office/drawing/2014/main" id="{22AD6D15-D519-A222-31EF-490BE9AF8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Proofs of Quality</a:t>
            </a:r>
            <a:endParaRPr lang="en-US" altLang="en-US"/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4CB480DB-DEA5-351E-0120-F34775C48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3200"/>
              <a:t>Robustness</a:t>
            </a:r>
            <a:endParaRPr lang="en-US" altLang="en-US" sz="3200"/>
          </a:p>
          <a:p>
            <a:pPr lvl="1"/>
            <a:r>
              <a:rPr lang="en-GB" altLang="en-US" sz="2800"/>
              <a:t>Passes Beta 1 BVTs</a:t>
            </a:r>
            <a:endParaRPr lang="en-US" altLang="en-US" sz="2800"/>
          </a:p>
          <a:p>
            <a:pPr lvl="1"/>
            <a:r>
              <a:rPr lang="en-GB" altLang="en-US" sz="2800"/>
              <a:t>Now regularly running &gt;10</a:t>
            </a:r>
            <a:r>
              <a:rPr lang="en-GB" altLang="en-US" sz="2800" b="1" baseline="30000"/>
              <a:t>6</a:t>
            </a:r>
            <a:r>
              <a:rPr lang="en-GB" altLang="en-US" sz="2800"/>
              <a:t> lines of IL</a:t>
            </a:r>
          </a:p>
          <a:p>
            <a:r>
              <a:rPr lang="en-GB" altLang="en-US" sz="3200"/>
              <a:t>Efficiency</a:t>
            </a:r>
            <a:r>
              <a:rPr lang="en-US" altLang="en-US" sz="3200"/>
              <a:t> </a:t>
            </a:r>
          </a:p>
          <a:p>
            <a:pPr lvl="1"/>
            <a:r>
              <a:rPr lang="en-GB" altLang="en-US" sz="2800"/>
              <a:t>C# micro-benchmarks 6-10x faster</a:t>
            </a:r>
            <a:endParaRPr lang="en-US" altLang="en-US" sz="2800"/>
          </a:p>
          <a:p>
            <a:pPr lvl="1"/>
            <a:r>
              <a:rPr lang="en-GB" altLang="en-US" sz="2800"/>
              <a:t>One language (Haskell) is consistently 30% faster</a:t>
            </a:r>
          </a:p>
          <a:p>
            <a:pPr lvl="1"/>
            <a:r>
              <a:rPr lang="en-GB" altLang="en-US" sz="2800"/>
              <a:t>Faster where you’d expect, nothing runs slower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1A3B4F9-6C6C-9ABF-6533-EC0B269F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ECF8F39-65D6-6B94-5C0E-05D05059DB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5E2C8-1176-4BB1-B565-3F9602F82CC0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0CD2778C-9FD9-E01C-3F17-F181336B2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Summary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CC51C394-90F1-55CD-95B3-4727C1CA4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3200"/>
              <a:t>We’ve created a viable option....</a:t>
            </a:r>
          </a:p>
          <a:p>
            <a:pPr lvl="1"/>
            <a:r>
              <a:rPr lang="en-GB" altLang="en-US" sz="2800"/>
              <a:t>It’s up to the product teams to exercise it...</a:t>
            </a:r>
          </a:p>
          <a:p>
            <a:endParaRPr lang="en-GB" altLang="en-US" sz="3200"/>
          </a:p>
          <a:p>
            <a:r>
              <a:rPr lang="en-GB" altLang="en-US" sz="3200"/>
              <a:t>Unfortunately not in V1</a:t>
            </a:r>
          </a:p>
          <a:p>
            <a:pPr lvl="1"/>
            <a:r>
              <a:rPr lang="en-GB" altLang="en-US" sz="2800"/>
              <a:t>Planning in progress for “Vnext”</a:t>
            </a:r>
          </a:p>
          <a:p>
            <a:pPr lvl="1"/>
            <a:r>
              <a:rPr lang="en-GB" altLang="en-US" sz="2800"/>
              <a:t>Possible CLR code-integration ~April 2001</a:t>
            </a:r>
          </a:p>
          <a:p>
            <a:pPr lvl="1"/>
            <a:r>
              <a:rPr lang="en-GB" altLang="en-US" sz="2800"/>
              <a:t>Some work for each team</a:t>
            </a:r>
          </a:p>
          <a:p>
            <a:pPr lvl="1">
              <a:buFont typeface="Wingdings" panose="05000000000000000000" pitchFamily="2" charset="2"/>
              <a:buNone/>
            </a:pPr>
            <a:endParaRPr lang="en-GB" altLang="en-US" sz="28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0FFC388-B0E4-B5E0-85E5-92CA43DA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FE45BD2-E6B3-91A4-F3AC-BD80951BB7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9A0F47-2771-4522-9614-FDCA362DF83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21186" name="Rectangle 2">
            <a:extLst>
              <a:ext uri="{FF2B5EF4-FFF2-40B4-BE49-F238E27FC236}">
                <a16:creationId xmlns:a16="http://schemas.microsoft.com/office/drawing/2014/main" id="{8CBBD071-9066-C877-52FE-5AD4B0EA0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Today</a:t>
            </a:r>
            <a:endParaRPr lang="en-US" altLang="en-US"/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C43BF1B0-781F-6D4E-7B1F-D926C4971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endParaRPr lang="en-GB" altLang="en-US" sz="3200"/>
          </a:p>
          <a:p>
            <a:pPr marL="457200" indent="-457200"/>
            <a:endParaRPr lang="en-GB" altLang="en-US" sz="3200"/>
          </a:p>
          <a:p>
            <a:pPr marL="457200" indent="-457200"/>
            <a:endParaRPr lang="en-GB" altLang="en-US" sz="3200" b="1"/>
          </a:p>
          <a:p>
            <a:pPr marL="457200" indent="-457200" algn="ctr"/>
            <a:r>
              <a:rPr lang="en-GB" altLang="en-US" sz="3200" b="1"/>
              <a:t>Academic Languages for .NET</a:t>
            </a:r>
          </a:p>
          <a:p>
            <a:pPr marL="457200" indent="-457200" algn="ctr"/>
            <a:r>
              <a:rPr lang="en-GB" altLang="en-US" sz="3200" b="1"/>
              <a:t>(Project 7)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9A17CFE-D0A7-233C-2260-F4179A89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589E6A8-F7AC-7CFA-7A68-706720FF09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59A0F0-9928-4F20-AFD0-7C74D608F0B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42018" name="Rectangle 2">
            <a:extLst>
              <a:ext uri="{FF2B5EF4-FFF2-40B4-BE49-F238E27FC236}">
                <a16:creationId xmlns:a16="http://schemas.microsoft.com/office/drawing/2014/main" id="{8D389FEE-59BE-F4C1-08DC-F13F8B9DB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Project 7: Aims</a:t>
            </a:r>
            <a:endParaRPr lang="en-US" altLang="en-US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F5901519-92CE-7CBE-832C-B87F755874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7 Academic, ~8 Commercial Languages</a:t>
            </a:r>
          </a:p>
          <a:p>
            <a:r>
              <a:rPr lang="en-GB" altLang="en-US" sz="2400"/>
              <a:t>Developer Relations/University Relations</a:t>
            </a:r>
          </a:p>
          <a:p>
            <a:pPr lvl="1"/>
            <a:r>
              <a:rPr lang="en-GB" altLang="en-US" sz="2000"/>
              <a:t>James Plamondon, now Dan Fay, Brad Merrill</a:t>
            </a:r>
          </a:p>
          <a:p>
            <a:r>
              <a:rPr lang="en-GB" altLang="en-US" sz="2400"/>
              <a:t>The Main Aims</a:t>
            </a:r>
          </a:p>
          <a:p>
            <a:pPr lvl="1"/>
            <a:r>
              <a:rPr lang="en-GB" altLang="en-US" sz="2000"/>
              <a:t>Multi-language momentum</a:t>
            </a:r>
          </a:p>
          <a:p>
            <a:pPr lvl="1"/>
            <a:r>
              <a:rPr lang="en-GB" altLang="en-US" sz="2000"/>
              <a:t>Robust compilers at RTM</a:t>
            </a:r>
          </a:p>
          <a:p>
            <a:pPr lvl="1"/>
            <a:r>
              <a:rPr lang="en-GB" altLang="en-US" sz="2000"/>
              <a:t>VS Integration at RTM</a:t>
            </a:r>
          </a:p>
          <a:p>
            <a:r>
              <a:rPr lang="en-GB" altLang="en-US" sz="2400"/>
              <a:t>Further Challenges</a:t>
            </a:r>
          </a:p>
          <a:p>
            <a:pPr lvl="1"/>
            <a:r>
              <a:rPr lang="en-GB" altLang="en-US" sz="2000"/>
              <a:t>Getting them working together</a:t>
            </a:r>
          </a:p>
          <a:p>
            <a:pPr lvl="1"/>
            <a:r>
              <a:rPr lang="en-GB" altLang="en-US" sz="2000"/>
              <a:t>Getting them running fast</a:t>
            </a:r>
            <a:endParaRPr lang="en-GB" altLang="en-US" sz="1800"/>
          </a:p>
          <a:p>
            <a:pPr lvl="1"/>
            <a:r>
              <a:rPr lang="en-GB" altLang="en-US" sz="2000"/>
              <a:t>Develop an open, co-operative research community based around .NET, the CLR and multi-language programming</a:t>
            </a:r>
          </a:p>
        </p:txBody>
      </p:sp>
      <p:grpSp>
        <p:nvGrpSpPr>
          <p:cNvPr id="342026" name="Group 10">
            <a:extLst>
              <a:ext uri="{FF2B5EF4-FFF2-40B4-BE49-F238E27FC236}">
                <a16:creationId xmlns:a16="http://schemas.microsoft.com/office/drawing/2014/main" id="{64C5D9D3-01C6-CDD5-977C-09D9174138D7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447800"/>
            <a:ext cx="9144000" cy="4724400"/>
            <a:chOff x="2736" y="912"/>
            <a:chExt cx="5760" cy="2976"/>
          </a:xfrm>
        </p:grpSpPr>
        <p:sp>
          <p:nvSpPr>
            <p:cNvPr id="342020" name="Rectangle 4">
              <a:extLst>
                <a:ext uri="{FF2B5EF4-FFF2-40B4-BE49-F238E27FC236}">
                  <a16:creationId xmlns:a16="http://schemas.microsoft.com/office/drawing/2014/main" id="{531CF97D-E383-E46B-81F6-79D966E63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912"/>
              <a:ext cx="5088" cy="2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endParaRPr lang="en-GB" altLang="en-US" sz="1800" b="1" i="1">
                <a:solidFill>
                  <a:schemeClr val="accent1"/>
                </a:solidFill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endParaRPr lang="en-GB" altLang="en-US" sz="1800" b="1" i="1">
                <a:solidFill>
                  <a:schemeClr val="accent1"/>
                </a:solidFill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endParaRPr lang="en-GB" altLang="en-US" sz="1800" b="1" i="1">
                <a:solidFill>
                  <a:schemeClr val="accent1"/>
                </a:solidFill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endParaRPr lang="en-GB" altLang="en-US" sz="1800" b="1" i="1">
                <a:solidFill>
                  <a:schemeClr val="accent1"/>
                </a:solidFill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GB" altLang="en-US" sz="1800" b="1" i="1">
                  <a:solidFill>
                    <a:schemeClr val="accent1"/>
                  </a:solidFill>
                </a:rPr>
                <a:t>7 academic languages at PDC</a:t>
              </a: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GB" altLang="en-US" sz="1800" b="1" i="1">
                  <a:solidFill>
                    <a:schemeClr val="accent1"/>
                  </a:solidFill>
                </a:rPr>
                <a:t>On track for RTM</a:t>
              </a: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GB" altLang="en-US" sz="1800" b="1" i="1">
                  <a:solidFill>
                    <a:schemeClr val="accent1"/>
                  </a:solidFill>
                </a:rPr>
                <a:t>Some languages at RTM</a:t>
              </a: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endParaRPr lang="en-GB" altLang="en-US" sz="1800" b="1" i="1">
                <a:solidFill>
                  <a:schemeClr val="accent1"/>
                </a:solidFill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GB" altLang="en-US" sz="1800" b="1" i="1">
                  <a:solidFill>
                    <a:schemeClr val="accent1"/>
                  </a:solidFill>
                </a:rPr>
                <a:t>Beginning to Appear</a:t>
              </a:r>
            </a:p>
          </p:txBody>
        </p:sp>
        <p:sp>
          <p:nvSpPr>
            <p:cNvPr id="342021" name="Line 5">
              <a:extLst>
                <a:ext uri="{FF2B5EF4-FFF2-40B4-BE49-F238E27FC236}">
                  <a16:creationId xmlns:a16="http://schemas.microsoft.com/office/drawing/2014/main" id="{D117FF64-A47B-C080-558C-7F12BC0BB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872"/>
              <a:ext cx="384" cy="144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endParaRPr lang="en-GB"/>
            </a:p>
          </p:txBody>
        </p:sp>
        <p:sp>
          <p:nvSpPr>
            <p:cNvPr id="342022" name="Line 6">
              <a:extLst>
                <a:ext uri="{FF2B5EF4-FFF2-40B4-BE49-F238E27FC236}">
                  <a16:creationId xmlns:a16="http://schemas.microsoft.com/office/drawing/2014/main" id="{B4676E80-BA14-E9FE-30BE-E7A7CCDF8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2112"/>
              <a:ext cx="432" cy="96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endParaRPr lang="en-GB"/>
            </a:p>
          </p:txBody>
        </p:sp>
        <p:sp>
          <p:nvSpPr>
            <p:cNvPr id="342023" name="Line 7">
              <a:extLst>
                <a:ext uri="{FF2B5EF4-FFF2-40B4-BE49-F238E27FC236}">
                  <a16:creationId xmlns:a16="http://schemas.microsoft.com/office/drawing/2014/main" id="{510C1888-1108-DBB5-A045-2FDCBBC89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2304"/>
              <a:ext cx="672" cy="192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endParaRPr lang="en-GB"/>
            </a:p>
          </p:txBody>
        </p:sp>
        <p:sp>
          <p:nvSpPr>
            <p:cNvPr id="342025" name="Line 9">
              <a:extLst>
                <a:ext uri="{FF2B5EF4-FFF2-40B4-BE49-F238E27FC236}">
                  <a16:creationId xmlns:a16="http://schemas.microsoft.com/office/drawing/2014/main" id="{D39DE27D-6BBA-E2E0-F3AF-C5AEB7ABDE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784"/>
              <a:ext cx="336" cy="528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Ctr="1">
              <a:spAutoFit/>
            </a:bodyPr>
            <a:lstStyle/>
            <a:p>
              <a:endParaRPr lang="en-GB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00590FD-31B3-F970-2A3D-838FCC67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002BF95-9C0C-D68C-DEBE-958B4F923D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4575BA-D845-4CE6-96B3-DFB1F433A50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60450" name="Rectangle 2">
            <a:extLst>
              <a:ext uri="{FF2B5EF4-FFF2-40B4-BE49-F238E27FC236}">
                <a16:creationId xmlns:a16="http://schemas.microsoft.com/office/drawing/2014/main" id="{3847415A-1D14-E7A1-7A38-A886150DC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Project 7: Our Contributions</a:t>
            </a:r>
            <a:endParaRPr lang="en-US" altLang="en-US"/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C71D9BB1-196A-40D9-440E-68F1725CE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GB" altLang="en-US"/>
              <a:t>1. ML for .NET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n"/>
            </a:pPr>
            <a:endParaRPr lang="en-GB" altLang="en-US"/>
          </a:p>
          <a:p>
            <a:pPr marL="533400" indent="-533400">
              <a:lnSpc>
                <a:spcPct val="90000"/>
              </a:lnSpc>
            </a:pPr>
            <a:r>
              <a:rPr lang="en-GB" altLang="en-US"/>
              <a:t>2. Haskell for .NET</a:t>
            </a:r>
          </a:p>
          <a:p>
            <a:pPr marL="533400" indent="-533400">
              <a:lnSpc>
                <a:spcPct val="90000"/>
              </a:lnSpc>
            </a:pPr>
            <a:endParaRPr lang="en-GB" altLang="en-US"/>
          </a:p>
          <a:p>
            <a:pPr marL="533400" indent="-533400">
              <a:lnSpc>
                <a:spcPct val="90000"/>
              </a:lnSpc>
            </a:pPr>
            <a:r>
              <a:rPr lang="en-GB" altLang="en-US"/>
              <a:t>3. Technical Consolidation</a:t>
            </a:r>
          </a:p>
          <a:p>
            <a:pPr marL="533400" indent="-533400">
              <a:lnSpc>
                <a:spcPct val="90000"/>
              </a:lnSpc>
            </a:pPr>
            <a:endParaRPr lang="en-GB" altLang="en-US"/>
          </a:p>
          <a:p>
            <a:pPr marL="533400" indent="-533400">
              <a:lnSpc>
                <a:spcPct val="90000"/>
              </a:lnSpc>
            </a:pPr>
            <a:endParaRPr lang="en-GB" altLang="en-US"/>
          </a:p>
          <a:p>
            <a:pPr marL="533400" indent="-533400">
              <a:lnSpc>
                <a:spcPct val="90000"/>
              </a:lnSpc>
            </a:pPr>
            <a:r>
              <a:rPr lang="en-GB" altLang="en-US"/>
              <a:t>4. Also </a:t>
            </a:r>
          </a:p>
          <a:p>
            <a:pPr marL="914400" lvl="1" indent="-457200">
              <a:lnSpc>
                <a:spcPct val="90000"/>
              </a:lnSpc>
            </a:pPr>
            <a:r>
              <a:rPr lang="en-GB" altLang="en-US"/>
              <a:t>PDC, Workshops, Talks, Organization</a:t>
            </a:r>
          </a:p>
          <a:p>
            <a:pPr marL="914400" lvl="1" indent="-457200">
              <a:lnSpc>
                <a:spcPct val="90000"/>
              </a:lnSpc>
            </a:pPr>
            <a:r>
              <a:rPr lang="en-GB" altLang="en-US"/>
              <a:t>Product team/External Interaction, Publicity</a:t>
            </a:r>
          </a:p>
        </p:txBody>
      </p:sp>
      <p:sp>
        <p:nvSpPr>
          <p:cNvPr id="360452" name="AutoShape 4">
            <a:extLst>
              <a:ext uri="{FF2B5EF4-FFF2-40B4-BE49-F238E27FC236}">
                <a16:creationId xmlns:a16="http://schemas.microsoft.com/office/drawing/2014/main" id="{A9B84D80-8A97-6D06-0A21-19DF1B07599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648200" y="1143000"/>
            <a:ext cx="4143375" cy="1574800"/>
          </a:xfrm>
          <a:prstGeom prst="wedgeRectCallout">
            <a:avLst>
              <a:gd name="adj1" fmla="val -79847"/>
              <a:gd name="adj2" fmla="val -22986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>
            <a:spAutoFit/>
          </a:bodyPr>
          <a:lstStyle/>
          <a:p>
            <a:pPr algn="l"/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ML is popular with academics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Wins competitions over C++, Java</a:t>
            </a:r>
          </a:p>
          <a:p>
            <a:pPr algn="l">
              <a:spcBef>
                <a:spcPct val="0"/>
              </a:spcBef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Our Implementation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High Quality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Full libraries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Excellent interop</a:t>
            </a:r>
          </a:p>
        </p:txBody>
      </p:sp>
      <p:sp>
        <p:nvSpPr>
          <p:cNvPr id="360453" name="AutoShape 5">
            <a:extLst>
              <a:ext uri="{FF2B5EF4-FFF2-40B4-BE49-F238E27FC236}">
                <a16:creationId xmlns:a16="http://schemas.microsoft.com/office/drawing/2014/main" id="{3B8FD882-23D4-FC5E-CB41-1DD60F4E15F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486400" y="3048000"/>
            <a:ext cx="3363913" cy="1085850"/>
          </a:xfrm>
          <a:prstGeom prst="wedgeRectCallout">
            <a:avLst>
              <a:gd name="adj1" fmla="val -90301"/>
              <a:gd name="adj2" fmla="val -88597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>
            <a:spAutoFit/>
          </a:bodyPr>
          <a:lstStyle/>
          <a:p>
            <a:pPr algn="l"/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Haskell is very declarative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Excellent for specification</a:t>
            </a:r>
          </a:p>
          <a:p>
            <a:pPr algn="l">
              <a:spcBef>
                <a:spcPct val="0"/>
              </a:spcBef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Our Implementation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Prototype</a:t>
            </a:r>
          </a:p>
        </p:txBody>
      </p:sp>
      <p:sp>
        <p:nvSpPr>
          <p:cNvPr id="360454" name="AutoShape 6">
            <a:extLst>
              <a:ext uri="{FF2B5EF4-FFF2-40B4-BE49-F238E27FC236}">
                <a16:creationId xmlns:a16="http://schemas.microsoft.com/office/drawing/2014/main" id="{2D2D5DA6-3611-CB3E-3FE5-F80E2C4D3CDB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2838450" y="4419600"/>
            <a:ext cx="5222875" cy="596900"/>
          </a:xfrm>
          <a:prstGeom prst="wedgeRectCallout">
            <a:avLst>
              <a:gd name="adj1" fmla="val -40986"/>
              <a:gd name="adj2" fmla="val -175532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>
            <a:spAutoFit/>
          </a:bodyPr>
          <a:lstStyle/>
          <a:p>
            <a:pPr algn="l" eaLnBrk="0" hangingPunct="0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Standardization efforts for inter-language working</a:t>
            </a:r>
          </a:p>
          <a:p>
            <a:pPr algn="l" eaLnBrk="0" hangingPunct="0">
              <a:spcBef>
                <a:spcPct val="0"/>
              </a:spcBef>
              <a:buFontTx/>
              <a:buChar char="•"/>
            </a:pPr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  Prepare proposals for V2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766D9A7-3F8C-2EC1-6B62-75C4B7D9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DABB93E-2D2C-0B40-B79E-D67153141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5CFBCE-8313-4875-85FB-EBA8F166EA1B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34BC3BC8-08EF-3386-BBC8-2F9ECDF47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Project 7: Everybody Wins</a:t>
            </a:r>
            <a:endParaRPr lang="en-US" altLang="en-US"/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EC43297E-FC91-561A-22EA-CDCD76EDAE45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295400" y="2514600"/>
            <a:ext cx="1536700" cy="473075"/>
          </a:xfrm>
          <a:prstGeom prst="rect">
            <a:avLst/>
          </a:prstGeom>
          <a:gradFill rotWithShape="0">
            <a:gsLst>
              <a:gs pos="0">
                <a:srgbClr val="EDDBC9">
                  <a:gamma/>
                  <a:tint val="55294"/>
                  <a:invGamma/>
                </a:srgbClr>
              </a:gs>
              <a:gs pos="100000">
                <a:srgbClr val="EDDBC9"/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b="1">
                <a:latin typeface="Arial" panose="020B0604020202020204" pitchFamily="34" charset="0"/>
              </a:rPr>
              <a:t>Teaching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359428" name="Rectangle 4">
            <a:extLst>
              <a:ext uri="{FF2B5EF4-FFF2-40B4-BE49-F238E27FC236}">
                <a16:creationId xmlns:a16="http://schemas.microsoft.com/office/drawing/2014/main" id="{9AE33DA7-76B0-C716-FF1E-289A50CE05C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62000" y="3352800"/>
            <a:ext cx="1574800" cy="473075"/>
          </a:xfrm>
          <a:prstGeom prst="rect">
            <a:avLst/>
          </a:prstGeom>
          <a:gradFill rotWithShape="0">
            <a:gsLst>
              <a:gs pos="0">
                <a:srgbClr val="EDDBC9">
                  <a:gamma/>
                  <a:tint val="55294"/>
                  <a:invGamma/>
                </a:srgbClr>
              </a:gs>
              <a:gs pos="100000">
                <a:srgbClr val="EDDBC9"/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b="1">
                <a:latin typeface="Arial" panose="020B0604020202020204" pitchFamily="34" charset="0"/>
              </a:rPr>
              <a:t>Research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359430" name="Rectangle 6">
            <a:extLst>
              <a:ext uri="{FF2B5EF4-FFF2-40B4-BE49-F238E27FC236}">
                <a16:creationId xmlns:a16="http://schemas.microsoft.com/office/drawing/2014/main" id="{FB4CB72D-D094-3560-D242-BA64D5DE883F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905000" y="3733800"/>
            <a:ext cx="1503363" cy="473075"/>
          </a:xfrm>
          <a:prstGeom prst="rect">
            <a:avLst/>
          </a:prstGeom>
          <a:gradFill rotWithShape="0">
            <a:gsLst>
              <a:gs pos="0">
                <a:srgbClr val="EDDBC9">
                  <a:gamma/>
                  <a:tint val="55294"/>
                  <a:invGamma/>
                </a:srgbClr>
              </a:gs>
              <a:gs pos="100000">
                <a:srgbClr val="EDDBC9"/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b="1">
                <a:latin typeface="Arial" panose="020B0604020202020204" pitchFamily="34" charset="0"/>
              </a:rPr>
              <a:t>Students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359431" name="Text Box 7">
            <a:extLst>
              <a:ext uri="{FF2B5EF4-FFF2-40B4-BE49-F238E27FC236}">
                <a16:creationId xmlns:a16="http://schemas.microsoft.com/office/drawing/2014/main" id="{7C54221D-8AC3-6474-3ED9-9F5C0363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819400"/>
            <a:ext cx="962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Scheme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59432" name="Text Box 8">
            <a:extLst>
              <a:ext uri="{FF2B5EF4-FFF2-40B4-BE49-F238E27FC236}">
                <a16:creationId xmlns:a16="http://schemas.microsoft.com/office/drawing/2014/main" id="{04EFF5F0-0412-69C9-17FD-2F8B9C55B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733800"/>
            <a:ext cx="14144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Standard ML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59433" name="Text Box 9">
            <a:extLst>
              <a:ext uri="{FF2B5EF4-FFF2-40B4-BE49-F238E27FC236}">
                <a16:creationId xmlns:a16="http://schemas.microsoft.com/office/drawing/2014/main" id="{A2FF59CD-53EC-5A00-D238-259E021C4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0713" y="2590800"/>
            <a:ext cx="9064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Oberon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59434" name="Text Box 10">
            <a:extLst>
              <a:ext uri="{FF2B5EF4-FFF2-40B4-BE49-F238E27FC236}">
                <a16:creationId xmlns:a16="http://schemas.microsoft.com/office/drawing/2014/main" id="{5C5F0F9B-A1AC-F397-4D34-5A3CB1C7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276600"/>
            <a:ext cx="568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Perl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59435" name="Text Box 11">
            <a:extLst>
              <a:ext uri="{FF2B5EF4-FFF2-40B4-BE49-F238E27FC236}">
                <a16:creationId xmlns:a16="http://schemas.microsoft.com/office/drawing/2014/main" id="{A2E4DB39-BE87-7AB1-F81C-BDA88E7BB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419600"/>
            <a:ext cx="871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Python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59436" name="Text Box 12">
            <a:extLst>
              <a:ext uri="{FF2B5EF4-FFF2-40B4-BE49-F238E27FC236}">
                <a16:creationId xmlns:a16="http://schemas.microsoft.com/office/drawing/2014/main" id="{A340B8A0-7A69-7364-C237-6A56E6B7E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114800"/>
            <a:ext cx="8969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O’Caml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59437" name="Text Box 13">
            <a:extLst>
              <a:ext uri="{FF2B5EF4-FFF2-40B4-BE49-F238E27FC236}">
                <a16:creationId xmlns:a16="http://schemas.microsoft.com/office/drawing/2014/main" id="{D366A335-86E5-3B3E-9DB2-FA74B2FBC000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6248400" y="2590800"/>
            <a:ext cx="2133600" cy="1447800"/>
          </a:xfrm>
          <a:prstGeom prst="rect">
            <a:avLst/>
          </a:prstGeom>
          <a:gradFill rotWithShape="0">
            <a:gsLst>
              <a:gs pos="0">
                <a:srgbClr val="AAAAEA">
                  <a:gamma/>
                  <a:tint val="12157"/>
                  <a:invGamma/>
                </a:srgbClr>
              </a:gs>
              <a:gs pos="100000">
                <a:srgbClr val="AAAAEA"/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1"/>
          <a:lstStyle/>
          <a:p>
            <a:r>
              <a:rPr lang="en-GB" altLang="en-US" b="1">
                <a:latin typeface="Arial" panose="020B0604020202020204" pitchFamily="34" charset="0"/>
              </a:rPr>
              <a:t>Microsoft</a:t>
            </a:r>
            <a:br>
              <a:rPr lang="en-GB" altLang="en-US" b="1">
                <a:latin typeface="Arial" panose="020B0604020202020204" pitchFamily="34" charset="0"/>
              </a:rPr>
            </a:br>
            <a:r>
              <a:rPr lang="en-GB" altLang="en-US" b="1">
                <a:latin typeface="Arial" panose="020B0604020202020204" pitchFamily="34" charset="0"/>
              </a:rPr>
              <a:t>Teams</a:t>
            </a:r>
          </a:p>
        </p:txBody>
      </p:sp>
      <p:sp>
        <p:nvSpPr>
          <p:cNvPr id="359438" name="Text Box 14">
            <a:extLst>
              <a:ext uri="{FF2B5EF4-FFF2-40B4-BE49-F238E27FC236}">
                <a16:creationId xmlns:a16="http://schemas.microsoft.com/office/drawing/2014/main" id="{1E5BA3C6-0640-B029-0F33-73501E7AFE84}"/>
              </a:ext>
            </a:extLst>
          </p:cNvPr>
          <p:cNvSpPr txBox="1">
            <a:spLocks noChangeArrowheads="1"/>
          </p:cNvSpPr>
          <p:nvPr/>
        </p:nvSpPr>
        <p:spPr bwMode="invGray">
          <a:xfrm>
            <a:off x="4800600" y="5257800"/>
            <a:ext cx="1228725" cy="657225"/>
          </a:xfrm>
          <a:prstGeom prst="rect">
            <a:avLst/>
          </a:prstGeom>
          <a:gradFill rotWithShape="0">
            <a:gsLst>
              <a:gs pos="0">
                <a:srgbClr val="AAAAEA">
                  <a:gamma/>
                  <a:tint val="12157"/>
                  <a:invGamma/>
                </a:srgbClr>
              </a:gs>
              <a:gs pos="100000">
                <a:srgbClr val="AAAAEA"/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r>
              <a:rPr lang="en-GB" altLang="en-US" sz="1800" b="1">
                <a:latin typeface="Arial" panose="020B0604020202020204" pitchFamily="34" charset="0"/>
              </a:rPr>
              <a:t>Microsoft</a:t>
            </a:r>
            <a:br>
              <a:rPr lang="en-GB" altLang="en-US" sz="1800" b="1">
                <a:latin typeface="Arial" panose="020B0604020202020204" pitchFamily="34" charset="0"/>
              </a:rPr>
            </a:br>
            <a:r>
              <a:rPr lang="en-GB" altLang="en-US" sz="1800" b="1">
                <a:latin typeface="Arial" panose="020B0604020202020204" pitchFamily="34" charset="0"/>
              </a:rPr>
              <a:t>Research</a:t>
            </a:r>
          </a:p>
        </p:txBody>
      </p:sp>
      <p:sp>
        <p:nvSpPr>
          <p:cNvPr id="359439" name="Text Box 15">
            <a:extLst>
              <a:ext uri="{FF2B5EF4-FFF2-40B4-BE49-F238E27FC236}">
                <a16:creationId xmlns:a16="http://schemas.microsoft.com/office/drawing/2014/main" id="{8C755C12-EE67-4893-4E34-FCF1D7A1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352800"/>
            <a:ext cx="974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600" b="1">
                <a:latin typeface="Arial" panose="020B0604020202020204" pitchFamily="34" charset="0"/>
              </a:rPr>
              <a:t>Mercury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sp>
        <p:nvSpPr>
          <p:cNvPr id="359440" name="AutoShape 16">
            <a:extLst>
              <a:ext uri="{FF2B5EF4-FFF2-40B4-BE49-F238E27FC236}">
                <a16:creationId xmlns:a16="http://schemas.microsoft.com/office/drawing/2014/main" id="{8B123B37-FAEC-076F-179E-D5B9E9C13840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93750" y="914400"/>
            <a:ext cx="3438525" cy="657225"/>
          </a:xfrm>
          <a:prstGeom prst="wedgeRectCallout">
            <a:avLst>
              <a:gd name="adj1" fmla="val 12509"/>
              <a:gd name="adj2" fmla="val 221255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Academia engages with .NET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Languages no longer isolated</a:t>
            </a:r>
          </a:p>
        </p:txBody>
      </p:sp>
      <p:sp>
        <p:nvSpPr>
          <p:cNvPr id="359441" name="AutoShape 17">
            <a:extLst>
              <a:ext uri="{FF2B5EF4-FFF2-40B4-BE49-F238E27FC236}">
                <a16:creationId xmlns:a16="http://schemas.microsoft.com/office/drawing/2014/main" id="{CE7D463B-CCD6-A577-7603-D1B6AA45F55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15950" y="5410200"/>
            <a:ext cx="3832225" cy="931863"/>
          </a:xfrm>
          <a:prstGeom prst="wedgeRectCallout">
            <a:avLst>
              <a:gd name="adj1" fmla="val 58912"/>
              <a:gd name="adj2" fmla="val -11352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At heart of a research community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P7 generates research ideas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Fantastic research vehicle</a:t>
            </a:r>
          </a:p>
        </p:txBody>
      </p:sp>
      <p:sp>
        <p:nvSpPr>
          <p:cNvPr id="359442" name="AutoShape 18">
            <a:extLst>
              <a:ext uri="{FF2B5EF4-FFF2-40B4-BE49-F238E27FC236}">
                <a16:creationId xmlns:a16="http://schemas.microsoft.com/office/drawing/2014/main" id="{762AD4DC-C7DD-40EC-248A-D31589C716AE}"/>
              </a:ext>
            </a:extLst>
          </p:cNvPr>
          <p:cNvSpPr>
            <a:spLocks noChangeArrowheads="1"/>
          </p:cNvSpPr>
          <p:nvPr/>
        </p:nvSpPr>
        <p:spPr bwMode="auto">
          <a:xfrm rot="969017">
            <a:off x="3886200" y="4724400"/>
            <a:ext cx="990600" cy="534988"/>
          </a:xfrm>
          <a:prstGeom prst="leftRightArrow">
            <a:avLst>
              <a:gd name="adj1" fmla="val 50000"/>
              <a:gd name="adj2" fmla="val 37033"/>
            </a:avLst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808080"/>
                    </a:gs>
                    <a:gs pos="100000">
                      <a:srgbClr val="80808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59443" name="AutoShape 19">
            <a:extLst>
              <a:ext uri="{FF2B5EF4-FFF2-40B4-BE49-F238E27FC236}">
                <a16:creationId xmlns:a16="http://schemas.microsoft.com/office/drawing/2014/main" id="{EBABC346-7F58-E3B0-A648-8B28B2E9FB3D}"/>
              </a:ext>
            </a:extLst>
          </p:cNvPr>
          <p:cNvSpPr>
            <a:spLocks noChangeArrowheads="1"/>
          </p:cNvSpPr>
          <p:nvPr/>
        </p:nvSpPr>
        <p:spPr bwMode="auto">
          <a:xfrm rot="6447239">
            <a:off x="5715000" y="4419600"/>
            <a:ext cx="990600" cy="533400"/>
          </a:xfrm>
          <a:prstGeom prst="leftRightArrow">
            <a:avLst>
              <a:gd name="adj1" fmla="val 50000"/>
              <a:gd name="adj2" fmla="val 37143"/>
            </a:avLst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808080"/>
                    </a:gs>
                    <a:gs pos="100000">
                      <a:srgbClr val="80808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59444" name="AutoShape 20">
            <a:extLst>
              <a:ext uri="{FF2B5EF4-FFF2-40B4-BE49-F238E27FC236}">
                <a16:creationId xmlns:a16="http://schemas.microsoft.com/office/drawing/2014/main" id="{4C07FA2D-8712-C691-0D26-BF1051ED775A}"/>
              </a:ext>
            </a:extLst>
          </p:cNvPr>
          <p:cNvSpPr>
            <a:spLocks noChangeArrowheads="1"/>
          </p:cNvSpPr>
          <p:nvPr/>
        </p:nvSpPr>
        <p:spPr bwMode="auto">
          <a:xfrm rot="10795341">
            <a:off x="5029200" y="2590800"/>
            <a:ext cx="990600" cy="533400"/>
          </a:xfrm>
          <a:prstGeom prst="leftRightArrow">
            <a:avLst>
              <a:gd name="adj1" fmla="val 50000"/>
              <a:gd name="adj2" fmla="val 37143"/>
            </a:avLst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808080"/>
                    </a:gs>
                    <a:gs pos="100000">
                      <a:srgbClr val="80808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359445" name="AutoShape 21">
            <a:extLst>
              <a:ext uri="{FF2B5EF4-FFF2-40B4-BE49-F238E27FC236}">
                <a16:creationId xmlns:a16="http://schemas.microsoft.com/office/drawing/2014/main" id="{EC5A5417-01A0-158A-91DC-7A636A2888B8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435600" y="762000"/>
            <a:ext cx="2790825" cy="1206500"/>
          </a:xfrm>
          <a:prstGeom prst="wedgeRectCallout">
            <a:avLst>
              <a:gd name="adj1" fmla="val 11375"/>
              <a:gd name="adj2" fmla="val 96315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Evangelism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Design validation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Design feedback</a:t>
            </a:r>
            <a:b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Can use new languages</a:t>
            </a:r>
          </a:p>
        </p:txBody>
      </p:sp>
      <p:sp>
        <p:nvSpPr>
          <p:cNvPr id="359446" name="Rectangle 22">
            <a:extLst>
              <a:ext uri="{FF2B5EF4-FFF2-40B4-BE49-F238E27FC236}">
                <a16:creationId xmlns:a16="http://schemas.microsoft.com/office/drawing/2014/main" id="{3C870AFB-22BB-96A2-676F-5588B87D9624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2005013" y="2971800"/>
            <a:ext cx="1811337" cy="473075"/>
          </a:xfrm>
          <a:prstGeom prst="rect">
            <a:avLst/>
          </a:prstGeom>
          <a:gradFill rotWithShape="0">
            <a:gsLst>
              <a:gs pos="0">
                <a:srgbClr val="EDDBC9">
                  <a:gamma/>
                  <a:tint val="55294"/>
                  <a:invGamma/>
                </a:srgbClr>
              </a:gs>
              <a:gs pos="100000">
                <a:srgbClr val="EDDBC9"/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b="1">
                <a:latin typeface="Arial" panose="020B0604020202020204" pitchFamily="34" charset="0"/>
              </a:rPr>
              <a:t>Academics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359447" name="AutoShape 23">
            <a:extLst>
              <a:ext uri="{FF2B5EF4-FFF2-40B4-BE49-F238E27FC236}">
                <a16:creationId xmlns:a16="http://schemas.microsoft.com/office/drawing/2014/main" id="{72EDD505-F7E9-7661-3430-4791638CE688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324600" y="5334000"/>
            <a:ext cx="2625725" cy="382588"/>
          </a:xfrm>
          <a:prstGeom prst="wedgeRectCallout">
            <a:avLst>
              <a:gd name="adj1" fmla="val -36338"/>
              <a:gd name="adj2" fmla="val -123190"/>
            </a:avLst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MSR engages with MS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594F9A5-AB0D-32F0-290D-B1656027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1E6DFDD-F692-7FA7-4B24-37A5ED05C8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F76EB1-ECB8-4422-8731-306F4B4360B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42CC0F88-BCCD-9F2E-D27C-BB5E5694A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Summary</a:t>
            </a:r>
            <a:endParaRPr lang="en-US" altLang="en-US"/>
          </a:p>
        </p:txBody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798382A9-DE2B-7D73-1D42-E4C5FB1DD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GB" altLang="en-US"/>
              <a:t>1. Our .NET Framework Research</a:t>
            </a:r>
          </a:p>
          <a:p>
            <a:pPr marL="838200" lvl="1" indent="-381000"/>
            <a:endParaRPr lang="en-GB" altLang="en-US"/>
          </a:p>
          <a:p>
            <a:pPr marL="457200" indent="-457200"/>
            <a:endParaRPr lang="en-GB" altLang="en-US"/>
          </a:p>
          <a:p>
            <a:pPr marL="457200" indent="-457200"/>
            <a:r>
              <a:rPr lang="en-GB" altLang="en-US"/>
              <a:t>2. Generics for .NET</a:t>
            </a:r>
          </a:p>
          <a:p>
            <a:pPr marL="838200" lvl="1" indent="-381000"/>
            <a:endParaRPr lang="en-GB" altLang="en-US"/>
          </a:p>
          <a:p>
            <a:pPr marL="457200" indent="-457200"/>
            <a:endParaRPr lang="en-GB" altLang="en-US"/>
          </a:p>
          <a:p>
            <a:pPr marL="457200" indent="-457200"/>
            <a:r>
              <a:rPr lang="en-GB" altLang="en-US"/>
              <a:t>3. Academic Languages for .NET</a:t>
            </a:r>
          </a:p>
          <a:p>
            <a:pPr marL="838200" lvl="1" indent="-381000"/>
            <a:endParaRPr lang="en-GB" altLang="en-US"/>
          </a:p>
        </p:txBody>
      </p:sp>
      <p:sp>
        <p:nvSpPr>
          <p:cNvPr id="363524" name="Rectangle 4">
            <a:extLst>
              <a:ext uri="{FF2B5EF4-FFF2-40B4-BE49-F238E27FC236}">
                <a16:creationId xmlns:a16="http://schemas.microsoft.com/office/drawing/2014/main" id="{BF906A97-CADB-8DD9-EA07-A6C7FE416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8077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38200" indent="-3810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400" indent="-3810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We’ve been working with CLR &amp; C# for ~2 years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Generics are designed, prototyped and ready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GB" altLang="en-US" sz="2800">
              <a:solidFill>
                <a:schemeClr val="bg2"/>
              </a:solidFill>
            </a:endParaRP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We’re helping to successfully engage academic interest in the CLR</a:t>
            </a:r>
          </a:p>
          <a:p>
            <a:pPr lvl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altLang="en-US">
                <a:solidFill>
                  <a:schemeClr val="bg2"/>
                </a:solidFill>
              </a:rPr>
              <a:t>With big benefits for Microsoft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F7AAE41-2A1C-F6CD-0C15-524AA8D8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DBC8AA4-BDE7-8F3C-6B08-686B290F1B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B34127-D9C2-4EED-AF09-EFD53B141DE3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244738" name="Rectangle 2">
            <a:extLst>
              <a:ext uri="{FF2B5EF4-FFF2-40B4-BE49-F238E27FC236}">
                <a16:creationId xmlns:a16="http://schemas.microsoft.com/office/drawing/2014/main" id="{8EC47685-E09B-9005-95C0-E04675A04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12B67F44-08E5-C579-95F5-EDC96521E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endParaRPr lang="en-GB" altLang="en-US" sz="3200" b="1"/>
          </a:p>
          <a:p>
            <a:pPr marL="457200" indent="-457200"/>
            <a:endParaRPr lang="en-GB" altLang="en-US" sz="3200" b="1"/>
          </a:p>
          <a:p>
            <a:pPr marL="457200" indent="-457200"/>
            <a:endParaRPr lang="en-GB" altLang="en-US" sz="3200" b="1"/>
          </a:p>
          <a:p>
            <a:pPr marL="457200" indent="-457200" algn="ctr"/>
            <a:r>
              <a:rPr lang="en-GB" altLang="en-US" sz="4000" b="1"/>
              <a:t>The End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0FE58E-D44A-55C7-7B72-E338CB03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1926BF-74D4-D05C-ADA5-D63EDCEF10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D5C7BE-5692-468C-902F-A039E79F41BD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5560BC19-0A10-3A9D-EE43-9F4C4B74C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52438"/>
            <a:ext cx="7723188" cy="341312"/>
          </a:xfrm>
        </p:spPr>
        <p:txBody>
          <a:bodyPr/>
          <a:lstStyle/>
          <a:p>
            <a:r>
              <a:rPr lang="en-GB" altLang="en-US"/>
              <a:t>Progress Beta1</a:t>
            </a:r>
          </a:p>
        </p:txBody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3BA9EE0C-30D9-42FD-4E8E-FBB2C31FE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3603625"/>
            <a:ext cx="550863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76" name="Rectangle 4">
            <a:extLst>
              <a:ext uri="{FF2B5EF4-FFF2-40B4-BE49-F238E27FC236}">
                <a16:creationId xmlns:a16="http://schemas.microsoft.com/office/drawing/2014/main" id="{37F07774-4BC0-23D5-0AE6-F865995F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3603625"/>
            <a:ext cx="827087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77" name="Rectangle 5">
            <a:extLst>
              <a:ext uri="{FF2B5EF4-FFF2-40B4-BE49-F238E27FC236}">
                <a16:creationId xmlns:a16="http://schemas.microsoft.com/office/drawing/2014/main" id="{092250CF-E628-3327-C7FE-E051AAAC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3603625"/>
            <a:ext cx="895350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Planned</a:t>
            </a:r>
          </a:p>
        </p:txBody>
      </p:sp>
      <p:sp>
        <p:nvSpPr>
          <p:cNvPr id="361478" name="Rectangle 6">
            <a:extLst>
              <a:ext uri="{FF2B5EF4-FFF2-40B4-BE49-F238E27FC236}">
                <a16:creationId xmlns:a16="http://schemas.microsoft.com/office/drawing/2014/main" id="{1C577151-A85D-94AD-6625-0C8CF4C1C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603625"/>
            <a:ext cx="827088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479" name="Rectangle 7">
            <a:extLst>
              <a:ext uri="{FF2B5EF4-FFF2-40B4-BE49-F238E27FC236}">
                <a16:creationId xmlns:a16="http://schemas.microsoft.com/office/drawing/2014/main" id="{30488F8A-0F0A-5A7F-C8C3-E82E85F44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3603625"/>
            <a:ext cx="620712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US" altLang="en-US" sz="1000" b="1">
              <a:sym typeface="Wingdings" panose="05000000000000000000" pitchFamily="2" charset="2"/>
            </a:endParaRPr>
          </a:p>
        </p:txBody>
      </p:sp>
      <p:sp>
        <p:nvSpPr>
          <p:cNvPr id="361480" name="Rectangle 8">
            <a:extLst>
              <a:ext uri="{FF2B5EF4-FFF2-40B4-BE49-F238E27FC236}">
                <a16:creationId xmlns:a16="http://schemas.microsoft.com/office/drawing/2014/main" id="{F5F71B51-226A-E80C-DF68-BF2307E26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603625"/>
            <a:ext cx="620713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481" name="Rectangle 9">
            <a:extLst>
              <a:ext uri="{FF2B5EF4-FFF2-40B4-BE49-F238E27FC236}">
                <a16:creationId xmlns:a16="http://schemas.microsoft.com/office/drawing/2014/main" id="{133609C8-4E0D-2D3D-5B32-1200BF77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3603625"/>
            <a:ext cx="963612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482" name="Rectangle 10">
            <a:extLst>
              <a:ext uri="{FF2B5EF4-FFF2-40B4-BE49-F238E27FC236}">
                <a16:creationId xmlns:a16="http://schemas.microsoft.com/office/drawing/2014/main" id="{1D7C6AC7-EE32-EB5A-418B-0F4D1ECEE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603625"/>
            <a:ext cx="896938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483" name="Rectangle 11">
            <a:extLst>
              <a:ext uri="{FF2B5EF4-FFF2-40B4-BE49-F238E27FC236}">
                <a16:creationId xmlns:a16="http://schemas.microsoft.com/office/drawing/2014/main" id="{5A2D2A52-44DF-8727-DBB5-CA1CA8E01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3603625"/>
            <a:ext cx="550862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484" name="Rectangle 12">
            <a:extLst>
              <a:ext uri="{FF2B5EF4-FFF2-40B4-BE49-F238E27FC236}">
                <a16:creationId xmlns:a16="http://schemas.microsoft.com/office/drawing/2014/main" id="{91EDD57E-88AE-A9ED-5AE9-847DA5341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3603625"/>
            <a:ext cx="1171575" cy="3317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Oberon(*)</a:t>
            </a:r>
          </a:p>
        </p:txBody>
      </p:sp>
      <p:sp>
        <p:nvSpPr>
          <p:cNvPr id="361485" name="Rectangle 13">
            <a:extLst>
              <a:ext uri="{FF2B5EF4-FFF2-40B4-BE49-F238E27FC236}">
                <a16:creationId xmlns:a16="http://schemas.microsoft.com/office/drawing/2014/main" id="{4190F285-AC7E-C07F-0AC9-36B401D4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5611813"/>
            <a:ext cx="827087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86" name="Rectangle 14">
            <a:extLst>
              <a:ext uri="{FF2B5EF4-FFF2-40B4-BE49-F238E27FC236}">
                <a16:creationId xmlns:a16="http://schemas.microsoft.com/office/drawing/2014/main" id="{D74E85CD-2398-EAB8-0824-8EC6EBA14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5300663"/>
            <a:ext cx="827087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487" name="Rectangle 15">
            <a:extLst>
              <a:ext uri="{FF2B5EF4-FFF2-40B4-BE49-F238E27FC236}">
                <a16:creationId xmlns:a16="http://schemas.microsoft.com/office/drawing/2014/main" id="{430114C9-4314-DE8A-0D40-75577CAC7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4987925"/>
            <a:ext cx="827087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488" name="Rectangle 16">
            <a:extLst>
              <a:ext uri="{FF2B5EF4-FFF2-40B4-BE49-F238E27FC236}">
                <a16:creationId xmlns:a16="http://schemas.microsoft.com/office/drawing/2014/main" id="{0BEAAFDB-5201-BF8B-3A9F-9433E9CAF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4678363"/>
            <a:ext cx="827087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89" name="Rectangle 17">
            <a:extLst>
              <a:ext uri="{FF2B5EF4-FFF2-40B4-BE49-F238E27FC236}">
                <a16:creationId xmlns:a16="http://schemas.microsoft.com/office/drawing/2014/main" id="{3854CFEC-29C5-DE1B-B52C-901162E8B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4365625"/>
            <a:ext cx="827087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90" name="Rectangle 18">
            <a:extLst>
              <a:ext uri="{FF2B5EF4-FFF2-40B4-BE49-F238E27FC236}">
                <a16:creationId xmlns:a16="http://schemas.microsoft.com/office/drawing/2014/main" id="{C8884127-D317-2CDB-65D3-A73E2B4C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3935413"/>
            <a:ext cx="827087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91" name="Rectangle 19">
            <a:extLst>
              <a:ext uri="{FF2B5EF4-FFF2-40B4-BE49-F238E27FC236}">
                <a16:creationId xmlns:a16="http://schemas.microsoft.com/office/drawing/2014/main" id="{3D81B242-D5F9-A385-243F-4485DE454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3306763"/>
            <a:ext cx="827087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92" name="Rectangle 20">
            <a:extLst>
              <a:ext uri="{FF2B5EF4-FFF2-40B4-BE49-F238E27FC236}">
                <a16:creationId xmlns:a16="http://schemas.microsoft.com/office/drawing/2014/main" id="{35EDDA2E-B3D7-EA8F-81FD-F57D1A0EA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2997200"/>
            <a:ext cx="827087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93" name="Rectangle 21">
            <a:extLst>
              <a:ext uri="{FF2B5EF4-FFF2-40B4-BE49-F238E27FC236}">
                <a16:creationId xmlns:a16="http://schemas.microsoft.com/office/drawing/2014/main" id="{ECB1091F-B9B5-995F-84AE-027098672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2684463"/>
            <a:ext cx="827087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494" name="Rectangle 22">
            <a:extLst>
              <a:ext uri="{FF2B5EF4-FFF2-40B4-BE49-F238E27FC236}">
                <a16:creationId xmlns:a16="http://schemas.microsoft.com/office/drawing/2014/main" id="{04C85C3B-55F1-3FA1-1A92-1D06B0C76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2373313"/>
            <a:ext cx="827087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95" name="Rectangle 23">
            <a:extLst>
              <a:ext uri="{FF2B5EF4-FFF2-40B4-BE49-F238E27FC236}">
                <a16:creationId xmlns:a16="http://schemas.microsoft.com/office/drawing/2014/main" id="{63AD86C3-1008-EB91-779D-A6F2882D1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2060575"/>
            <a:ext cx="827087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496" name="Rectangle 24">
            <a:extLst>
              <a:ext uri="{FF2B5EF4-FFF2-40B4-BE49-F238E27FC236}">
                <a16:creationId xmlns:a16="http://schemas.microsoft.com/office/drawing/2014/main" id="{2A060C0D-D33F-4671-4A3E-1B422534B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1524000"/>
            <a:ext cx="827087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Produce CLS?</a:t>
            </a:r>
          </a:p>
        </p:txBody>
      </p:sp>
      <p:sp>
        <p:nvSpPr>
          <p:cNvPr id="361497" name="Rectangle 25">
            <a:extLst>
              <a:ext uri="{FF2B5EF4-FFF2-40B4-BE49-F238E27FC236}">
                <a16:creationId xmlns:a16="http://schemas.microsoft.com/office/drawing/2014/main" id="{9F165D02-3803-19DC-253C-ACC78DD2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2684463"/>
            <a:ext cx="550863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498" name="Rectangle 26">
            <a:extLst>
              <a:ext uri="{FF2B5EF4-FFF2-40B4-BE49-F238E27FC236}">
                <a16:creationId xmlns:a16="http://schemas.microsoft.com/office/drawing/2014/main" id="{192837AE-3140-3E9C-2FEB-F1ADEC2BD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2684463"/>
            <a:ext cx="895350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499" name="Rectangle 27">
            <a:extLst>
              <a:ext uri="{FF2B5EF4-FFF2-40B4-BE49-F238E27FC236}">
                <a16:creationId xmlns:a16="http://schemas.microsoft.com/office/drawing/2014/main" id="{2E8656CA-5DEC-ED5D-5B6E-D8CA2BBC7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84463"/>
            <a:ext cx="827088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00" name="Rectangle 28">
            <a:extLst>
              <a:ext uri="{FF2B5EF4-FFF2-40B4-BE49-F238E27FC236}">
                <a16:creationId xmlns:a16="http://schemas.microsoft.com/office/drawing/2014/main" id="{5D5D370E-BA43-904A-08AC-23E6697E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2684463"/>
            <a:ext cx="620712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01" name="Rectangle 29">
            <a:extLst>
              <a:ext uri="{FF2B5EF4-FFF2-40B4-BE49-F238E27FC236}">
                <a16:creationId xmlns:a16="http://schemas.microsoft.com/office/drawing/2014/main" id="{5CB62C03-4C28-947B-D71D-6FC06802C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684463"/>
            <a:ext cx="620713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02" name="Rectangle 30">
            <a:extLst>
              <a:ext uri="{FF2B5EF4-FFF2-40B4-BE49-F238E27FC236}">
                <a16:creationId xmlns:a16="http://schemas.microsoft.com/office/drawing/2014/main" id="{A59BE850-9777-FFAA-1B22-4378E108E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684463"/>
            <a:ext cx="963612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03" name="Rectangle 31">
            <a:extLst>
              <a:ext uri="{FF2B5EF4-FFF2-40B4-BE49-F238E27FC236}">
                <a16:creationId xmlns:a16="http://schemas.microsoft.com/office/drawing/2014/main" id="{2B56A205-A360-31F2-092E-D9D96FA60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2684463"/>
            <a:ext cx="896938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04" name="Rectangle 32">
            <a:extLst>
              <a:ext uri="{FF2B5EF4-FFF2-40B4-BE49-F238E27FC236}">
                <a16:creationId xmlns:a16="http://schemas.microsoft.com/office/drawing/2014/main" id="{38CCD82A-4146-E989-7EC5-71423AFF1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2684463"/>
            <a:ext cx="550862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05" name="Rectangle 33">
            <a:extLst>
              <a:ext uri="{FF2B5EF4-FFF2-40B4-BE49-F238E27FC236}">
                <a16:creationId xmlns:a16="http://schemas.microsoft.com/office/drawing/2014/main" id="{5E81CBFF-B09C-2B4D-0BE6-1B5260019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684463"/>
            <a:ext cx="1171575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Eiffel(*)</a:t>
            </a:r>
          </a:p>
        </p:txBody>
      </p:sp>
      <p:sp>
        <p:nvSpPr>
          <p:cNvPr id="361506" name="Rectangle 34">
            <a:extLst>
              <a:ext uri="{FF2B5EF4-FFF2-40B4-BE49-F238E27FC236}">
                <a16:creationId xmlns:a16="http://schemas.microsoft.com/office/drawing/2014/main" id="{8DE99292-3610-47E1-F7DD-868B62547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4678363"/>
            <a:ext cx="550863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07" name="Rectangle 35">
            <a:extLst>
              <a:ext uri="{FF2B5EF4-FFF2-40B4-BE49-F238E27FC236}">
                <a16:creationId xmlns:a16="http://schemas.microsoft.com/office/drawing/2014/main" id="{4777F05C-892A-543E-AB2D-8CB67E46E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4678363"/>
            <a:ext cx="895350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Planned</a:t>
            </a:r>
          </a:p>
        </p:txBody>
      </p:sp>
      <p:sp>
        <p:nvSpPr>
          <p:cNvPr id="361508" name="Rectangle 36">
            <a:extLst>
              <a:ext uri="{FF2B5EF4-FFF2-40B4-BE49-F238E27FC236}">
                <a16:creationId xmlns:a16="http://schemas.microsoft.com/office/drawing/2014/main" id="{5E5E34EE-BDE3-FF0B-AE62-43345637A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678363"/>
            <a:ext cx="827088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09" name="Rectangle 37">
            <a:extLst>
              <a:ext uri="{FF2B5EF4-FFF2-40B4-BE49-F238E27FC236}">
                <a16:creationId xmlns:a16="http://schemas.microsoft.com/office/drawing/2014/main" id="{61BAADD7-1F11-3E88-CDB5-2F411D4C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4678363"/>
            <a:ext cx="620712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10" name="Rectangle 38">
            <a:extLst>
              <a:ext uri="{FF2B5EF4-FFF2-40B4-BE49-F238E27FC236}">
                <a16:creationId xmlns:a16="http://schemas.microsoft.com/office/drawing/2014/main" id="{94001EB8-36FF-5D10-BF9C-BD744239A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4678363"/>
            <a:ext cx="620713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11" name="Rectangle 39">
            <a:extLst>
              <a:ext uri="{FF2B5EF4-FFF2-40B4-BE49-F238E27FC236}">
                <a16:creationId xmlns:a16="http://schemas.microsoft.com/office/drawing/2014/main" id="{04A0DDF0-6375-0764-B2CA-768860213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4678363"/>
            <a:ext cx="963612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Underway</a:t>
            </a:r>
          </a:p>
        </p:txBody>
      </p:sp>
      <p:sp>
        <p:nvSpPr>
          <p:cNvPr id="361512" name="Rectangle 40">
            <a:extLst>
              <a:ext uri="{FF2B5EF4-FFF2-40B4-BE49-F238E27FC236}">
                <a16:creationId xmlns:a16="http://schemas.microsoft.com/office/drawing/2014/main" id="{22BEAD5F-A682-7611-2829-06ACFF9A7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678363"/>
            <a:ext cx="896938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13" name="Rectangle 41">
            <a:extLst>
              <a:ext uri="{FF2B5EF4-FFF2-40B4-BE49-F238E27FC236}">
                <a16:creationId xmlns:a16="http://schemas.microsoft.com/office/drawing/2014/main" id="{3260A1AE-D104-72C4-0C8F-1075597DE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4678363"/>
            <a:ext cx="550862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14" name="Rectangle 42">
            <a:extLst>
              <a:ext uri="{FF2B5EF4-FFF2-40B4-BE49-F238E27FC236}">
                <a16:creationId xmlns:a16="http://schemas.microsoft.com/office/drawing/2014/main" id="{F5B96DA9-B955-0FF1-984E-6926DD750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4678363"/>
            <a:ext cx="1171575" cy="3095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Haskell</a:t>
            </a:r>
          </a:p>
        </p:txBody>
      </p:sp>
      <p:sp>
        <p:nvSpPr>
          <p:cNvPr id="361515" name="Rectangle 43">
            <a:extLst>
              <a:ext uri="{FF2B5EF4-FFF2-40B4-BE49-F238E27FC236}">
                <a16:creationId xmlns:a16="http://schemas.microsoft.com/office/drawing/2014/main" id="{85138BFC-7888-B14F-6355-9E6BFFCB9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4365625"/>
            <a:ext cx="550863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16" name="Rectangle 44">
            <a:extLst>
              <a:ext uri="{FF2B5EF4-FFF2-40B4-BE49-F238E27FC236}">
                <a16:creationId xmlns:a16="http://schemas.microsoft.com/office/drawing/2014/main" id="{77604F9B-C138-D226-3BDB-F3B4D3E0F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4365625"/>
            <a:ext cx="895350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Planned</a:t>
            </a:r>
            <a:endParaRPr lang="en-US" altLang="en-US" sz="1000" b="1"/>
          </a:p>
        </p:txBody>
      </p:sp>
      <p:sp>
        <p:nvSpPr>
          <p:cNvPr id="361517" name="Rectangle 45">
            <a:extLst>
              <a:ext uri="{FF2B5EF4-FFF2-40B4-BE49-F238E27FC236}">
                <a16:creationId xmlns:a16="http://schemas.microsoft.com/office/drawing/2014/main" id="{016EA60B-9030-FDA8-8D31-32A4A5A7A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365625"/>
            <a:ext cx="827088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Planned</a:t>
            </a:r>
          </a:p>
        </p:txBody>
      </p:sp>
      <p:sp>
        <p:nvSpPr>
          <p:cNvPr id="361518" name="Rectangle 46">
            <a:extLst>
              <a:ext uri="{FF2B5EF4-FFF2-40B4-BE49-F238E27FC236}">
                <a16:creationId xmlns:a16="http://schemas.microsoft.com/office/drawing/2014/main" id="{B38A43BE-5885-D589-484B-EADF4770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4365625"/>
            <a:ext cx="62071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19" name="Rectangle 47">
            <a:extLst>
              <a:ext uri="{FF2B5EF4-FFF2-40B4-BE49-F238E27FC236}">
                <a16:creationId xmlns:a16="http://schemas.microsoft.com/office/drawing/2014/main" id="{2B1D43BD-474B-D6F8-8C2C-DC44ACF80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4365625"/>
            <a:ext cx="620713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20" name="Rectangle 48">
            <a:extLst>
              <a:ext uri="{FF2B5EF4-FFF2-40B4-BE49-F238E27FC236}">
                <a16:creationId xmlns:a16="http://schemas.microsoft.com/office/drawing/2014/main" id="{433C0E4C-7C23-C7D4-2C03-C00314B65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4365625"/>
            <a:ext cx="96361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21" name="Rectangle 49">
            <a:extLst>
              <a:ext uri="{FF2B5EF4-FFF2-40B4-BE49-F238E27FC236}">
                <a16:creationId xmlns:a16="http://schemas.microsoft.com/office/drawing/2014/main" id="{88672548-0483-9ED2-6870-BEB159373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365625"/>
            <a:ext cx="896938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22" name="Rectangle 50">
            <a:extLst>
              <a:ext uri="{FF2B5EF4-FFF2-40B4-BE49-F238E27FC236}">
                <a16:creationId xmlns:a16="http://schemas.microsoft.com/office/drawing/2014/main" id="{25D175C6-DFCF-A008-7928-88A17B93A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4365625"/>
            <a:ext cx="55086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23" name="Rectangle 51">
            <a:extLst>
              <a:ext uri="{FF2B5EF4-FFF2-40B4-BE49-F238E27FC236}">
                <a16:creationId xmlns:a16="http://schemas.microsoft.com/office/drawing/2014/main" id="{92F611F4-0E2A-4EF4-D673-238878503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4365625"/>
            <a:ext cx="1171575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Mondrian</a:t>
            </a:r>
          </a:p>
        </p:txBody>
      </p:sp>
      <p:sp>
        <p:nvSpPr>
          <p:cNvPr id="361524" name="Rectangle 52">
            <a:extLst>
              <a:ext uri="{FF2B5EF4-FFF2-40B4-BE49-F238E27FC236}">
                <a16:creationId xmlns:a16="http://schemas.microsoft.com/office/drawing/2014/main" id="{0C92A66F-F91E-E03C-7FA4-BBA292EAE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2060575"/>
            <a:ext cx="550863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25" name="Rectangle 53">
            <a:extLst>
              <a:ext uri="{FF2B5EF4-FFF2-40B4-BE49-F238E27FC236}">
                <a16:creationId xmlns:a16="http://schemas.microsoft.com/office/drawing/2014/main" id="{F9093BB0-1F90-0D24-8434-649C47CE9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2060575"/>
            <a:ext cx="895350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Planned</a:t>
            </a:r>
          </a:p>
        </p:txBody>
      </p:sp>
      <p:sp>
        <p:nvSpPr>
          <p:cNvPr id="361526" name="Rectangle 54">
            <a:extLst>
              <a:ext uri="{FF2B5EF4-FFF2-40B4-BE49-F238E27FC236}">
                <a16:creationId xmlns:a16="http://schemas.microsoft.com/office/drawing/2014/main" id="{41741B3D-4638-945B-D531-B8A8D2AB4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060575"/>
            <a:ext cx="827088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27" name="Rectangle 55">
            <a:extLst>
              <a:ext uri="{FF2B5EF4-FFF2-40B4-BE49-F238E27FC236}">
                <a16:creationId xmlns:a16="http://schemas.microsoft.com/office/drawing/2014/main" id="{57DF15E3-0338-C091-05FA-5D08D3A2C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2060575"/>
            <a:ext cx="62071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28" name="Rectangle 56">
            <a:extLst>
              <a:ext uri="{FF2B5EF4-FFF2-40B4-BE49-F238E27FC236}">
                <a16:creationId xmlns:a16="http://schemas.microsoft.com/office/drawing/2014/main" id="{1B09EE7F-D957-F28E-0634-6A150786B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060575"/>
            <a:ext cx="620713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29" name="Rectangle 57">
            <a:extLst>
              <a:ext uri="{FF2B5EF4-FFF2-40B4-BE49-F238E27FC236}">
                <a16:creationId xmlns:a16="http://schemas.microsoft.com/office/drawing/2014/main" id="{6C4ECA89-1887-1167-77E1-ACB6C7F89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060575"/>
            <a:ext cx="96361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30" name="Rectangle 58">
            <a:extLst>
              <a:ext uri="{FF2B5EF4-FFF2-40B4-BE49-F238E27FC236}">
                <a16:creationId xmlns:a16="http://schemas.microsoft.com/office/drawing/2014/main" id="{430DD40D-4283-A651-9221-F81DEF560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2060575"/>
            <a:ext cx="896938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31" name="Rectangle 59">
            <a:extLst>
              <a:ext uri="{FF2B5EF4-FFF2-40B4-BE49-F238E27FC236}">
                <a16:creationId xmlns:a16="http://schemas.microsoft.com/office/drawing/2014/main" id="{C3FB984B-5B50-D9E9-7752-AEE9CEE30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2060575"/>
            <a:ext cx="55086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32" name="Rectangle 60">
            <a:extLst>
              <a:ext uri="{FF2B5EF4-FFF2-40B4-BE49-F238E27FC236}">
                <a16:creationId xmlns:a16="http://schemas.microsoft.com/office/drawing/2014/main" id="{115D7E97-AC65-0340-3FB5-A7456F3BC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060575"/>
            <a:ext cx="1171575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Mercury</a:t>
            </a:r>
          </a:p>
        </p:txBody>
      </p:sp>
      <p:sp>
        <p:nvSpPr>
          <p:cNvPr id="361533" name="Rectangle 61">
            <a:extLst>
              <a:ext uri="{FF2B5EF4-FFF2-40B4-BE49-F238E27FC236}">
                <a16:creationId xmlns:a16="http://schemas.microsoft.com/office/drawing/2014/main" id="{B650027D-892A-A826-B745-EBD0E6C1A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611813"/>
            <a:ext cx="827088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34" name="Rectangle 62">
            <a:extLst>
              <a:ext uri="{FF2B5EF4-FFF2-40B4-BE49-F238E27FC236}">
                <a16:creationId xmlns:a16="http://schemas.microsoft.com/office/drawing/2014/main" id="{54183CEC-BF29-C251-4A5B-64A29D7D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300663"/>
            <a:ext cx="827088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35" name="Rectangle 63">
            <a:extLst>
              <a:ext uri="{FF2B5EF4-FFF2-40B4-BE49-F238E27FC236}">
                <a16:creationId xmlns:a16="http://schemas.microsoft.com/office/drawing/2014/main" id="{05B7F7E7-1FD3-9D88-7786-1631462F4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987925"/>
            <a:ext cx="827088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36" name="Rectangle 64">
            <a:extLst>
              <a:ext uri="{FF2B5EF4-FFF2-40B4-BE49-F238E27FC236}">
                <a16:creationId xmlns:a16="http://schemas.microsoft.com/office/drawing/2014/main" id="{1582EAE6-D925-DF13-C363-95558E321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935413"/>
            <a:ext cx="827088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Planned</a:t>
            </a:r>
            <a:endParaRPr lang="en-GB" altLang="en-US" sz="1000" b="1"/>
          </a:p>
        </p:txBody>
      </p:sp>
      <p:sp>
        <p:nvSpPr>
          <p:cNvPr id="361537" name="Rectangle 65">
            <a:extLst>
              <a:ext uri="{FF2B5EF4-FFF2-40B4-BE49-F238E27FC236}">
                <a16:creationId xmlns:a16="http://schemas.microsoft.com/office/drawing/2014/main" id="{3331F19E-53C9-0ACC-02E7-40B82CC4C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306763"/>
            <a:ext cx="827088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38" name="Rectangle 66">
            <a:extLst>
              <a:ext uri="{FF2B5EF4-FFF2-40B4-BE49-F238E27FC236}">
                <a16:creationId xmlns:a16="http://schemas.microsoft.com/office/drawing/2014/main" id="{4536DA96-F7FB-87D4-1163-609604C42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997200"/>
            <a:ext cx="827088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Planned</a:t>
            </a:r>
          </a:p>
        </p:txBody>
      </p:sp>
      <p:sp>
        <p:nvSpPr>
          <p:cNvPr id="361539" name="Rectangle 67">
            <a:extLst>
              <a:ext uri="{FF2B5EF4-FFF2-40B4-BE49-F238E27FC236}">
                <a16:creationId xmlns:a16="http://schemas.microsoft.com/office/drawing/2014/main" id="{3A194985-B547-7C50-B9AE-B3D497EB0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373313"/>
            <a:ext cx="827088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40" name="Rectangle 68">
            <a:extLst>
              <a:ext uri="{FF2B5EF4-FFF2-40B4-BE49-F238E27FC236}">
                <a16:creationId xmlns:a16="http://schemas.microsoft.com/office/drawing/2014/main" id="{1D80DF2D-8FC2-DCB6-C01B-C75B9254E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524000"/>
            <a:ext cx="827088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Release</a:t>
            </a:r>
          </a:p>
        </p:txBody>
      </p:sp>
      <p:sp>
        <p:nvSpPr>
          <p:cNvPr id="361541" name="Rectangle 69">
            <a:extLst>
              <a:ext uri="{FF2B5EF4-FFF2-40B4-BE49-F238E27FC236}">
                <a16:creationId xmlns:a16="http://schemas.microsoft.com/office/drawing/2014/main" id="{12108115-72C0-74BE-0A91-49F383312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5611813"/>
            <a:ext cx="550862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42" name="Rectangle 70">
            <a:extLst>
              <a:ext uri="{FF2B5EF4-FFF2-40B4-BE49-F238E27FC236}">
                <a16:creationId xmlns:a16="http://schemas.microsoft.com/office/drawing/2014/main" id="{D576A540-B0C1-23D7-6A25-5C44D97AD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5300663"/>
            <a:ext cx="550862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cs typeface="Arial" panose="020B0604020202020204" pitchFamily="34" charset="0"/>
                <a:sym typeface="Wingdings" panose="05000000000000000000" pitchFamily="2" charset="2"/>
              </a:rPr>
              <a:t>½</a:t>
            </a:r>
          </a:p>
        </p:txBody>
      </p:sp>
      <p:sp>
        <p:nvSpPr>
          <p:cNvPr id="361543" name="Rectangle 71">
            <a:extLst>
              <a:ext uri="{FF2B5EF4-FFF2-40B4-BE49-F238E27FC236}">
                <a16:creationId xmlns:a16="http://schemas.microsoft.com/office/drawing/2014/main" id="{DBBC2B89-738A-F334-452E-DA03D6427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4987925"/>
            <a:ext cx="55086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44" name="Rectangle 72">
            <a:extLst>
              <a:ext uri="{FF2B5EF4-FFF2-40B4-BE49-F238E27FC236}">
                <a16:creationId xmlns:a16="http://schemas.microsoft.com/office/drawing/2014/main" id="{91DF80D5-C9ED-F067-775E-C438EF7D7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3935413"/>
            <a:ext cx="550862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45" name="Rectangle 73">
            <a:extLst>
              <a:ext uri="{FF2B5EF4-FFF2-40B4-BE49-F238E27FC236}">
                <a16:creationId xmlns:a16="http://schemas.microsoft.com/office/drawing/2014/main" id="{41CE3251-E0E3-4779-5FEA-D44827BD3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3306763"/>
            <a:ext cx="550862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46" name="Rectangle 74">
            <a:extLst>
              <a:ext uri="{FF2B5EF4-FFF2-40B4-BE49-F238E27FC236}">
                <a16:creationId xmlns:a16="http://schemas.microsoft.com/office/drawing/2014/main" id="{DA648D66-1769-D29F-0320-66798A420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2997200"/>
            <a:ext cx="550862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47" name="Rectangle 75">
            <a:extLst>
              <a:ext uri="{FF2B5EF4-FFF2-40B4-BE49-F238E27FC236}">
                <a16:creationId xmlns:a16="http://schemas.microsoft.com/office/drawing/2014/main" id="{97665E6F-8059-F3DD-453F-5E8A3D807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2373313"/>
            <a:ext cx="550862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48" name="Rectangle 76">
            <a:extLst>
              <a:ext uri="{FF2B5EF4-FFF2-40B4-BE49-F238E27FC236}">
                <a16:creationId xmlns:a16="http://schemas.microsoft.com/office/drawing/2014/main" id="{E8E68BB2-5BAB-A9E8-14FE-FA8AF33D1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1524000"/>
            <a:ext cx="550862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Feed-back</a:t>
            </a:r>
          </a:p>
        </p:txBody>
      </p:sp>
      <p:sp>
        <p:nvSpPr>
          <p:cNvPr id="361549" name="Rectangle 77">
            <a:extLst>
              <a:ext uri="{FF2B5EF4-FFF2-40B4-BE49-F238E27FC236}">
                <a16:creationId xmlns:a16="http://schemas.microsoft.com/office/drawing/2014/main" id="{41C9F410-C26C-50DC-0CDA-D4FEE624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611813"/>
            <a:ext cx="896938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50" name="Rectangle 78">
            <a:extLst>
              <a:ext uri="{FF2B5EF4-FFF2-40B4-BE49-F238E27FC236}">
                <a16:creationId xmlns:a16="http://schemas.microsoft.com/office/drawing/2014/main" id="{EEA73AA5-14EF-BC7E-81F8-9EDC20246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300663"/>
            <a:ext cx="896938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51" name="Rectangle 79">
            <a:extLst>
              <a:ext uri="{FF2B5EF4-FFF2-40B4-BE49-F238E27FC236}">
                <a16:creationId xmlns:a16="http://schemas.microsoft.com/office/drawing/2014/main" id="{DA847ED4-89E7-32EC-5408-CD7619CF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987925"/>
            <a:ext cx="896938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cs typeface="Arial" panose="020B0604020202020204" pitchFamily="34" charset="0"/>
                <a:sym typeface="Wingdings" panose="05000000000000000000" pitchFamily="2" charset="2"/>
              </a:rPr>
              <a:t>½</a:t>
            </a:r>
          </a:p>
        </p:txBody>
      </p:sp>
      <p:sp>
        <p:nvSpPr>
          <p:cNvPr id="361552" name="Rectangle 80">
            <a:extLst>
              <a:ext uri="{FF2B5EF4-FFF2-40B4-BE49-F238E27FC236}">
                <a16:creationId xmlns:a16="http://schemas.microsoft.com/office/drawing/2014/main" id="{5A1F16E5-2024-BA2A-2EF3-E712E0408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935413"/>
            <a:ext cx="896938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53" name="Rectangle 81">
            <a:extLst>
              <a:ext uri="{FF2B5EF4-FFF2-40B4-BE49-F238E27FC236}">
                <a16:creationId xmlns:a16="http://schemas.microsoft.com/office/drawing/2014/main" id="{0348D7EE-A28E-1F23-1D71-09D154B20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306763"/>
            <a:ext cx="896938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54" name="Rectangle 82">
            <a:extLst>
              <a:ext uri="{FF2B5EF4-FFF2-40B4-BE49-F238E27FC236}">
                <a16:creationId xmlns:a16="http://schemas.microsoft.com/office/drawing/2014/main" id="{A73CBFF8-B278-D9E5-D12F-86F977440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2997200"/>
            <a:ext cx="896938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55" name="Rectangle 83">
            <a:extLst>
              <a:ext uri="{FF2B5EF4-FFF2-40B4-BE49-F238E27FC236}">
                <a16:creationId xmlns:a16="http://schemas.microsoft.com/office/drawing/2014/main" id="{D2A6BD4C-9FEA-5F4C-EB32-D0DE79E14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2373313"/>
            <a:ext cx="896938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56" name="Rectangle 84">
            <a:extLst>
              <a:ext uri="{FF2B5EF4-FFF2-40B4-BE49-F238E27FC236}">
                <a16:creationId xmlns:a16="http://schemas.microsoft.com/office/drawing/2014/main" id="{03D49F9B-AE27-C7F5-054F-A91034BFE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1524000"/>
            <a:ext cx="896938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Feasible?</a:t>
            </a:r>
          </a:p>
        </p:txBody>
      </p:sp>
      <p:sp>
        <p:nvSpPr>
          <p:cNvPr id="361557" name="Rectangle 85">
            <a:extLst>
              <a:ext uri="{FF2B5EF4-FFF2-40B4-BE49-F238E27FC236}">
                <a16:creationId xmlns:a16="http://schemas.microsoft.com/office/drawing/2014/main" id="{9138C12F-BC6E-7F51-9852-3081FA5C5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4987925"/>
            <a:ext cx="550863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58" name="Rectangle 86">
            <a:extLst>
              <a:ext uri="{FF2B5EF4-FFF2-40B4-BE49-F238E27FC236}">
                <a16:creationId xmlns:a16="http://schemas.microsoft.com/office/drawing/2014/main" id="{F662B804-E75B-DE9D-DAD8-909D8E8E3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4987925"/>
            <a:ext cx="895350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59" name="Rectangle 87">
            <a:extLst>
              <a:ext uri="{FF2B5EF4-FFF2-40B4-BE49-F238E27FC236}">
                <a16:creationId xmlns:a16="http://schemas.microsoft.com/office/drawing/2014/main" id="{B5A93643-622B-EDE0-4351-ED80E2FC2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4987925"/>
            <a:ext cx="62071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60" name="Rectangle 88">
            <a:extLst>
              <a:ext uri="{FF2B5EF4-FFF2-40B4-BE49-F238E27FC236}">
                <a16:creationId xmlns:a16="http://schemas.microsoft.com/office/drawing/2014/main" id="{64C962F3-649D-D5EE-5EEF-1D83DDD2F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4987925"/>
            <a:ext cx="620713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61" name="Rectangle 89">
            <a:extLst>
              <a:ext uri="{FF2B5EF4-FFF2-40B4-BE49-F238E27FC236}">
                <a16:creationId xmlns:a16="http://schemas.microsoft.com/office/drawing/2014/main" id="{6CCFA9C1-3EBD-0738-22F8-00687EC21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4987925"/>
            <a:ext cx="963612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cs typeface="Arial" panose="020B0604020202020204" pitchFamily="34" charset="0"/>
                <a:sym typeface="Wingdings" panose="05000000000000000000" pitchFamily="2" charset="2"/>
              </a:rPr>
              <a:t>½</a:t>
            </a:r>
          </a:p>
        </p:txBody>
      </p:sp>
      <p:sp>
        <p:nvSpPr>
          <p:cNvPr id="361562" name="Rectangle 90">
            <a:extLst>
              <a:ext uri="{FF2B5EF4-FFF2-40B4-BE49-F238E27FC236}">
                <a16:creationId xmlns:a16="http://schemas.microsoft.com/office/drawing/2014/main" id="{E7CD5DA1-A58D-700D-2E75-103B0AEBC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4987925"/>
            <a:ext cx="1171575" cy="312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Oz</a:t>
            </a:r>
          </a:p>
        </p:txBody>
      </p:sp>
      <p:sp>
        <p:nvSpPr>
          <p:cNvPr id="361563" name="Rectangle 91">
            <a:extLst>
              <a:ext uri="{FF2B5EF4-FFF2-40B4-BE49-F238E27FC236}">
                <a16:creationId xmlns:a16="http://schemas.microsoft.com/office/drawing/2014/main" id="{5EA2F576-5EDB-DE96-D460-35D3F783C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5611813"/>
            <a:ext cx="895350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64" name="Rectangle 92">
            <a:extLst>
              <a:ext uri="{FF2B5EF4-FFF2-40B4-BE49-F238E27FC236}">
                <a16:creationId xmlns:a16="http://schemas.microsoft.com/office/drawing/2014/main" id="{4B577BD8-CF13-0BC8-6E32-75EB7852B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5300663"/>
            <a:ext cx="895350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65" name="Rectangle 93">
            <a:extLst>
              <a:ext uri="{FF2B5EF4-FFF2-40B4-BE49-F238E27FC236}">
                <a16:creationId xmlns:a16="http://schemas.microsoft.com/office/drawing/2014/main" id="{DE501277-F371-1678-2964-C3FF512EE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3935413"/>
            <a:ext cx="895350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Planned</a:t>
            </a:r>
          </a:p>
        </p:txBody>
      </p:sp>
      <p:sp>
        <p:nvSpPr>
          <p:cNvPr id="361566" name="Rectangle 94">
            <a:extLst>
              <a:ext uri="{FF2B5EF4-FFF2-40B4-BE49-F238E27FC236}">
                <a16:creationId xmlns:a16="http://schemas.microsoft.com/office/drawing/2014/main" id="{01A11790-A351-F120-ACFD-F177DE141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3306763"/>
            <a:ext cx="895350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Planned</a:t>
            </a:r>
            <a:endParaRPr lang="en-GB" altLang="en-US" sz="1000" b="1"/>
          </a:p>
        </p:txBody>
      </p:sp>
      <p:sp>
        <p:nvSpPr>
          <p:cNvPr id="361567" name="Rectangle 95">
            <a:extLst>
              <a:ext uri="{FF2B5EF4-FFF2-40B4-BE49-F238E27FC236}">
                <a16:creationId xmlns:a16="http://schemas.microsoft.com/office/drawing/2014/main" id="{E4C3E646-73AA-73F3-8E6D-673895AA8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2997200"/>
            <a:ext cx="895350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68" name="Rectangle 96">
            <a:extLst>
              <a:ext uri="{FF2B5EF4-FFF2-40B4-BE49-F238E27FC236}">
                <a16:creationId xmlns:a16="http://schemas.microsoft.com/office/drawing/2014/main" id="{A51B7F95-BD69-2572-6630-F904A927F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2373313"/>
            <a:ext cx="895350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Planned</a:t>
            </a:r>
          </a:p>
        </p:txBody>
      </p:sp>
      <p:sp>
        <p:nvSpPr>
          <p:cNvPr id="361569" name="Rectangle 97">
            <a:extLst>
              <a:ext uri="{FF2B5EF4-FFF2-40B4-BE49-F238E27FC236}">
                <a16:creationId xmlns:a16="http://schemas.microsoft.com/office/drawing/2014/main" id="{57DAB364-4818-FCF4-2B9E-E82A5D161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1524000"/>
            <a:ext cx="895350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Consume CLS?</a:t>
            </a:r>
          </a:p>
        </p:txBody>
      </p:sp>
      <p:sp>
        <p:nvSpPr>
          <p:cNvPr id="361570" name="Rectangle 98">
            <a:extLst>
              <a:ext uri="{FF2B5EF4-FFF2-40B4-BE49-F238E27FC236}">
                <a16:creationId xmlns:a16="http://schemas.microsoft.com/office/drawing/2014/main" id="{3C56485A-7C62-3DE9-6454-AA57134CA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5300663"/>
            <a:ext cx="550863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>
              <a:sym typeface="Wingdings" panose="05000000000000000000" pitchFamily="2" charset="2"/>
            </a:endParaRPr>
          </a:p>
        </p:txBody>
      </p:sp>
      <p:sp>
        <p:nvSpPr>
          <p:cNvPr id="361571" name="Rectangle 99">
            <a:extLst>
              <a:ext uri="{FF2B5EF4-FFF2-40B4-BE49-F238E27FC236}">
                <a16:creationId xmlns:a16="http://schemas.microsoft.com/office/drawing/2014/main" id="{66F54A4D-61A7-D17E-AE03-E96FAFFD8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5300663"/>
            <a:ext cx="620712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72" name="Rectangle 100">
            <a:extLst>
              <a:ext uri="{FF2B5EF4-FFF2-40B4-BE49-F238E27FC236}">
                <a16:creationId xmlns:a16="http://schemas.microsoft.com/office/drawing/2014/main" id="{8953F442-479A-E990-4C39-88EFD2F9B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5300663"/>
            <a:ext cx="620713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73" name="Rectangle 101">
            <a:extLst>
              <a:ext uri="{FF2B5EF4-FFF2-40B4-BE49-F238E27FC236}">
                <a16:creationId xmlns:a16="http://schemas.microsoft.com/office/drawing/2014/main" id="{A941C19B-A062-E246-D2CB-B0D86A527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5300663"/>
            <a:ext cx="963612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74" name="Rectangle 102">
            <a:extLst>
              <a:ext uri="{FF2B5EF4-FFF2-40B4-BE49-F238E27FC236}">
                <a16:creationId xmlns:a16="http://schemas.microsoft.com/office/drawing/2014/main" id="{72E74F5A-B0FD-3DF8-FAC8-891458BD0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5300663"/>
            <a:ext cx="1171575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Cilk</a:t>
            </a:r>
          </a:p>
        </p:txBody>
      </p:sp>
      <p:sp>
        <p:nvSpPr>
          <p:cNvPr id="361575" name="Rectangle 103">
            <a:extLst>
              <a:ext uri="{FF2B5EF4-FFF2-40B4-BE49-F238E27FC236}">
                <a16:creationId xmlns:a16="http://schemas.microsoft.com/office/drawing/2014/main" id="{BF73B9C9-CB2B-FEF4-248F-1C0094352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5611813"/>
            <a:ext cx="550863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76" name="Rectangle 104">
            <a:extLst>
              <a:ext uri="{FF2B5EF4-FFF2-40B4-BE49-F238E27FC236}">
                <a16:creationId xmlns:a16="http://schemas.microsoft.com/office/drawing/2014/main" id="{DA616340-2116-4B12-A5DB-B1B80A839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5611813"/>
            <a:ext cx="620712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77" name="Rectangle 105">
            <a:extLst>
              <a:ext uri="{FF2B5EF4-FFF2-40B4-BE49-F238E27FC236}">
                <a16:creationId xmlns:a16="http://schemas.microsoft.com/office/drawing/2014/main" id="{3296FB42-B836-2339-4677-87333065B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5611813"/>
            <a:ext cx="620713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78" name="Rectangle 106">
            <a:extLst>
              <a:ext uri="{FF2B5EF4-FFF2-40B4-BE49-F238E27FC236}">
                <a16:creationId xmlns:a16="http://schemas.microsoft.com/office/drawing/2014/main" id="{F2772781-B29B-B678-2070-6C1AA48BF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5611813"/>
            <a:ext cx="963612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79" name="Rectangle 107">
            <a:extLst>
              <a:ext uri="{FF2B5EF4-FFF2-40B4-BE49-F238E27FC236}">
                <a16:creationId xmlns:a16="http://schemas.microsoft.com/office/drawing/2014/main" id="{D2193109-10FE-A25E-60A1-53C61060E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5611813"/>
            <a:ext cx="1171575" cy="3127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O’Caml</a:t>
            </a:r>
          </a:p>
        </p:txBody>
      </p:sp>
      <p:sp>
        <p:nvSpPr>
          <p:cNvPr id="361580" name="Rectangle 108">
            <a:extLst>
              <a:ext uri="{FF2B5EF4-FFF2-40B4-BE49-F238E27FC236}">
                <a16:creationId xmlns:a16="http://schemas.microsoft.com/office/drawing/2014/main" id="{93AE4899-AA51-D05C-B964-FB82EB721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3935413"/>
            <a:ext cx="620712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US" altLang="en-US" sz="1000" b="1">
              <a:sym typeface="Wingdings" panose="05000000000000000000" pitchFamily="2" charset="2"/>
            </a:endParaRPr>
          </a:p>
        </p:txBody>
      </p:sp>
      <p:sp>
        <p:nvSpPr>
          <p:cNvPr id="361581" name="Rectangle 109">
            <a:extLst>
              <a:ext uri="{FF2B5EF4-FFF2-40B4-BE49-F238E27FC236}">
                <a16:creationId xmlns:a16="http://schemas.microsoft.com/office/drawing/2014/main" id="{5E694640-34E1-F119-B485-4E71979B8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3306763"/>
            <a:ext cx="620712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82" name="Rectangle 110">
            <a:extLst>
              <a:ext uri="{FF2B5EF4-FFF2-40B4-BE49-F238E27FC236}">
                <a16:creationId xmlns:a16="http://schemas.microsoft.com/office/drawing/2014/main" id="{ADBB3B12-EFE6-A922-DAC2-6C66CBDF1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2997200"/>
            <a:ext cx="620712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83" name="Rectangle 111">
            <a:extLst>
              <a:ext uri="{FF2B5EF4-FFF2-40B4-BE49-F238E27FC236}">
                <a16:creationId xmlns:a16="http://schemas.microsoft.com/office/drawing/2014/main" id="{D31AB161-554A-95BC-2055-C9ECCD29E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2373313"/>
            <a:ext cx="620712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84" name="Rectangle 112">
            <a:extLst>
              <a:ext uri="{FF2B5EF4-FFF2-40B4-BE49-F238E27FC236}">
                <a16:creationId xmlns:a16="http://schemas.microsoft.com/office/drawing/2014/main" id="{BD07D829-56A1-C75A-3706-1C21EFC47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1524000"/>
            <a:ext cx="620712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Perf Tests</a:t>
            </a:r>
          </a:p>
        </p:txBody>
      </p:sp>
      <p:sp>
        <p:nvSpPr>
          <p:cNvPr id="361585" name="Rectangle 113">
            <a:extLst>
              <a:ext uri="{FF2B5EF4-FFF2-40B4-BE49-F238E27FC236}">
                <a16:creationId xmlns:a16="http://schemas.microsoft.com/office/drawing/2014/main" id="{D0EC25BA-5F0B-385E-B598-76B4738D5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3935413"/>
            <a:ext cx="550863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86" name="Rectangle 114">
            <a:extLst>
              <a:ext uri="{FF2B5EF4-FFF2-40B4-BE49-F238E27FC236}">
                <a16:creationId xmlns:a16="http://schemas.microsoft.com/office/drawing/2014/main" id="{2FAFB9AE-42A7-CA40-2185-E192B8457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3306763"/>
            <a:ext cx="550863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87" name="Rectangle 115">
            <a:extLst>
              <a:ext uri="{FF2B5EF4-FFF2-40B4-BE49-F238E27FC236}">
                <a16:creationId xmlns:a16="http://schemas.microsoft.com/office/drawing/2014/main" id="{55978002-D236-66C2-D96D-46CE609CC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2997200"/>
            <a:ext cx="550863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88" name="Rectangle 116">
            <a:extLst>
              <a:ext uri="{FF2B5EF4-FFF2-40B4-BE49-F238E27FC236}">
                <a16:creationId xmlns:a16="http://schemas.microsoft.com/office/drawing/2014/main" id="{7BC7A910-14A3-965E-69D5-7BA1F791E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2373313"/>
            <a:ext cx="550863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GB" altLang="en-US" sz="1000" b="1"/>
          </a:p>
        </p:txBody>
      </p:sp>
      <p:sp>
        <p:nvSpPr>
          <p:cNvPr id="361589" name="Rectangle 117">
            <a:extLst>
              <a:ext uri="{FF2B5EF4-FFF2-40B4-BE49-F238E27FC236}">
                <a16:creationId xmlns:a16="http://schemas.microsoft.com/office/drawing/2014/main" id="{4058EE3F-88D2-94B3-72F7-96E2B81E9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25" y="1524000"/>
            <a:ext cx="550863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VS?</a:t>
            </a:r>
          </a:p>
        </p:txBody>
      </p:sp>
      <p:sp>
        <p:nvSpPr>
          <p:cNvPr id="361590" name="Rectangle 118">
            <a:extLst>
              <a:ext uri="{FF2B5EF4-FFF2-40B4-BE49-F238E27FC236}">
                <a16:creationId xmlns:a16="http://schemas.microsoft.com/office/drawing/2014/main" id="{14F284EA-4668-6746-381E-09BCF962F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935413"/>
            <a:ext cx="620713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91" name="Rectangle 119">
            <a:extLst>
              <a:ext uri="{FF2B5EF4-FFF2-40B4-BE49-F238E27FC236}">
                <a16:creationId xmlns:a16="http://schemas.microsoft.com/office/drawing/2014/main" id="{C7BD86F7-3275-0A9D-E9E5-EAB11F7F1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306763"/>
            <a:ext cx="620713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92" name="Rectangle 120">
            <a:extLst>
              <a:ext uri="{FF2B5EF4-FFF2-40B4-BE49-F238E27FC236}">
                <a16:creationId xmlns:a16="http://schemas.microsoft.com/office/drawing/2014/main" id="{0A85D4CB-6ECC-37F1-4851-D4EE56D56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997200"/>
            <a:ext cx="620713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93" name="Rectangle 121">
            <a:extLst>
              <a:ext uri="{FF2B5EF4-FFF2-40B4-BE49-F238E27FC236}">
                <a16:creationId xmlns:a16="http://schemas.microsoft.com/office/drawing/2014/main" id="{784F351F-FB2D-5E5C-460D-C990DC986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2373313"/>
            <a:ext cx="620713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94" name="Rectangle 122">
            <a:extLst>
              <a:ext uri="{FF2B5EF4-FFF2-40B4-BE49-F238E27FC236}">
                <a16:creationId xmlns:a16="http://schemas.microsoft.com/office/drawing/2014/main" id="{56CA9D72-6FF1-D4B5-8C89-C21F335E5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1524000"/>
            <a:ext cx="620713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Demo</a:t>
            </a:r>
          </a:p>
        </p:txBody>
      </p:sp>
      <p:sp>
        <p:nvSpPr>
          <p:cNvPr id="361595" name="Rectangle 123">
            <a:extLst>
              <a:ext uri="{FF2B5EF4-FFF2-40B4-BE49-F238E27FC236}">
                <a16:creationId xmlns:a16="http://schemas.microsoft.com/office/drawing/2014/main" id="{AE74AD2F-6328-EBD5-470C-5912A0BB5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3935413"/>
            <a:ext cx="963612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61596" name="Rectangle 124">
            <a:extLst>
              <a:ext uri="{FF2B5EF4-FFF2-40B4-BE49-F238E27FC236}">
                <a16:creationId xmlns:a16="http://schemas.microsoft.com/office/drawing/2014/main" id="{3B0E440D-5AE7-0FBD-D360-1AECBD419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3935413"/>
            <a:ext cx="1171575" cy="4302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/>
              <a:t>Component Pascal</a:t>
            </a:r>
          </a:p>
        </p:txBody>
      </p:sp>
      <p:sp>
        <p:nvSpPr>
          <p:cNvPr id="361597" name="Rectangle 125">
            <a:extLst>
              <a:ext uri="{FF2B5EF4-FFF2-40B4-BE49-F238E27FC236}">
                <a16:creationId xmlns:a16="http://schemas.microsoft.com/office/drawing/2014/main" id="{AC0CD897-1FA2-9946-3C37-D5E3CAA83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3306763"/>
            <a:ext cx="963612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598" name="Rectangle 126">
            <a:extLst>
              <a:ext uri="{FF2B5EF4-FFF2-40B4-BE49-F238E27FC236}">
                <a16:creationId xmlns:a16="http://schemas.microsoft.com/office/drawing/2014/main" id="{1DE82AD7-8B21-2AE7-246D-E43B9233B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3306763"/>
            <a:ext cx="1171575" cy="29686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Alice</a:t>
            </a:r>
          </a:p>
        </p:txBody>
      </p:sp>
      <p:sp>
        <p:nvSpPr>
          <p:cNvPr id="361599" name="Rectangle 127">
            <a:extLst>
              <a:ext uri="{FF2B5EF4-FFF2-40B4-BE49-F238E27FC236}">
                <a16:creationId xmlns:a16="http://schemas.microsoft.com/office/drawing/2014/main" id="{4ACA5334-06C6-7040-D0EB-38F13BBBC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7200"/>
            <a:ext cx="963612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600" name="Rectangle 128">
            <a:extLst>
              <a:ext uri="{FF2B5EF4-FFF2-40B4-BE49-F238E27FC236}">
                <a16:creationId xmlns:a16="http://schemas.microsoft.com/office/drawing/2014/main" id="{A48F9A45-BCAC-2B8D-75A0-7235A5CF2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997200"/>
            <a:ext cx="1171575" cy="3095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SML(+)</a:t>
            </a:r>
          </a:p>
        </p:txBody>
      </p:sp>
      <p:sp>
        <p:nvSpPr>
          <p:cNvPr id="361601" name="Rectangle 129">
            <a:extLst>
              <a:ext uri="{FF2B5EF4-FFF2-40B4-BE49-F238E27FC236}">
                <a16:creationId xmlns:a16="http://schemas.microsoft.com/office/drawing/2014/main" id="{1700F823-F82F-A754-3BF4-64214BAF0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373313"/>
            <a:ext cx="963612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000" b="1">
                <a:sym typeface="Wingdings" panose="05000000000000000000" pitchFamily="2" charset="2"/>
              </a:rPr>
              <a:t></a:t>
            </a:r>
            <a:endParaRPr lang="en-GB" altLang="en-US" sz="1000" b="1"/>
          </a:p>
        </p:txBody>
      </p:sp>
      <p:sp>
        <p:nvSpPr>
          <p:cNvPr id="361602" name="Rectangle 130">
            <a:extLst>
              <a:ext uri="{FF2B5EF4-FFF2-40B4-BE49-F238E27FC236}">
                <a16:creationId xmlns:a16="http://schemas.microsoft.com/office/drawing/2014/main" id="{5218D6BD-3BCC-F047-5FC5-EFE824167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373313"/>
            <a:ext cx="1171575" cy="3111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/>
              <a:t>Scheme(-)</a:t>
            </a:r>
          </a:p>
        </p:txBody>
      </p:sp>
      <p:sp>
        <p:nvSpPr>
          <p:cNvPr id="361603" name="Rectangle 131">
            <a:extLst>
              <a:ext uri="{FF2B5EF4-FFF2-40B4-BE49-F238E27FC236}">
                <a16:creationId xmlns:a16="http://schemas.microsoft.com/office/drawing/2014/main" id="{1D51E570-1ABB-DA51-929D-5C0D42050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1524000"/>
            <a:ext cx="963612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200" b="1" i="1"/>
              <a:t>Prototype</a:t>
            </a:r>
          </a:p>
        </p:txBody>
      </p:sp>
      <p:sp>
        <p:nvSpPr>
          <p:cNvPr id="361604" name="Rectangle 132">
            <a:extLst>
              <a:ext uri="{FF2B5EF4-FFF2-40B4-BE49-F238E27FC236}">
                <a16:creationId xmlns:a16="http://schemas.microsoft.com/office/drawing/2014/main" id="{B17F62D2-E6A4-C27D-2AEA-8EA1DD1AF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1524000"/>
            <a:ext cx="1171575" cy="5365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0" rIns="38100" bIns="0" anchor="ctr" anchorCtr="1"/>
          <a:lstStyle>
            <a:lvl1pPr algn="l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algn="l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 b="1" i="1"/>
              <a:t>Language</a:t>
            </a:r>
          </a:p>
        </p:txBody>
      </p:sp>
      <p:sp>
        <p:nvSpPr>
          <p:cNvPr id="361605" name="Line 133">
            <a:extLst>
              <a:ext uri="{FF2B5EF4-FFF2-40B4-BE49-F238E27FC236}">
                <a16:creationId xmlns:a16="http://schemas.microsoft.com/office/drawing/2014/main" id="{CBE24A61-59CA-FBE0-ACA9-68691D030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1524000"/>
            <a:ext cx="7924800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06" name="Line 134">
            <a:extLst>
              <a:ext uri="{FF2B5EF4-FFF2-40B4-BE49-F238E27FC236}">
                <a16:creationId xmlns:a16="http://schemas.microsoft.com/office/drawing/2014/main" id="{BC91411A-86CC-CB33-D4B4-4D8C3A6AD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2060575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07" name="Line 135">
            <a:extLst>
              <a:ext uri="{FF2B5EF4-FFF2-40B4-BE49-F238E27FC236}">
                <a16:creationId xmlns:a16="http://schemas.microsoft.com/office/drawing/2014/main" id="{53B1FA85-30F3-1BA2-4E78-3D46AFD7E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2684463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08" name="Line 136">
            <a:extLst>
              <a:ext uri="{FF2B5EF4-FFF2-40B4-BE49-F238E27FC236}">
                <a16:creationId xmlns:a16="http://schemas.microsoft.com/office/drawing/2014/main" id="{7C1E250B-58A0-6E9E-8A34-6BFEEB9EB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3306763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09" name="Line 137">
            <a:extLst>
              <a:ext uri="{FF2B5EF4-FFF2-40B4-BE49-F238E27FC236}">
                <a16:creationId xmlns:a16="http://schemas.microsoft.com/office/drawing/2014/main" id="{B858F947-29A8-162F-B595-2921F6034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3603625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0" name="Line 138">
            <a:extLst>
              <a:ext uri="{FF2B5EF4-FFF2-40B4-BE49-F238E27FC236}">
                <a16:creationId xmlns:a16="http://schemas.microsoft.com/office/drawing/2014/main" id="{D0344EB1-D009-DD04-BBC7-7B7D3D797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4365625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1" name="Line 139">
            <a:extLst>
              <a:ext uri="{FF2B5EF4-FFF2-40B4-BE49-F238E27FC236}">
                <a16:creationId xmlns:a16="http://schemas.microsoft.com/office/drawing/2014/main" id="{7CACF275-F437-2C93-31FA-2E153C03C85B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5924550"/>
            <a:ext cx="7924800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2" name="Line 140">
            <a:extLst>
              <a:ext uri="{FF2B5EF4-FFF2-40B4-BE49-F238E27FC236}">
                <a16:creationId xmlns:a16="http://schemas.microsoft.com/office/drawing/2014/main" id="{1D64B9D2-A70B-A7EF-15B8-CD28ADBC7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1524000"/>
            <a:ext cx="0" cy="440055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3" name="Line 141">
            <a:extLst>
              <a:ext uri="{FF2B5EF4-FFF2-40B4-BE49-F238E27FC236}">
                <a16:creationId xmlns:a16="http://schemas.microsoft.com/office/drawing/2014/main" id="{7941E133-BAFF-D454-2349-49043C31F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8363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4" name="Line 142">
            <a:extLst>
              <a:ext uri="{FF2B5EF4-FFF2-40B4-BE49-F238E27FC236}">
                <a16:creationId xmlns:a16="http://schemas.microsoft.com/office/drawing/2014/main" id="{44ED9AA2-D325-6766-F7E4-79897A64F8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5" name="Line 143">
            <a:extLst>
              <a:ext uri="{FF2B5EF4-FFF2-40B4-BE49-F238E27FC236}">
                <a16:creationId xmlns:a16="http://schemas.microsoft.com/office/drawing/2014/main" id="{AE773392-7938-565A-3E09-C0E8A352E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1588" y="1524000"/>
            <a:ext cx="0" cy="440055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6" name="Line 144">
            <a:extLst>
              <a:ext uri="{FF2B5EF4-FFF2-40B4-BE49-F238E27FC236}">
                <a16:creationId xmlns:a16="http://schemas.microsoft.com/office/drawing/2014/main" id="{FBF04F42-FA1C-4CEB-0E87-DEDB2EF61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0488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7" name="Line 145">
            <a:extLst>
              <a:ext uri="{FF2B5EF4-FFF2-40B4-BE49-F238E27FC236}">
                <a16:creationId xmlns:a16="http://schemas.microsoft.com/office/drawing/2014/main" id="{6D43D128-F577-05F1-C229-530512C16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8100" tIns="19050" rIns="38100" bIns="19050" anchor="ctr" anchorCtr="1"/>
          <a:lstStyle/>
          <a:p>
            <a:endParaRPr lang="en-GB"/>
          </a:p>
        </p:txBody>
      </p:sp>
      <p:sp>
        <p:nvSpPr>
          <p:cNvPr id="361618" name="Line 146">
            <a:extLst>
              <a:ext uri="{FF2B5EF4-FFF2-40B4-BE49-F238E27FC236}">
                <a16:creationId xmlns:a16="http://schemas.microsoft.com/office/drawing/2014/main" id="{AD027EC4-8661-700F-13BA-0C59C5D5B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5611813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19" name="Line 147">
            <a:extLst>
              <a:ext uri="{FF2B5EF4-FFF2-40B4-BE49-F238E27FC236}">
                <a16:creationId xmlns:a16="http://schemas.microsoft.com/office/drawing/2014/main" id="{27439257-75B2-2D5A-95AD-05B9CC35C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3638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0" name="Line 148">
            <a:extLst>
              <a:ext uri="{FF2B5EF4-FFF2-40B4-BE49-F238E27FC236}">
                <a16:creationId xmlns:a16="http://schemas.microsoft.com/office/drawing/2014/main" id="{14CB82F6-F50E-A20E-39F3-4A11047BF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5300663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1" name="Line 149">
            <a:extLst>
              <a:ext uri="{FF2B5EF4-FFF2-40B4-BE49-F238E27FC236}">
                <a16:creationId xmlns:a16="http://schemas.microsoft.com/office/drawing/2014/main" id="{7A56191D-842A-9A67-4E5E-82C7DC791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6163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2" name="Line 150">
            <a:extLst>
              <a:ext uri="{FF2B5EF4-FFF2-40B4-BE49-F238E27FC236}">
                <a16:creationId xmlns:a16="http://schemas.microsoft.com/office/drawing/2014/main" id="{927AF7DB-EE0C-A0AE-08B1-355F7E861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225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3" name="Line 151">
            <a:extLst>
              <a:ext uri="{FF2B5EF4-FFF2-40B4-BE49-F238E27FC236}">
                <a16:creationId xmlns:a16="http://schemas.microsoft.com/office/drawing/2014/main" id="{77D2FC92-F740-33D6-7BA1-42283F0F6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8288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4" name="Line 152">
            <a:extLst>
              <a:ext uri="{FF2B5EF4-FFF2-40B4-BE49-F238E27FC236}">
                <a16:creationId xmlns:a16="http://schemas.microsoft.com/office/drawing/2014/main" id="{D3D069E8-DC7C-F322-F0EA-56905C64C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2373313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5" name="Line 153">
            <a:extLst>
              <a:ext uri="{FF2B5EF4-FFF2-40B4-BE49-F238E27FC236}">
                <a16:creationId xmlns:a16="http://schemas.microsoft.com/office/drawing/2014/main" id="{8F0D7861-2BC9-E59C-90EA-1C4BB3765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4678363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6" name="Line 154">
            <a:extLst>
              <a:ext uri="{FF2B5EF4-FFF2-40B4-BE49-F238E27FC236}">
                <a16:creationId xmlns:a16="http://schemas.microsoft.com/office/drawing/2014/main" id="{CBA62AD2-97A1-C792-0CF1-AECF0A92B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4987925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7" name="Line 155">
            <a:extLst>
              <a:ext uri="{FF2B5EF4-FFF2-40B4-BE49-F238E27FC236}">
                <a16:creationId xmlns:a16="http://schemas.microsoft.com/office/drawing/2014/main" id="{A0EFAAB8-EBED-E1B0-68F3-99B158AE8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2997200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8" name="Line 156">
            <a:extLst>
              <a:ext uri="{FF2B5EF4-FFF2-40B4-BE49-F238E27FC236}">
                <a16:creationId xmlns:a16="http://schemas.microsoft.com/office/drawing/2014/main" id="{2450C7E6-7ACF-D2AF-9897-5564599F7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0725" y="1524000"/>
            <a:ext cx="0" cy="44005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1629" name="Line 157">
            <a:extLst>
              <a:ext uri="{FF2B5EF4-FFF2-40B4-BE49-F238E27FC236}">
                <a16:creationId xmlns:a16="http://schemas.microsoft.com/office/drawing/2014/main" id="{CFA49DC5-FA64-21E4-85B3-8AE685DB28BE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788" y="3935413"/>
            <a:ext cx="79248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79A95B1-D58B-79B5-7E35-D329579D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D9644C0-BFE6-FBE7-3DD9-5E60B841A8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133055-DA51-442E-951E-1A165A35790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77506" name="Rectangle 2">
            <a:extLst>
              <a:ext uri="{FF2B5EF4-FFF2-40B4-BE49-F238E27FC236}">
                <a16:creationId xmlns:a16="http://schemas.microsoft.com/office/drawing/2014/main" id="{7D3513F6-E868-5ABE-5AC7-8E4EF0B6A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Standard ML</a:t>
            </a:r>
            <a:endParaRPr lang="en-US" altLang="en-US"/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369852D0-8BE2-2236-68CB-F670932D8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3200"/>
              <a:t>Simple Constructs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Structured Datatypes (Records, Unions)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Functions as Values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Statically, Strongly Typed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Garbage Collected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Compiled</a:t>
            </a:r>
          </a:p>
          <a:p>
            <a:pPr>
              <a:lnSpc>
                <a:spcPct val="90000"/>
              </a:lnSpc>
            </a:pPr>
            <a:endParaRPr lang="en-GB" altLang="en-US" sz="3200"/>
          </a:p>
          <a:p>
            <a:pPr>
              <a:lnSpc>
                <a:spcPct val="90000"/>
              </a:lnSpc>
            </a:pPr>
            <a:r>
              <a:rPr lang="en-GB" altLang="en-US" sz="3200"/>
              <a:t>Explicit and Clear but not Verbose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Type Inference the Key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9D877EF-776C-F9DE-A530-E13414F3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E80EE95-EEA5-2409-7A81-C745CECC66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2AE22B-814A-412B-86DE-48DE9CE8D50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78530" name="Rectangle 2">
            <a:extLst>
              <a:ext uri="{FF2B5EF4-FFF2-40B4-BE49-F238E27FC236}">
                <a16:creationId xmlns:a16="http://schemas.microsoft.com/office/drawing/2014/main" id="{FEF2FA36-6FFF-713C-9B7F-A80661653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Haskell</a:t>
            </a:r>
            <a:endParaRPr lang="en-US" altLang="en-US"/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3524C492-80CD-9483-6495-CD235808D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3200"/>
              <a:t>Similar Features to ML, Plus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Delayed, “Pure” computations the norm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Amazing optimizations possible</a:t>
            </a:r>
          </a:p>
          <a:p>
            <a:pPr>
              <a:lnSpc>
                <a:spcPct val="90000"/>
              </a:lnSpc>
            </a:pPr>
            <a:r>
              <a:rPr lang="en-GB" altLang="en-US" sz="3200"/>
              <a:t>Programs as Mathematics, excellent for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Component specifications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Translation tools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Testing</a:t>
            </a:r>
          </a:p>
          <a:p>
            <a:pPr>
              <a:lnSpc>
                <a:spcPct val="90000"/>
              </a:lnSpc>
            </a:pPr>
            <a:r>
              <a:rPr lang="en-GB" altLang="en-US" sz="3200"/>
              <a:t>Explicit, Simple, Clear but not Verbose</a:t>
            </a:r>
          </a:p>
          <a:p>
            <a:pPr lvl="1">
              <a:lnSpc>
                <a:spcPct val="90000"/>
              </a:lnSpc>
            </a:pPr>
            <a:r>
              <a:rPr lang="en-GB" altLang="en-US" sz="2800"/>
              <a:t>Type Inference the Key</a:t>
            </a:r>
          </a:p>
          <a:p>
            <a:pPr lvl="1">
              <a:lnSpc>
                <a:spcPct val="90000"/>
              </a:lnSpc>
            </a:pPr>
            <a:endParaRPr lang="en-GB" altLang="en-US" sz="28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4CC326-5A70-184E-2599-6F3DF348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4124614-301C-B585-E590-25335C29EA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4418-C8DD-4F9C-9C45-F5BEBF012DF4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292866" name="Rectangle 2">
            <a:extLst>
              <a:ext uri="{FF2B5EF4-FFF2-40B4-BE49-F238E27FC236}">
                <a16:creationId xmlns:a16="http://schemas.microsoft.com/office/drawing/2014/main" id="{52EBEF28-2FCA-C847-922C-5D8AF9293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Polyphonic C#</a:t>
            </a:r>
            <a:endParaRPr lang="en-US" altLang="en-US"/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8F219772-4CD8-2DB0-2151-2FBDCA987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Language-level support for concurrency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Clearer code and programmer intent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Easier tool-based analysis for</a:t>
            </a:r>
            <a:r>
              <a:rPr lang="en-GB" altLang="en-US">
                <a:solidFill>
                  <a:srgbClr val="000000"/>
                </a:solidFill>
              </a:rPr>
              <a:t> </a:t>
            </a:r>
            <a:r>
              <a:rPr lang="en-US" altLang="en-US">
                <a:solidFill>
                  <a:srgbClr val="000000"/>
                </a:solidFill>
              </a:rPr>
              <a:t>concurrency/orchestration bugs</a:t>
            </a:r>
          </a:p>
          <a:p>
            <a:r>
              <a:rPr lang="en-US" altLang="en-US">
                <a:solidFill>
                  <a:srgbClr val="000000"/>
                </a:solidFill>
              </a:rPr>
              <a:t>Design for modern concurrency needs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Handling multiple async messages/events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Facilitating and optimizing thread use</a:t>
            </a:r>
          </a:p>
          <a:p>
            <a:r>
              <a:rPr lang="en-US" altLang="en-US">
                <a:solidFill>
                  <a:srgbClr val="000000"/>
                </a:solidFill>
              </a:rPr>
              <a:t>Moving beyond Java</a:t>
            </a:r>
            <a:endParaRPr lang="en-GB" altLang="en-US">
              <a:solidFill>
                <a:srgbClr val="000000"/>
              </a:solidFill>
            </a:endParaRPr>
          </a:p>
          <a:p>
            <a:pPr lvl="1"/>
            <a:r>
              <a:rPr lang="en-GB" altLang="en-US">
                <a:solidFill>
                  <a:srgbClr val="000000"/>
                </a:solidFill>
              </a:rPr>
              <a:t>G</a:t>
            </a:r>
            <a:r>
              <a:rPr lang="en-US" altLang="en-US">
                <a:solidFill>
                  <a:srgbClr val="000000"/>
                </a:solidFill>
              </a:rPr>
              <a:t>ain research mindshare</a:t>
            </a:r>
            <a:endParaRPr lang="en-GB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7147D93-F942-49A5-D73C-8E476D4D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5A84787-177C-2B31-72FA-B601CCDDBE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816C63-91B1-44ED-B7E3-2D062067110B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31778" name="Rectangle 2">
            <a:extLst>
              <a:ext uri="{FF2B5EF4-FFF2-40B4-BE49-F238E27FC236}">
                <a16:creationId xmlns:a16="http://schemas.microsoft.com/office/drawing/2014/main" id="{F1414446-7524-C045-C28D-1CEDB590A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382000" cy="641350"/>
          </a:xfrm>
        </p:spPr>
        <p:txBody>
          <a:bodyPr/>
          <a:lstStyle/>
          <a:p>
            <a:r>
              <a:rPr lang="en-GB" altLang="en-US"/>
              <a:t>An “Obvious” MSR Future Project</a:t>
            </a:r>
            <a:endParaRPr lang="en-US" altLang="en-US"/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701DBF96-5855-C67F-5F9E-0942FF541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GB" altLang="en-US"/>
              <a:t>Advanced, more ambitious EE implementation project;</a:t>
            </a:r>
          </a:p>
          <a:p>
            <a:pPr marL="914400" lvl="1" indent="-457200"/>
            <a:r>
              <a:rPr lang="en-GB" altLang="en-US"/>
              <a:t>Clearly should be MSR Redmond/CLR co-project;</a:t>
            </a:r>
          </a:p>
          <a:p>
            <a:pPr marL="914400" lvl="1" indent="-457200"/>
            <a:r>
              <a:rPr lang="en-GB" altLang="en-US"/>
              <a:t>2 year time scale, ~10 people?</a:t>
            </a:r>
          </a:p>
          <a:p>
            <a:pPr marL="914400" lvl="1" indent="-457200"/>
            <a:r>
              <a:rPr lang="en-GB" altLang="en-US"/>
              <a:t>Advanced development in nature</a:t>
            </a:r>
          </a:p>
          <a:p>
            <a:pPr marL="914400" lvl="1" indent="-457200"/>
            <a:r>
              <a:rPr lang="en-GB" altLang="en-US"/>
              <a:t>Must deliver faster, compatible implementation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97F7373-6BFC-1290-3291-30559F45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4A0FE44-9564-119C-14FA-AF511D7C04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EE5426-F383-4521-BB4C-4D995E4444B4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40994" name="Rectangle 2">
            <a:extLst>
              <a:ext uri="{FF2B5EF4-FFF2-40B4-BE49-F238E27FC236}">
                <a16:creationId xmlns:a16="http://schemas.microsoft.com/office/drawing/2014/main" id="{7FD8E253-83A6-D124-BAE1-326E26B27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Generics: Design Comparison</a:t>
            </a:r>
            <a:endParaRPr lang="en-US" altLang="en-US"/>
          </a:p>
        </p:txBody>
      </p:sp>
      <p:graphicFrame>
        <p:nvGraphicFramePr>
          <p:cNvPr id="340995" name="Group 3">
            <a:extLst>
              <a:ext uri="{FF2B5EF4-FFF2-40B4-BE49-F238E27FC236}">
                <a16:creationId xmlns:a16="http://schemas.microsoft.com/office/drawing/2014/main" id="{AFABBCE3-7399-0414-0BF9-B87B575237C4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676400"/>
          <a:ext cx="4800600" cy="3990975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91527476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9481964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23107152"/>
                    </a:ext>
                  </a:extLst>
                </a:gridCol>
              </a:tblGrid>
              <a:tr h="584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Java/C# via “Object”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C# with</a:t>
                      </a:r>
                      <a:b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Generics</a:t>
                      </a:r>
                      <a:endParaRPr kumimoji="0" lang="en-US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502173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Dynamic Load?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591880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List&lt;int&gt;?</a:t>
                      </a:r>
                      <a:b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Stack&lt;Date&gt;?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61073"/>
                  </a:ext>
                </a:extLst>
              </a:tr>
              <a:tr h="719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Efficiency (Alloc/Casts)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</a:t>
                      </a:r>
                      <a:b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Must allocate &amp; cast at runtime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318592"/>
                  </a:ext>
                </a:extLst>
              </a:tr>
              <a:tr h="6223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Efficiency</a:t>
                      </a:r>
                      <a:b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(Code Sharing)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78102"/>
                  </a:ext>
                </a:extLst>
              </a:tr>
              <a:tr h="6223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Can find errors at compile time?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 </a:t>
                      </a:r>
                      <a:b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</a:rPr>
                        <a:t>Runtime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515043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Ship without source?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38100" marT="19050" marB="190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bg2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GB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57509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612AF9E-02BF-360E-9CF4-ABF09E5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683B5AD-A5C8-6ECA-4366-922340147F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D699C9-7A0C-463C-A221-B950E098D8EC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54306" name="Rectangle 2">
            <a:extLst>
              <a:ext uri="{FF2B5EF4-FFF2-40B4-BE49-F238E27FC236}">
                <a16:creationId xmlns:a16="http://schemas.microsoft.com/office/drawing/2014/main" id="{5770979D-DBA8-76B0-1732-60DEA236C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14313"/>
            <a:ext cx="7723188" cy="579437"/>
          </a:xfrm>
        </p:spPr>
        <p:txBody>
          <a:bodyPr/>
          <a:lstStyle/>
          <a:p>
            <a:r>
              <a:rPr lang="en-GB" altLang="en-US" sz="3200"/>
              <a:t>P7: Our Place in the Dev. Strategy?</a:t>
            </a:r>
            <a:endParaRPr lang="en-GB" altLang="en-US"/>
          </a:p>
        </p:txBody>
      </p:sp>
      <p:sp>
        <p:nvSpPr>
          <p:cNvPr id="354307" name="Rectangle 3">
            <a:extLst>
              <a:ext uri="{FF2B5EF4-FFF2-40B4-BE49-F238E27FC236}">
                <a16:creationId xmlns:a16="http://schemas.microsoft.com/office/drawing/2014/main" id="{C70E60D4-4B89-AD6F-C4F8-A0CB97BEE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263" y="1433513"/>
            <a:ext cx="1284287" cy="595312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sz="3200">
                <a:solidFill>
                  <a:schemeClr val="bg1"/>
                </a:solidFill>
              </a:rPr>
              <a:t>Oracle</a:t>
            </a:r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354308" name="Rectangle 4">
            <a:extLst>
              <a:ext uri="{FF2B5EF4-FFF2-40B4-BE49-F238E27FC236}">
                <a16:creationId xmlns:a16="http://schemas.microsoft.com/office/drawing/2014/main" id="{862D98F1-DBCB-091E-AC0D-03A63B83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063" y="2271713"/>
            <a:ext cx="968375" cy="595312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sz="3200">
                <a:solidFill>
                  <a:schemeClr val="bg1"/>
                </a:solidFill>
              </a:rPr>
              <a:t>IBM</a:t>
            </a:r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354309" name="Rectangle 5">
            <a:extLst>
              <a:ext uri="{FF2B5EF4-FFF2-40B4-BE49-F238E27FC236}">
                <a16:creationId xmlns:a16="http://schemas.microsoft.com/office/drawing/2014/main" id="{D4ACE3A6-8820-C43C-0693-BBF1FE75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828800"/>
            <a:ext cx="1524000" cy="595313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GB" altLang="en-US" sz="3200">
                <a:solidFill>
                  <a:schemeClr val="bg1"/>
                </a:solidFill>
              </a:rPr>
              <a:t>Borland</a:t>
            </a:r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354310" name="Rectangle 6">
            <a:extLst>
              <a:ext uri="{FF2B5EF4-FFF2-40B4-BE49-F238E27FC236}">
                <a16:creationId xmlns:a16="http://schemas.microsoft.com/office/drawing/2014/main" id="{DED9272F-8585-D050-E3F0-4401A081B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962400"/>
            <a:ext cx="1050925" cy="382588"/>
          </a:xfrm>
          <a:prstGeom prst="rect">
            <a:avLst/>
          </a:prstGeom>
          <a:gradFill rotWithShape="0">
            <a:gsLst>
              <a:gs pos="0">
                <a:srgbClr val="996633"/>
              </a:gs>
              <a:gs pos="100000">
                <a:srgbClr val="996633">
                  <a:gamma/>
                  <a:shade val="46275"/>
                  <a:invGamma/>
                </a:srgbClr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sz="1800">
                <a:solidFill>
                  <a:schemeClr val="bg1"/>
                </a:solidFill>
              </a:rPr>
              <a:t>Teaching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54311" name="Rectangle 7">
            <a:extLst>
              <a:ext uri="{FF2B5EF4-FFF2-40B4-BE49-F238E27FC236}">
                <a16:creationId xmlns:a16="http://schemas.microsoft.com/office/drawing/2014/main" id="{FE65F02E-9301-9012-7460-A2CA80DA2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4876800"/>
            <a:ext cx="1038225" cy="382588"/>
          </a:xfrm>
          <a:prstGeom prst="rect">
            <a:avLst/>
          </a:prstGeom>
          <a:gradFill rotWithShape="0">
            <a:gsLst>
              <a:gs pos="0">
                <a:srgbClr val="996633"/>
              </a:gs>
              <a:gs pos="100000">
                <a:srgbClr val="996633">
                  <a:gamma/>
                  <a:shade val="46275"/>
                  <a:invGamma/>
                </a:srgbClr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sz="1800">
                <a:solidFill>
                  <a:schemeClr val="bg1"/>
                </a:solidFill>
              </a:rPr>
              <a:t>Research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54312" name="Rectangle 8">
            <a:extLst>
              <a:ext uri="{FF2B5EF4-FFF2-40B4-BE49-F238E27FC236}">
                <a16:creationId xmlns:a16="http://schemas.microsoft.com/office/drawing/2014/main" id="{A7D16F9D-D823-F4D0-2381-10C17CE58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4648200"/>
            <a:ext cx="936625" cy="657225"/>
          </a:xfrm>
          <a:prstGeom prst="rect">
            <a:avLst/>
          </a:prstGeom>
          <a:gradFill rotWithShape="0">
            <a:gsLst>
              <a:gs pos="0">
                <a:srgbClr val="996633"/>
              </a:gs>
              <a:gs pos="100000">
                <a:srgbClr val="996633">
                  <a:gamma/>
                  <a:shade val="46275"/>
                  <a:invGamma/>
                </a:srgbClr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sz="1800">
                <a:solidFill>
                  <a:schemeClr val="bg1"/>
                </a:solidFill>
              </a:rPr>
              <a:t>Small</a:t>
            </a:r>
            <a:br>
              <a:rPr lang="en-GB" altLang="en-US" sz="1800">
                <a:solidFill>
                  <a:schemeClr val="bg1"/>
                </a:solidFill>
              </a:rPr>
            </a:br>
            <a:r>
              <a:rPr lang="en-GB" altLang="en-US" sz="1800">
                <a:solidFill>
                  <a:schemeClr val="bg1"/>
                </a:solidFill>
              </a:rPr>
              <a:t>Projects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54313" name="Rectangle 9">
            <a:extLst>
              <a:ext uri="{FF2B5EF4-FFF2-40B4-BE49-F238E27FC236}">
                <a16:creationId xmlns:a16="http://schemas.microsoft.com/office/drawing/2014/main" id="{31A1BC3D-9F78-BB5F-A11F-A6074BA9E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5561013"/>
            <a:ext cx="949325" cy="382587"/>
          </a:xfrm>
          <a:prstGeom prst="rect">
            <a:avLst/>
          </a:prstGeom>
          <a:gradFill rotWithShape="0">
            <a:gsLst>
              <a:gs pos="0">
                <a:srgbClr val="996633"/>
              </a:gs>
              <a:gs pos="100000">
                <a:srgbClr val="996633">
                  <a:gamma/>
                  <a:shade val="46275"/>
                  <a:invGamma/>
                </a:srgbClr>
              </a:gs>
            </a:gsLst>
            <a:lin ang="5400000" scaled="1"/>
          </a:gra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GB" altLang="en-US" sz="1800">
                <a:solidFill>
                  <a:schemeClr val="bg1"/>
                </a:solidFill>
              </a:rPr>
              <a:t>Hackers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354314" name="Text Box 10">
            <a:extLst>
              <a:ext uri="{FF2B5EF4-FFF2-40B4-BE49-F238E27FC236}">
                <a16:creationId xmlns:a16="http://schemas.microsoft.com/office/drawing/2014/main" id="{3C535DCE-530B-C477-1272-02F6D306B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143000"/>
            <a:ext cx="996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800"/>
              <a:t>Business</a:t>
            </a:r>
            <a:br>
              <a:rPr lang="en-GB" altLang="en-US" sz="1800"/>
            </a:br>
            <a:r>
              <a:rPr lang="en-GB" altLang="en-US" sz="1800"/>
              <a:t>Objects</a:t>
            </a:r>
            <a:endParaRPr lang="en-US" altLang="en-US" sz="1800"/>
          </a:p>
        </p:txBody>
      </p:sp>
      <p:grpSp>
        <p:nvGrpSpPr>
          <p:cNvPr id="354315" name="Group 11">
            <a:extLst>
              <a:ext uri="{FF2B5EF4-FFF2-40B4-BE49-F238E27FC236}">
                <a16:creationId xmlns:a16="http://schemas.microsoft.com/office/drawing/2014/main" id="{F229BE24-D7FA-4254-5E86-A1F144E0F213}"/>
              </a:ext>
            </a:extLst>
          </p:cNvPr>
          <p:cNvGrpSpPr>
            <a:grpSpLocks/>
          </p:cNvGrpSpPr>
          <p:nvPr/>
        </p:nvGrpSpPr>
        <p:grpSpPr bwMode="auto">
          <a:xfrm>
            <a:off x="1660525" y="3429000"/>
            <a:ext cx="2835275" cy="2119313"/>
            <a:chOff x="1046" y="2160"/>
            <a:chExt cx="1786" cy="1335"/>
          </a:xfrm>
        </p:grpSpPr>
        <p:sp>
          <p:nvSpPr>
            <p:cNvPr id="354316" name="Text Box 12">
              <a:extLst>
                <a:ext uri="{FF2B5EF4-FFF2-40B4-BE49-F238E27FC236}">
                  <a16:creationId xmlns:a16="http://schemas.microsoft.com/office/drawing/2014/main" id="{84450D7A-51EA-B2DF-A76D-9CDCFB890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3245"/>
              <a:ext cx="11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GB" altLang="en-US" sz="2000" b="1">
                  <a:solidFill>
                    <a:srgbClr val="808080"/>
                  </a:solidFill>
                  <a:latin typeface="Arial" panose="020B0604020202020204" pitchFamily="34" charset="0"/>
                </a:rPr>
                <a:t>Visual Studio</a:t>
              </a:r>
              <a:endParaRPr lang="en-US" altLang="en-US" sz="2000" b="1">
                <a:solidFill>
                  <a:srgbClr val="80808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4317" name="Text Box 13">
              <a:extLst>
                <a:ext uri="{FF2B5EF4-FFF2-40B4-BE49-F238E27FC236}">
                  <a16:creationId xmlns:a16="http://schemas.microsoft.com/office/drawing/2014/main" id="{764A034A-22C8-4C1B-6FBC-C24EAA54C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880"/>
              <a:ext cx="11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GB" altLang="en-US" sz="2000" b="1">
                  <a:solidFill>
                    <a:srgbClr val="808080"/>
                  </a:solidFill>
                  <a:latin typeface="Arial" panose="020B0604020202020204" pitchFamily="34" charset="0"/>
                </a:rPr>
                <a:t>WebServices</a:t>
              </a:r>
              <a:endParaRPr lang="en-US" altLang="en-US" sz="2000" b="1">
                <a:solidFill>
                  <a:srgbClr val="80808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4318" name="Text Box 14">
              <a:extLst>
                <a:ext uri="{FF2B5EF4-FFF2-40B4-BE49-F238E27FC236}">
                  <a16:creationId xmlns:a16="http://schemas.microsoft.com/office/drawing/2014/main" id="{05A53E2B-8230-EDAF-95C3-87EC643C9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160"/>
              <a:ext cx="10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r>
                <a:rPr lang="en-GB" altLang="en-US" sz="2000" b="1">
                  <a:solidFill>
                    <a:srgbClr val="808080"/>
                  </a:solidFill>
                  <a:latin typeface="Arial" panose="020B0604020202020204" pitchFamily="34" charset="0"/>
                </a:rPr>
                <a:t>DevOffense</a:t>
              </a:r>
              <a:endParaRPr lang="en-US" altLang="en-US" sz="2000" b="1">
                <a:solidFill>
                  <a:srgbClr val="80808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4319" name="AutoShape 15">
              <a:extLst>
                <a:ext uri="{FF2B5EF4-FFF2-40B4-BE49-F238E27FC236}">
                  <a16:creationId xmlns:a16="http://schemas.microsoft.com/office/drawing/2014/main" id="{9D383BFC-F91E-C4A9-286C-11E823F963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23026">
              <a:off x="2208" y="2784"/>
              <a:ext cx="624" cy="288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chemeClr val="accent1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</p:grpSp>
      <p:grpSp>
        <p:nvGrpSpPr>
          <p:cNvPr id="354320" name="Group 16">
            <a:extLst>
              <a:ext uri="{FF2B5EF4-FFF2-40B4-BE49-F238E27FC236}">
                <a16:creationId xmlns:a16="http://schemas.microsoft.com/office/drawing/2014/main" id="{E27CDDEE-FC6D-AB0F-B56D-8B39EE67A498}"/>
              </a:ext>
            </a:extLst>
          </p:cNvPr>
          <p:cNvGrpSpPr>
            <a:grpSpLocks/>
          </p:cNvGrpSpPr>
          <p:nvPr/>
        </p:nvGrpSpPr>
        <p:grpSpPr bwMode="auto">
          <a:xfrm>
            <a:off x="0" y="1368425"/>
            <a:ext cx="9004300" cy="4179888"/>
            <a:chOff x="0" y="862"/>
            <a:chExt cx="5672" cy="2633"/>
          </a:xfrm>
        </p:grpSpPr>
        <p:sp>
          <p:nvSpPr>
            <p:cNvPr id="354321" name="Text Box 17">
              <a:extLst>
                <a:ext uri="{FF2B5EF4-FFF2-40B4-BE49-F238E27FC236}">
                  <a16:creationId xmlns:a16="http://schemas.microsoft.com/office/drawing/2014/main" id="{68677AAA-B603-0BC1-E1CC-C201C3C0A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3" y="862"/>
              <a:ext cx="5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pPr algn="l"/>
              <a:r>
                <a:rPr lang="en-GB" altLang="en-US" sz="1800"/>
                <a:t>Delphi</a:t>
              </a:r>
              <a:endParaRPr lang="en-US" altLang="en-US" sz="1800"/>
            </a:p>
          </p:txBody>
        </p:sp>
        <p:sp>
          <p:nvSpPr>
            <p:cNvPr id="354322" name="Text Box 18">
              <a:extLst>
                <a:ext uri="{FF2B5EF4-FFF2-40B4-BE49-F238E27FC236}">
                  <a16:creationId xmlns:a16="http://schemas.microsoft.com/office/drawing/2014/main" id="{6762E173-5CFF-314F-43A8-1B33D3B0C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7" y="1246"/>
              <a:ext cx="3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pPr algn="l"/>
              <a:r>
                <a:rPr lang="en-GB" altLang="en-US" sz="1800"/>
                <a:t>Java</a:t>
              </a:r>
              <a:endParaRPr lang="en-US" altLang="en-US" sz="1800"/>
            </a:p>
          </p:txBody>
        </p:sp>
        <p:sp>
          <p:nvSpPr>
            <p:cNvPr id="354323" name="Text Box 19">
              <a:extLst>
                <a:ext uri="{FF2B5EF4-FFF2-40B4-BE49-F238E27FC236}">
                  <a16:creationId xmlns:a16="http://schemas.microsoft.com/office/drawing/2014/main" id="{D91E4B67-EFF1-2795-1CF7-5DF584948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" y="1536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pPr algn="l"/>
              <a:r>
                <a:rPr lang="en-GB" altLang="en-US" sz="1800"/>
                <a:t>VB</a:t>
              </a:r>
              <a:endParaRPr lang="en-US" altLang="en-US" sz="1800"/>
            </a:p>
          </p:txBody>
        </p:sp>
        <p:sp>
          <p:nvSpPr>
            <p:cNvPr id="354324" name="Text Box 20">
              <a:extLst>
                <a:ext uri="{FF2B5EF4-FFF2-40B4-BE49-F238E27FC236}">
                  <a16:creationId xmlns:a16="http://schemas.microsoft.com/office/drawing/2014/main" id="{5AD04DC1-9F03-62E4-A643-6280865CE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872"/>
              <a:ext cx="3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Ctr="1">
              <a:spAutoFit/>
            </a:bodyPr>
            <a:lstStyle/>
            <a:p>
              <a:pPr algn="l"/>
              <a:r>
                <a:rPr lang="en-GB" altLang="en-US" sz="1800"/>
                <a:t>C++</a:t>
              </a:r>
              <a:endParaRPr lang="en-US" altLang="en-US" sz="1800"/>
            </a:p>
          </p:txBody>
        </p:sp>
        <p:grpSp>
          <p:nvGrpSpPr>
            <p:cNvPr id="354325" name="Group 21">
              <a:extLst>
                <a:ext uri="{FF2B5EF4-FFF2-40B4-BE49-F238E27FC236}">
                  <a16:creationId xmlns:a16="http://schemas.microsoft.com/office/drawing/2014/main" id="{7EDA71BD-0A82-DE2D-245F-8BC86DD64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112"/>
              <a:ext cx="5672" cy="1383"/>
              <a:chOff x="0" y="2112"/>
              <a:chExt cx="5672" cy="1383"/>
            </a:xfrm>
          </p:grpSpPr>
          <p:sp>
            <p:nvSpPr>
              <p:cNvPr id="354326" name="Text Box 22">
                <a:extLst>
                  <a:ext uri="{FF2B5EF4-FFF2-40B4-BE49-F238E27FC236}">
                    <a16:creationId xmlns:a16="http://schemas.microsoft.com/office/drawing/2014/main" id="{C3C94EBB-51F4-7206-91E8-E29B626A8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2208"/>
                <a:ext cx="5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Ctr="1">
                <a:spAutoFit/>
              </a:bodyPr>
              <a:lstStyle/>
              <a:p>
                <a:pPr algn="l"/>
                <a:r>
                  <a:rPr lang="en-GB" altLang="en-US" sz="1800"/>
                  <a:t>Scheme</a:t>
                </a:r>
                <a:endParaRPr lang="en-US" altLang="en-US" sz="1800"/>
              </a:p>
            </p:txBody>
          </p:sp>
          <p:sp>
            <p:nvSpPr>
              <p:cNvPr id="354327" name="Text Box 23">
                <a:extLst>
                  <a:ext uri="{FF2B5EF4-FFF2-40B4-BE49-F238E27FC236}">
                    <a16:creationId xmlns:a16="http://schemas.microsoft.com/office/drawing/2014/main" id="{98E44B3B-8B6C-4F81-E375-39A186CE55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0" y="2496"/>
                <a:ext cx="8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Ctr="1">
                <a:spAutoFit/>
              </a:bodyPr>
              <a:lstStyle/>
              <a:p>
                <a:pPr algn="l"/>
                <a:r>
                  <a:rPr lang="en-GB" altLang="en-US" sz="1800"/>
                  <a:t>Standard ML</a:t>
                </a:r>
                <a:endParaRPr lang="en-US" altLang="en-US" sz="1800"/>
              </a:p>
            </p:txBody>
          </p:sp>
          <p:sp>
            <p:nvSpPr>
              <p:cNvPr id="354328" name="Text Box 24">
                <a:extLst>
                  <a:ext uri="{FF2B5EF4-FFF2-40B4-BE49-F238E27FC236}">
                    <a16:creationId xmlns:a16="http://schemas.microsoft.com/office/drawing/2014/main" id="{F0942280-B62A-3181-1772-B820BB56F5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112"/>
                <a:ext cx="4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Ctr="1">
                <a:spAutoFit/>
              </a:bodyPr>
              <a:lstStyle/>
              <a:p>
                <a:pPr algn="l"/>
                <a:r>
                  <a:rPr lang="en-GB" altLang="en-US" sz="1800"/>
                  <a:t>Pascal</a:t>
                </a:r>
                <a:endParaRPr lang="en-US" altLang="en-US" sz="1800"/>
              </a:p>
            </p:txBody>
          </p:sp>
          <p:sp>
            <p:nvSpPr>
              <p:cNvPr id="354329" name="Text Box 25">
                <a:extLst>
                  <a:ext uri="{FF2B5EF4-FFF2-40B4-BE49-F238E27FC236}">
                    <a16:creationId xmlns:a16="http://schemas.microsoft.com/office/drawing/2014/main" id="{1D1C559D-74C6-E08A-5C48-84D14FD9A0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8" y="2928"/>
                <a:ext cx="3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Ctr="1">
                <a:spAutoFit/>
              </a:bodyPr>
              <a:lstStyle/>
              <a:p>
                <a:pPr algn="l"/>
                <a:r>
                  <a:rPr lang="en-GB" altLang="en-US" sz="1800"/>
                  <a:t>Perl</a:t>
                </a:r>
                <a:endParaRPr lang="en-US" altLang="en-US" sz="1800"/>
              </a:p>
            </p:txBody>
          </p:sp>
          <p:sp>
            <p:nvSpPr>
              <p:cNvPr id="354330" name="Text Box 26">
                <a:extLst>
                  <a:ext uri="{FF2B5EF4-FFF2-40B4-BE49-F238E27FC236}">
                    <a16:creationId xmlns:a16="http://schemas.microsoft.com/office/drawing/2014/main" id="{B597E908-19B5-E97B-A674-5076CF02B8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6" y="3264"/>
                <a:ext cx="5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Ctr="1">
                <a:spAutoFit/>
              </a:bodyPr>
              <a:lstStyle/>
              <a:p>
                <a:pPr algn="l"/>
                <a:r>
                  <a:rPr lang="en-GB" altLang="en-US" sz="1800"/>
                  <a:t>Python</a:t>
                </a:r>
                <a:endParaRPr lang="en-US" altLang="en-US" sz="1800"/>
              </a:p>
            </p:txBody>
          </p:sp>
          <p:sp>
            <p:nvSpPr>
              <p:cNvPr id="354331" name="Text Box 27">
                <a:extLst>
                  <a:ext uri="{FF2B5EF4-FFF2-40B4-BE49-F238E27FC236}">
                    <a16:creationId xmlns:a16="http://schemas.microsoft.com/office/drawing/2014/main" id="{8DFC89BB-13BE-F4F9-B43B-6D6FEEF9AB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2" y="2928"/>
                <a:ext cx="58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Ctr="1">
                <a:spAutoFit/>
              </a:bodyPr>
              <a:lstStyle/>
              <a:p>
                <a:pPr algn="l"/>
                <a:r>
                  <a:rPr lang="en-GB" altLang="en-US" sz="1800"/>
                  <a:t>O’Caml</a:t>
                </a:r>
                <a:endParaRPr lang="en-US" altLang="en-US" sz="1800"/>
              </a:p>
            </p:txBody>
          </p:sp>
          <p:sp>
            <p:nvSpPr>
              <p:cNvPr id="354332" name="Text Box 28">
                <a:extLst>
                  <a:ext uri="{FF2B5EF4-FFF2-40B4-BE49-F238E27FC236}">
                    <a16:creationId xmlns:a16="http://schemas.microsoft.com/office/drawing/2014/main" id="{1A8A9966-9B38-65DA-7872-FD964EBB53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496"/>
                <a:ext cx="32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Ctr="1">
                <a:spAutoFit/>
              </a:bodyPr>
              <a:lstStyle/>
              <a:p>
                <a:r>
                  <a:rPr lang="en-GB" altLang="en-US" sz="2000" b="1">
                    <a:latin typeface="Arial" panose="020B0604020202020204" pitchFamily="34" charset="0"/>
                  </a:rPr>
                  <a:t>Multi-language Programming</a:t>
                </a:r>
                <a:endParaRPr lang="en-US" altLang="en-US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354333" name="Freeform 29">
                <a:extLst>
                  <a:ext uri="{FF2B5EF4-FFF2-40B4-BE49-F238E27FC236}">
                    <a16:creationId xmlns:a16="http://schemas.microsoft.com/office/drawing/2014/main" id="{4AB5D7E2-AFBA-98E0-4C4C-05642E45B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" y="2440"/>
                <a:ext cx="2528" cy="400"/>
              </a:xfrm>
              <a:custGeom>
                <a:avLst/>
                <a:gdLst>
                  <a:gd name="T0" fmla="*/ 320 w 2528"/>
                  <a:gd name="T1" fmla="*/ 8 h 400"/>
                  <a:gd name="T2" fmla="*/ 32 w 2528"/>
                  <a:gd name="T3" fmla="*/ 104 h 400"/>
                  <a:gd name="T4" fmla="*/ 128 w 2528"/>
                  <a:gd name="T5" fmla="*/ 344 h 400"/>
                  <a:gd name="T6" fmla="*/ 656 w 2528"/>
                  <a:gd name="T7" fmla="*/ 344 h 400"/>
                  <a:gd name="T8" fmla="*/ 1568 w 2528"/>
                  <a:gd name="T9" fmla="*/ 392 h 400"/>
                  <a:gd name="T10" fmla="*/ 2384 w 2528"/>
                  <a:gd name="T11" fmla="*/ 296 h 400"/>
                  <a:gd name="T12" fmla="*/ 2432 w 2528"/>
                  <a:gd name="T13" fmla="*/ 56 h 400"/>
                  <a:gd name="T14" fmla="*/ 1856 w 2528"/>
                  <a:gd name="T15" fmla="*/ 8 h 400"/>
                  <a:gd name="T16" fmla="*/ 1280 w 2528"/>
                  <a:gd name="T17" fmla="*/ 8 h 400"/>
                  <a:gd name="T18" fmla="*/ 752 w 2528"/>
                  <a:gd name="T19" fmla="*/ 8 h 400"/>
                  <a:gd name="T20" fmla="*/ 272 w 2528"/>
                  <a:gd name="T21" fmla="*/ 8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28" h="400">
                    <a:moveTo>
                      <a:pt x="320" y="8"/>
                    </a:moveTo>
                    <a:cubicBezTo>
                      <a:pt x="192" y="28"/>
                      <a:pt x="64" y="48"/>
                      <a:pt x="32" y="104"/>
                    </a:cubicBezTo>
                    <a:cubicBezTo>
                      <a:pt x="0" y="160"/>
                      <a:pt x="24" y="304"/>
                      <a:pt x="128" y="344"/>
                    </a:cubicBezTo>
                    <a:cubicBezTo>
                      <a:pt x="232" y="384"/>
                      <a:pt x="416" y="336"/>
                      <a:pt x="656" y="344"/>
                    </a:cubicBezTo>
                    <a:cubicBezTo>
                      <a:pt x="896" y="352"/>
                      <a:pt x="1280" y="400"/>
                      <a:pt x="1568" y="392"/>
                    </a:cubicBezTo>
                    <a:cubicBezTo>
                      <a:pt x="1856" y="384"/>
                      <a:pt x="2240" y="352"/>
                      <a:pt x="2384" y="296"/>
                    </a:cubicBezTo>
                    <a:cubicBezTo>
                      <a:pt x="2528" y="240"/>
                      <a:pt x="2520" y="104"/>
                      <a:pt x="2432" y="56"/>
                    </a:cubicBezTo>
                    <a:cubicBezTo>
                      <a:pt x="2344" y="8"/>
                      <a:pt x="2048" y="16"/>
                      <a:pt x="1856" y="8"/>
                    </a:cubicBezTo>
                    <a:cubicBezTo>
                      <a:pt x="1664" y="0"/>
                      <a:pt x="1464" y="8"/>
                      <a:pt x="1280" y="8"/>
                    </a:cubicBezTo>
                    <a:cubicBezTo>
                      <a:pt x="1096" y="8"/>
                      <a:pt x="920" y="8"/>
                      <a:pt x="752" y="8"/>
                    </a:cubicBezTo>
                    <a:cubicBezTo>
                      <a:pt x="584" y="8"/>
                      <a:pt x="360" y="0"/>
                      <a:pt x="272" y="8"/>
                    </a:cubicBezTo>
                  </a:path>
                </a:pathLst>
              </a:custGeom>
              <a:noFill/>
              <a:ln w="158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Ctr="1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354334" name="Text Box 30">
            <a:extLst>
              <a:ext uri="{FF2B5EF4-FFF2-40B4-BE49-F238E27FC236}">
                <a16:creationId xmlns:a16="http://schemas.microsoft.com/office/drawing/2014/main" id="{91E4AE16-549A-3E56-FFA0-7DE53C54E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2514600"/>
            <a:ext cx="1663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pPr algn="l"/>
            <a:r>
              <a:rPr lang="en-GB" altLang="en-US" sz="1800"/>
              <a:t>Multi-Tier Arch</a:t>
            </a:r>
            <a:endParaRPr lang="en-US" altLang="en-US" sz="1800"/>
          </a:p>
        </p:txBody>
      </p:sp>
      <p:sp>
        <p:nvSpPr>
          <p:cNvPr id="354335" name="Text Box 31">
            <a:extLst>
              <a:ext uri="{FF2B5EF4-FFF2-40B4-BE49-F238E27FC236}">
                <a16:creationId xmlns:a16="http://schemas.microsoft.com/office/drawing/2014/main" id="{E7953677-F039-CEE5-4281-A938F9ED5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3" y="2743200"/>
            <a:ext cx="403383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r>
              <a:rPr lang="en-GB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“T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he programming languages that I </a:t>
            </a:r>
            <a:r>
              <a:rPr lang="en-GB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must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actually</a:t>
            </a:r>
            <a:br>
              <a:rPr lang="en-GB" altLang="en-US" sz="1400" i="1">
                <a:solidFill>
                  <a:schemeClr val="bg2"/>
                </a:solidFill>
                <a:latin typeface="Arial" panose="020B0604020202020204" pitchFamily="34" charset="0"/>
              </a:rPr>
            </a:b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use, I don't like; the ones I like, I can't use</a:t>
            </a:r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.</a:t>
            </a:r>
            <a:r>
              <a:rPr lang="en-GB" altLang="en-US" sz="1400">
                <a:solidFill>
                  <a:schemeClr val="bg2"/>
                </a:solidFill>
                <a:latin typeface="Arial" panose="020B0604020202020204" pitchFamily="34" charset="0"/>
              </a:rPr>
              <a:t>”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719EB30-534D-6A5C-95A8-36AF9511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0A3D588-54C8-1428-D2EC-CA691679E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456CC6-DBF4-43BA-9700-F734ADA85488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C156009B-5307-191D-6736-D2942A926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Project 7: The Opportunity</a:t>
            </a:r>
            <a:endParaRPr lang="en-US" altLang="en-US"/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253FFC82-6C79-ECD3-7515-639851CE5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GB" altLang="en-US" sz="2000"/>
          </a:p>
          <a:p>
            <a:pPr lvl="1"/>
            <a:endParaRPr lang="en-GB" altLang="en-US" sz="1800"/>
          </a:p>
          <a:p>
            <a:r>
              <a:rPr lang="en-GB" altLang="en-US"/>
              <a:t>This attitude is very common: academics, students, hackers, “small-project” users, MSR researchers, MS devs....</a:t>
            </a:r>
          </a:p>
          <a:p>
            <a:pPr lvl="1"/>
            <a:r>
              <a:rPr lang="en-GB" altLang="en-US"/>
              <a:t>But .NET </a:t>
            </a:r>
            <a:r>
              <a:rPr lang="en-GB" altLang="en-US" i="1"/>
              <a:t>can</a:t>
            </a:r>
            <a:r>
              <a:rPr lang="en-GB" altLang="en-US"/>
              <a:t> run these languages</a:t>
            </a:r>
          </a:p>
          <a:p>
            <a:pPr lvl="1"/>
            <a:r>
              <a:rPr lang="en-GB" altLang="en-US"/>
              <a:t>It must be seen to do this at RTM</a:t>
            </a:r>
          </a:p>
          <a:p>
            <a:r>
              <a:rPr lang="en-GB" altLang="en-US"/>
              <a:t>The aims:</a:t>
            </a:r>
          </a:p>
          <a:p>
            <a:pPr lvl="1"/>
            <a:r>
              <a:rPr lang="en-GB" altLang="en-US"/>
              <a:t>Academic, student, researcher, small project uptake of .NET teaching languages</a:t>
            </a:r>
          </a:p>
        </p:txBody>
      </p:sp>
      <p:sp>
        <p:nvSpPr>
          <p:cNvPr id="346116" name="Text Box 4">
            <a:extLst>
              <a:ext uri="{FF2B5EF4-FFF2-40B4-BE49-F238E27FC236}">
                <a16:creationId xmlns:a16="http://schemas.microsoft.com/office/drawing/2014/main" id="{CAD6D77E-24FF-1758-3F96-1EEDDBB2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219200"/>
            <a:ext cx="6162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Ctr="1">
            <a:spAutoFit/>
          </a:bodyPr>
          <a:lstStyle/>
          <a:p>
            <a:r>
              <a:rPr lang="en-GB" altLang="en-US" sz="2000" b="1" i="1">
                <a:solidFill>
                  <a:schemeClr val="bg2"/>
                </a:solidFill>
                <a:latin typeface="Arial" panose="020B0604020202020204" pitchFamily="34" charset="0"/>
              </a:rPr>
              <a:t>“T</a:t>
            </a:r>
            <a:r>
              <a:rPr lang="en-US" altLang="en-US" sz="2000" b="1" i="1">
                <a:solidFill>
                  <a:schemeClr val="bg2"/>
                </a:solidFill>
                <a:latin typeface="Arial" panose="020B0604020202020204" pitchFamily="34" charset="0"/>
              </a:rPr>
              <a:t>he programming languages that I </a:t>
            </a:r>
            <a:r>
              <a:rPr lang="en-GB" altLang="en-US" sz="2000" b="1" i="1">
                <a:solidFill>
                  <a:schemeClr val="bg2"/>
                </a:solidFill>
                <a:latin typeface="Arial" panose="020B0604020202020204" pitchFamily="34" charset="0"/>
              </a:rPr>
              <a:t>must</a:t>
            </a:r>
            <a:r>
              <a:rPr lang="en-US" altLang="en-US" sz="2000" b="1" i="1">
                <a:solidFill>
                  <a:schemeClr val="bg2"/>
                </a:solidFill>
                <a:latin typeface="Arial" panose="020B0604020202020204" pitchFamily="34" charset="0"/>
              </a:rPr>
              <a:t> actually</a:t>
            </a:r>
            <a:br>
              <a:rPr lang="en-GB" altLang="en-US" sz="2000" b="1" i="1">
                <a:solidFill>
                  <a:schemeClr val="bg2"/>
                </a:solidFill>
                <a:latin typeface="Arial" panose="020B0604020202020204" pitchFamily="34" charset="0"/>
              </a:rPr>
            </a:br>
            <a:r>
              <a:rPr lang="en-US" altLang="en-US" sz="2000" b="1" i="1">
                <a:solidFill>
                  <a:schemeClr val="bg2"/>
                </a:solidFill>
                <a:latin typeface="Arial" panose="020B0604020202020204" pitchFamily="34" charset="0"/>
              </a:rPr>
              <a:t>use, I don't like; the ones I like, I can't use</a:t>
            </a:r>
            <a:r>
              <a:rPr lang="en-US" altLang="en-US" sz="2000" b="1">
                <a:solidFill>
                  <a:schemeClr val="bg2"/>
                </a:solidFill>
                <a:latin typeface="Arial" panose="020B0604020202020204" pitchFamily="34" charset="0"/>
              </a:rPr>
              <a:t>.</a:t>
            </a:r>
            <a:r>
              <a:rPr lang="en-GB" altLang="en-US" sz="2000" b="1">
                <a:solidFill>
                  <a:schemeClr val="bg2"/>
                </a:solidFill>
                <a:latin typeface="Arial" panose="020B0604020202020204" pitchFamily="34" charset="0"/>
              </a:rPr>
              <a:t>”</a:t>
            </a:r>
            <a:endParaRPr lang="en-US" altLang="en-US" sz="2000" b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013548B-E7B3-E6E1-FE35-924CC1D2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February </a:t>
            </a:r>
            <a:r>
              <a:rPr lang="en-GB" altLang="en-US"/>
              <a:t>9</a:t>
            </a:r>
            <a:r>
              <a:rPr lang="en-US" altLang="en-US"/>
              <a:t>, 2001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ED9085B-4784-4757-9225-E59E1DDDD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1197E9-7B95-4FF5-9D08-7471C957346F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47138" name="Rectangle 2">
            <a:extLst>
              <a:ext uri="{FF2B5EF4-FFF2-40B4-BE49-F238E27FC236}">
                <a16:creationId xmlns:a16="http://schemas.microsoft.com/office/drawing/2014/main" id="{E7E1D071-6B1C-A0C9-77BE-A9B3BEB03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8001000" cy="641350"/>
          </a:xfrm>
        </p:spPr>
        <p:txBody>
          <a:bodyPr/>
          <a:lstStyle/>
          <a:p>
            <a:r>
              <a:rPr lang="en-GB" altLang="en-US"/>
              <a:t>P7: Good News, Good Opportunity</a:t>
            </a:r>
            <a:endParaRPr lang="en-US" altLang="en-US"/>
          </a:p>
        </p:txBody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37591852-2620-B811-55D5-4A6D80FC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Good News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7 academic languages targeting .NET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Project 7 is in place and is a GREAT idea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VSIP is in place and is a GREAT idea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CLR technically good enough, esp. with V2 features </a:t>
            </a:r>
          </a:p>
          <a:p>
            <a:pPr>
              <a:lnSpc>
                <a:spcPct val="90000"/>
              </a:lnSpc>
            </a:pPr>
            <a:r>
              <a:rPr lang="en-GB" altLang="en-US"/>
              <a:t>The Opportunity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At the moment, they won’t be taken up for teaching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Better implementations would lead to greater uptake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Quality VSIP integration would lead to greater uptake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Ask the academics: what do you </a:t>
            </a:r>
            <a:r>
              <a:rPr lang="en-GB" altLang="en-US" i="1"/>
              <a:t>really </a:t>
            </a:r>
            <a:r>
              <a:rPr lang="en-GB" altLang="en-US"/>
              <a:t>need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academic-targeting-v3">
  <a:themeElements>
    <a:clrScheme name="">
      <a:dk1>
        <a:srgbClr val="080808"/>
      </a:dk1>
      <a:lt1>
        <a:srgbClr val="FFFFFF"/>
      </a:lt1>
      <a:dk2>
        <a:srgbClr val="000000"/>
      </a:dk2>
      <a:lt2>
        <a:srgbClr val="000000"/>
      </a:lt2>
      <a:accent1>
        <a:srgbClr val="3333CC"/>
      </a:accent1>
      <a:accent2>
        <a:srgbClr val="FF3300"/>
      </a:accent2>
      <a:accent3>
        <a:srgbClr val="FFFFFF"/>
      </a:accent3>
      <a:accent4>
        <a:srgbClr val="060606"/>
      </a:accent4>
      <a:accent5>
        <a:srgbClr val="ADADE2"/>
      </a:accent5>
      <a:accent6>
        <a:srgbClr val="E72D00"/>
      </a:accent6>
      <a:hlink>
        <a:srgbClr val="009900"/>
      </a:hlink>
      <a:folHlink>
        <a:srgbClr val="C0C0C0"/>
      </a:folHlink>
    </a:clrScheme>
    <a:fontScheme name="academic-targeting-v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1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academic-targeting-v3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8080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C0C0AA"/>
        </a:accent5>
        <a:accent6>
          <a:srgbClr val="B98A00"/>
        </a:accent6>
        <a:hlink>
          <a:srgbClr val="CC66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ademic-targeting-v3 2">
        <a:dk1>
          <a:srgbClr val="660033"/>
        </a:dk1>
        <a:lt1>
          <a:srgbClr val="FFFFFF"/>
        </a:lt1>
        <a:dk2>
          <a:srgbClr val="B60009"/>
        </a:dk2>
        <a:lt2>
          <a:srgbClr val="B2B2B2"/>
        </a:lt2>
        <a:accent1>
          <a:srgbClr val="CCCC00"/>
        </a:accent1>
        <a:accent2>
          <a:srgbClr val="DE9ABC"/>
        </a:accent2>
        <a:accent3>
          <a:srgbClr val="FFFFFF"/>
        </a:accent3>
        <a:accent4>
          <a:srgbClr val="56002A"/>
        </a:accent4>
        <a:accent5>
          <a:srgbClr val="E2E2AA"/>
        </a:accent5>
        <a:accent6>
          <a:srgbClr val="C98BAA"/>
        </a:accent6>
        <a:hlink>
          <a:srgbClr val="FFAFA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ademic-targeting-v3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8080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ademic-targeting-v3 4">
        <a:dk1>
          <a:srgbClr val="2C2C42"/>
        </a:dk1>
        <a:lt1>
          <a:srgbClr val="FFFFCC"/>
        </a:lt1>
        <a:dk2>
          <a:srgbClr val="666699"/>
        </a:dk2>
        <a:lt2>
          <a:srgbClr val="FFCC00"/>
        </a:lt2>
        <a:accent1>
          <a:srgbClr val="FF9933"/>
        </a:accent1>
        <a:accent2>
          <a:srgbClr val="808000"/>
        </a:accent2>
        <a:accent3>
          <a:srgbClr val="B8B8CA"/>
        </a:accent3>
        <a:accent4>
          <a:srgbClr val="DADAAE"/>
        </a:accent4>
        <a:accent5>
          <a:srgbClr val="FFCAAD"/>
        </a:accent5>
        <a:accent6>
          <a:srgbClr val="737300"/>
        </a:accent6>
        <a:hlink>
          <a:srgbClr val="CC6600"/>
        </a:hlink>
        <a:folHlink>
          <a:srgbClr val="33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ademic-targeting-v3 5">
        <a:dk1>
          <a:srgbClr val="50000F"/>
        </a:dk1>
        <a:lt1>
          <a:srgbClr val="FFCC00"/>
        </a:lt1>
        <a:dk2>
          <a:srgbClr val="800000"/>
        </a:dk2>
        <a:lt2>
          <a:srgbClr val="FFFFCC"/>
        </a:lt2>
        <a:accent1>
          <a:srgbClr val="808000"/>
        </a:accent1>
        <a:accent2>
          <a:srgbClr val="993366"/>
        </a:accent2>
        <a:accent3>
          <a:srgbClr val="C0AAAA"/>
        </a:accent3>
        <a:accent4>
          <a:srgbClr val="DAAE00"/>
        </a:accent4>
        <a:accent5>
          <a:srgbClr val="C0C0AA"/>
        </a:accent5>
        <a:accent6>
          <a:srgbClr val="8A2D5C"/>
        </a:accent6>
        <a:hlink>
          <a:srgbClr val="FF505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ademic-targeting-v3 6">
        <a:dk1>
          <a:srgbClr val="333300"/>
        </a:dk1>
        <a:lt1>
          <a:srgbClr val="FFCC00"/>
        </a:lt1>
        <a:dk2>
          <a:srgbClr val="666633"/>
        </a:dk2>
        <a:lt2>
          <a:srgbClr val="FFFFCC"/>
        </a:lt2>
        <a:accent1>
          <a:srgbClr val="8F7401"/>
        </a:accent1>
        <a:accent2>
          <a:srgbClr val="CC6600"/>
        </a:accent2>
        <a:accent3>
          <a:srgbClr val="B8B8AD"/>
        </a:accent3>
        <a:accent4>
          <a:srgbClr val="DAAE00"/>
        </a:accent4>
        <a:accent5>
          <a:srgbClr val="C6BCAA"/>
        </a:accent5>
        <a:accent6>
          <a:srgbClr val="B95C00"/>
        </a:accent6>
        <a:hlink>
          <a:srgbClr val="666699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ademic-targeting-v3 7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ademic-targeting-v3 8">
        <a:dk1>
          <a:srgbClr val="080808"/>
        </a:dk1>
        <a:lt1>
          <a:srgbClr val="FFFFFF"/>
        </a:lt1>
        <a:dk2>
          <a:srgbClr val="000000"/>
        </a:dk2>
        <a:lt2>
          <a:srgbClr val="B2B2B2"/>
        </a:lt2>
        <a:accent1>
          <a:srgbClr val="3333FF"/>
        </a:accent1>
        <a:accent2>
          <a:srgbClr val="FF3300"/>
        </a:accent2>
        <a:accent3>
          <a:srgbClr val="FFFFFF"/>
        </a:accent3>
        <a:accent4>
          <a:srgbClr val="060606"/>
        </a:accent4>
        <a:accent5>
          <a:srgbClr val="ADADFF"/>
        </a:accent5>
        <a:accent6>
          <a:srgbClr val="E72D00"/>
        </a:accent6>
        <a:hlink>
          <a:srgbClr val="33CC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C:\WINNT\Profiles\dsyme.EUROPE\Desktop\academic-targeting-v3.ppt</Template>
  <TotalTime>9009</TotalTime>
  <Words>1940</Words>
  <Application>Microsoft Office PowerPoint</Application>
  <PresentationFormat>On-screen Show (4:3)</PresentationFormat>
  <Paragraphs>553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Wingdings</vt:lpstr>
      <vt:lpstr>Times New Roman</vt:lpstr>
      <vt:lpstr>Trebuchet MS</vt:lpstr>
      <vt:lpstr>Symbol</vt:lpstr>
      <vt:lpstr>Lucida Console</vt:lpstr>
      <vt:lpstr>academic-targeting-v3</vt:lpstr>
      <vt:lpstr>Programming Languages and  .NET</vt:lpstr>
      <vt:lpstr>Today</vt:lpstr>
      <vt:lpstr>Our Involvements with CLR &amp; C#</vt:lpstr>
      <vt:lpstr>Today</vt:lpstr>
      <vt:lpstr>Generics: Status</vt:lpstr>
      <vt:lpstr>Generics: Introduction</vt:lpstr>
      <vt:lpstr>Generics:  A Good Thing</vt:lpstr>
      <vt:lpstr>Generics: What We’ve Done</vt:lpstr>
      <vt:lpstr>Generics: Design Comparison</vt:lpstr>
      <vt:lpstr>Generics: What We’ve Done</vt:lpstr>
      <vt:lpstr>Implementation Summary</vt:lpstr>
      <vt:lpstr>Generics: Proofs of Quality</vt:lpstr>
      <vt:lpstr>Generics: Summary</vt:lpstr>
      <vt:lpstr>Today</vt:lpstr>
      <vt:lpstr>Project 7: Aims</vt:lpstr>
      <vt:lpstr>Project 7: Our Contributions</vt:lpstr>
      <vt:lpstr>Project 7: Everybody Wins</vt:lpstr>
      <vt:lpstr>Summary</vt:lpstr>
      <vt:lpstr>PowerPoint Presentation</vt:lpstr>
      <vt:lpstr>Progress Beta1</vt:lpstr>
      <vt:lpstr>Standard ML</vt:lpstr>
      <vt:lpstr>Haskell</vt:lpstr>
      <vt:lpstr>Polyphonic C#</vt:lpstr>
      <vt:lpstr>An “Obvious” MSR Future Project</vt:lpstr>
      <vt:lpstr>Generics: Design Comparison</vt:lpstr>
      <vt:lpstr>P7: Our Place in the Dev. Strategy?</vt:lpstr>
      <vt:lpstr>Project 7: The Opportunity</vt:lpstr>
      <vt:lpstr>P7: Good News, Good Opportunity</vt:lpstr>
    </vt:vector>
  </TitlesOfParts>
  <Company>Microsoft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Prototyping generics in the COM+ runtime</dc:title>
  <dc:creator>Andrew Kennedy</dc:creator>
  <cp:lastModifiedBy>Don Syme</cp:lastModifiedBy>
  <cp:revision>317</cp:revision>
  <cp:lastPrinted>1601-01-01T00:00:00Z</cp:lastPrinted>
  <dcterms:created xsi:type="dcterms:W3CDTF">2000-02-22T22:15:13Z</dcterms:created>
  <dcterms:modified xsi:type="dcterms:W3CDTF">2025-12-16T14:49:30Z</dcterms:modified>
</cp:coreProperties>
</file>