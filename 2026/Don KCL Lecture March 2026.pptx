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50"/>
  </p:notesMasterIdLst>
  <p:sldIdLst>
    <p:sldId id="256" r:id="rId2"/>
    <p:sldId id="257" r:id="rId3"/>
    <p:sldId id="258" r:id="rId4"/>
    <p:sldId id="259" r:id="rId5"/>
    <p:sldId id="260" r:id="rId6"/>
    <p:sldId id="261" r:id="rId7"/>
    <p:sldId id="262" r:id="rId8"/>
    <p:sldId id="305"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6" r:id="rId22"/>
    <p:sldId id="277" r:id="rId23"/>
    <p:sldId id="278" r:id="rId24"/>
    <p:sldId id="279" r:id="rId25"/>
    <p:sldId id="310" r:id="rId26"/>
    <p:sldId id="306" r:id="rId27"/>
    <p:sldId id="307" r:id="rId28"/>
    <p:sldId id="308" r:id="rId29"/>
    <p:sldId id="309" r:id="rId30"/>
    <p:sldId id="275" r:id="rId31"/>
    <p:sldId id="303" r:id="rId32"/>
    <p:sldId id="311" r:id="rId33"/>
    <p:sldId id="314" r:id="rId34"/>
    <p:sldId id="302" r:id="rId35"/>
    <p:sldId id="312" r:id="rId36"/>
    <p:sldId id="313" r:id="rId37"/>
    <p:sldId id="288" r:id="rId38"/>
    <p:sldId id="289" r:id="rId39"/>
    <p:sldId id="290" r:id="rId40"/>
    <p:sldId id="291" r:id="rId41"/>
    <p:sldId id="292" r:id="rId42"/>
    <p:sldId id="280" r:id="rId43"/>
    <p:sldId id="281" r:id="rId44"/>
    <p:sldId id="284" r:id="rId45"/>
    <p:sldId id="296" r:id="rId46"/>
    <p:sldId id="298" r:id="rId47"/>
    <p:sldId id="300" r:id="rId48"/>
    <p:sldId id="301" r:id="rId49"/>
  </p:sldIdLst>
  <p:sldSz cx="9144000" cy="5143500" type="screen16x9"/>
  <p:notesSz cx="6858000" cy="9144000"/>
  <p:embeddedFontLst>
    <p:embeddedFont>
      <p:font typeface="Inter" panose="020B0604020202020204" charset="0"/>
      <p:regular r:id="rId51"/>
      <p:bold r:id="rId52"/>
      <p:italic r:id="rId53"/>
      <p:boldItalic r:id="rId54"/>
    </p:embeddedFont>
    <p:embeddedFont>
      <p:font typeface="Inter Black" panose="020B0604020202020204" charset="0"/>
      <p:bold r:id="rId55"/>
      <p:boldItalic r:id="rId56"/>
    </p:embeddedFont>
    <p:embeddedFont>
      <p:font typeface="Inter Light" panose="020B0604020202020204" charset="0"/>
      <p:regular r:id="rId57"/>
      <p:bold r:id="rId58"/>
      <p:italic r:id="rId59"/>
      <p:boldItalic r:id="rId60"/>
    </p:embeddedFont>
    <p:embeddedFont>
      <p:font typeface="Roboto" panose="02000000000000000000" pitchFamily="2"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FA2A09-D2B3-4372-9448-C2590D1A77D9}" v="1" dt="2026-04-23T03:30:49.3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5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3.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64" Type="http://schemas.openxmlformats.org/officeDocument/2006/relationships/font" Target="fonts/font14.fntdata"/><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9.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font" Target="fonts/font12.fntdata"/><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notesMaster" Target="notesMasters/notesMaster1.xml"/><Relationship Id="rId55" Type="http://schemas.openxmlformats.org/officeDocument/2006/relationships/font" Target="fonts/font5.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n Syme" userId="dd9123c1e35c60ae" providerId="LiveId" clId="{558C6075-CD96-49CC-AC4E-EEE051D025B9}"/>
    <pc:docChg chg="undo custSel addSld delSld modSld sldOrd modMainMaster">
      <pc:chgData name="Don Syme" userId="dd9123c1e35c60ae" providerId="LiveId" clId="{558C6075-CD96-49CC-AC4E-EEE051D025B9}" dt="2026-04-23T03:35:01.901" v="3984" actId="22"/>
      <pc:docMkLst>
        <pc:docMk/>
      </pc:docMkLst>
      <pc:sldChg chg="modSp mod">
        <pc:chgData name="Don Syme" userId="dd9123c1e35c60ae" providerId="LiveId" clId="{558C6075-CD96-49CC-AC4E-EEE051D025B9}" dt="2026-03-30T12:31:10.261" v="3011" actId="20577"/>
        <pc:sldMkLst>
          <pc:docMk/>
          <pc:sldMk cId="0" sldId="256"/>
        </pc:sldMkLst>
        <pc:spChg chg="mod">
          <ac:chgData name="Don Syme" userId="dd9123c1e35c60ae" providerId="LiveId" clId="{558C6075-CD96-49CC-AC4E-EEE051D025B9}" dt="2026-03-30T12:31:10.261" v="3011" actId="20577"/>
          <ac:spMkLst>
            <pc:docMk/>
            <pc:sldMk cId="0" sldId="256"/>
            <ac:spMk id="41" creationId="{00000000-0000-0000-0000-000000000000}"/>
          </ac:spMkLst>
        </pc:spChg>
        <pc:spChg chg="mod">
          <ac:chgData name="Don Syme" userId="dd9123c1e35c60ae" providerId="LiveId" clId="{558C6075-CD96-49CC-AC4E-EEE051D025B9}" dt="2026-03-30T11:51:06.542" v="2555" actId="20577"/>
          <ac:spMkLst>
            <pc:docMk/>
            <pc:sldMk cId="0" sldId="256"/>
            <ac:spMk id="42" creationId="{00000000-0000-0000-0000-000000000000}"/>
          </ac:spMkLst>
        </pc:spChg>
      </pc:sldChg>
      <pc:sldChg chg="addSp delSp modSp mod">
        <pc:chgData name="Don Syme" userId="dd9123c1e35c60ae" providerId="LiveId" clId="{558C6075-CD96-49CC-AC4E-EEE051D025B9}" dt="2026-03-30T11:22:35.027" v="1225" actId="1076"/>
        <pc:sldMkLst>
          <pc:docMk/>
          <pc:sldMk cId="0" sldId="258"/>
        </pc:sldMkLst>
        <pc:picChg chg="add mod">
          <ac:chgData name="Don Syme" userId="dd9123c1e35c60ae" providerId="LiveId" clId="{558C6075-CD96-49CC-AC4E-EEE051D025B9}" dt="2026-03-30T11:22:35.027" v="1225" actId="1076"/>
          <ac:picMkLst>
            <pc:docMk/>
            <pc:sldMk cId="0" sldId="258"/>
            <ac:picMk id="3" creationId="{59F8F2E1-A919-C058-3319-C733D3F1ABE0}"/>
          </ac:picMkLst>
        </pc:picChg>
      </pc:sldChg>
      <pc:sldChg chg="addSp modSp mod">
        <pc:chgData name="Don Syme" userId="dd9123c1e35c60ae" providerId="LiveId" clId="{558C6075-CD96-49CC-AC4E-EEE051D025B9}" dt="2026-04-23T03:35:01.901" v="3984" actId="22"/>
        <pc:sldMkLst>
          <pc:docMk/>
          <pc:sldMk cId="0" sldId="260"/>
        </pc:sldMkLst>
        <pc:spChg chg="add">
          <ac:chgData name="Don Syme" userId="dd9123c1e35c60ae" providerId="LiveId" clId="{558C6075-CD96-49CC-AC4E-EEE051D025B9}" dt="2026-04-23T03:35:01.901" v="3984" actId="22"/>
          <ac:spMkLst>
            <pc:docMk/>
            <pc:sldMk cId="0" sldId="260"/>
            <ac:spMk id="3" creationId="{1B40BBAA-2C38-45A1-752A-8F2E58843C22}"/>
          </ac:spMkLst>
        </pc:spChg>
        <pc:spChg chg="mod">
          <ac:chgData name="Don Syme" userId="dd9123c1e35c60ae" providerId="LiveId" clId="{558C6075-CD96-49CC-AC4E-EEE051D025B9}" dt="2026-03-30T12:30:48.074" v="3005" actId="20577"/>
          <ac:spMkLst>
            <pc:docMk/>
            <pc:sldMk cId="0" sldId="260"/>
            <ac:spMk id="67" creationId="{00000000-0000-0000-0000-000000000000}"/>
          </ac:spMkLst>
        </pc:spChg>
      </pc:sldChg>
      <pc:sldChg chg="modSp mod">
        <pc:chgData name="Don Syme" userId="dd9123c1e35c60ae" providerId="LiveId" clId="{558C6075-CD96-49CC-AC4E-EEE051D025B9}" dt="2026-03-30T12:29:51.854" v="2910" actId="20577"/>
        <pc:sldMkLst>
          <pc:docMk/>
          <pc:sldMk cId="0" sldId="261"/>
        </pc:sldMkLst>
        <pc:spChg chg="mod">
          <ac:chgData name="Don Syme" userId="dd9123c1e35c60ae" providerId="LiveId" clId="{558C6075-CD96-49CC-AC4E-EEE051D025B9}" dt="2026-03-30T12:29:51.854" v="2910" actId="20577"/>
          <ac:spMkLst>
            <pc:docMk/>
            <pc:sldMk cId="0" sldId="261"/>
            <ac:spMk id="74" creationId="{00000000-0000-0000-0000-000000000000}"/>
          </ac:spMkLst>
        </pc:spChg>
      </pc:sldChg>
      <pc:sldChg chg="addSp modSp mod">
        <pc:chgData name="Don Syme" userId="dd9123c1e35c60ae" providerId="LiveId" clId="{558C6075-CD96-49CC-AC4E-EEE051D025B9}" dt="2026-03-30T11:31:22.572" v="1669" actId="20577"/>
        <pc:sldMkLst>
          <pc:docMk/>
          <pc:sldMk cId="0" sldId="262"/>
        </pc:sldMkLst>
        <pc:spChg chg="add mod">
          <ac:chgData name="Don Syme" userId="dd9123c1e35c60ae" providerId="LiveId" clId="{558C6075-CD96-49CC-AC4E-EEE051D025B9}" dt="2026-03-30T11:31:05.655" v="1631" actId="1076"/>
          <ac:spMkLst>
            <pc:docMk/>
            <pc:sldMk cId="0" sldId="262"/>
            <ac:spMk id="2" creationId="{C5054669-758D-ADB1-6E8E-7310ECDD8356}"/>
          </ac:spMkLst>
        </pc:spChg>
        <pc:spChg chg="mod">
          <ac:chgData name="Don Syme" userId="dd9123c1e35c60ae" providerId="LiveId" clId="{558C6075-CD96-49CC-AC4E-EEE051D025B9}" dt="2026-03-30T11:30:54.712" v="1630" actId="1076"/>
          <ac:spMkLst>
            <pc:docMk/>
            <pc:sldMk cId="0" sldId="262"/>
            <ac:spMk id="83" creationId="{00000000-0000-0000-0000-000000000000}"/>
          </ac:spMkLst>
        </pc:spChg>
        <pc:spChg chg="mod">
          <ac:chgData name="Don Syme" userId="dd9123c1e35c60ae" providerId="LiveId" clId="{558C6075-CD96-49CC-AC4E-EEE051D025B9}" dt="2026-03-30T11:31:22.572" v="1669" actId="20577"/>
          <ac:spMkLst>
            <pc:docMk/>
            <pc:sldMk cId="0" sldId="262"/>
            <ac:spMk id="84" creationId="{00000000-0000-0000-0000-000000000000}"/>
          </ac:spMkLst>
        </pc:spChg>
      </pc:sldChg>
      <pc:sldChg chg="modSp mod">
        <pc:chgData name="Don Syme" userId="dd9123c1e35c60ae" providerId="LiveId" clId="{558C6075-CD96-49CC-AC4E-EEE051D025B9}" dt="2026-03-30T12:31:51.216" v="3055" actId="20577"/>
        <pc:sldMkLst>
          <pc:docMk/>
          <pc:sldMk cId="0" sldId="263"/>
        </pc:sldMkLst>
        <pc:spChg chg="mod">
          <ac:chgData name="Don Syme" userId="dd9123c1e35c60ae" providerId="LiveId" clId="{558C6075-CD96-49CC-AC4E-EEE051D025B9}" dt="2026-03-30T12:31:51.216" v="3055" actId="20577"/>
          <ac:spMkLst>
            <pc:docMk/>
            <pc:sldMk cId="0" sldId="263"/>
            <ac:spMk id="89" creationId="{00000000-0000-0000-0000-000000000000}"/>
          </ac:spMkLst>
        </pc:spChg>
      </pc:sldChg>
      <pc:sldChg chg="modSp mod">
        <pc:chgData name="Don Syme" userId="dd9123c1e35c60ae" providerId="LiveId" clId="{558C6075-CD96-49CC-AC4E-EEE051D025B9}" dt="2026-03-30T12:32:12.262" v="3058" actId="20577"/>
        <pc:sldMkLst>
          <pc:docMk/>
          <pc:sldMk cId="0" sldId="266"/>
        </pc:sldMkLst>
        <pc:spChg chg="mod">
          <ac:chgData name="Don Syme" userId="dd9123c1e35c60ae" providerId="LiveId" clId="{558C6075-CD96-49CC-AC4E-EEE051D025B9}" dt="2026-03-30T12:32:12.262" v="3058" actId="20577"/>
          <ac:spMkLst>
            <pc:docMk/>
            <pc:sldMk cId="0" sldId="266"/>
            <ac:spMk id="108" creationId="{00000000-0000-0000-0000-000000000000}"/>
          </ac:spMkLst>
        </pc:spChg>
      </pc:sldChg>
      <pc:sldChg chg="modSp mod">
        <pc:chgData name="Don Syme" userId="dd9123c1e35c60ae" providerId="LiveId" clId="{558C6075-CD96-49CC-AC4E-EEE051D025B9}" dt="2026-03-30T11:03:57.673" v="45" actId="27636"/>
        <pc:sldMkLst>
          <pc:docMk/>
          <pc:sldMk cId="0" sldId="267"/>
        </pc:sldMkLst>
        <pc:spChg chg="mod">
          <ac:chgData name="Don Syme" userId="dd9123c1e35c60ae" providerId="LiveId" clId="{558C6075-CD96-49CC-AC4E-EEE051D025B9}" dt="2026-03-30T11:03:57.673" v="45" actId="27636"/>
          <ac:spMkLst>
            <pc:docMk/>
            <pc:sldMk cId="0" sldId="267"/>
            <ac:spMk id="115" creationId="{00000000-0000-0000-0000-000000000000}"/>
          </ac:spMkLst>
        </pc:spChg>
      </pc:sldChg>
      <pc:sldChg chg="modSp mod">
        <pc:chgData name="Don Syme" userId="dd9123c1e35c60ae" providerId="LiveId" clId="{558C6075-CD96-49CC-AC4E-EEE051D025B9}" dt="2026-03-30T11:38:24.481" v="1954" actId="20577"/>
        <pc:sldMkLst>
          <pc:docMk/>
          <pc:sldMk cId="0" sldId="272"/>
        </pc:sldMkLst>
        <pc:spChg chg="mod">
          <ac:chgData name="Don Syme" userId="dd9123c1e35c60ae" providerId="LiveId" clId="{558C6075-CD96-49CC-AC4E-EEE051D025B9}" dt="2026-03-30T11:38:24.481" v="1954" actId="20577"/>
          <ac:spMkLst>
            <pc:docMk/>
            <pc:sldMk cId="0" sldId="272"/>
            <ac:spMk id="159" creationId="{00000000-0000-0000-0000-000000000000}"/>
          </ac:spMkLst>
        </pc:spChg>
      </pc:sldChg>
      <pc:sldChg chg="modSp mod">
        <pc:chgData name="Don Syme" userId="dd9123c1e35c60ae" providerId="LiveId" clId="{558C6075-CD96-49CC-AC4E-EEE051D025B9}" dt="2026-03-30T11:03:57.718" v="47" actId="27636"/>
        <pc:sldMkLst>
          <pc:docMk/>
          <pc:sldMk cId="0" sldId="273"/>
        </pc:sldMkLst>
        <pc:spChg chg="mod">
          <ac:chgData name="Don Syme" userId="dd9123c1e35c60ae" providerId="LiveId" clId="{558C6075-CD96-49CC-AC4E-EEE051D025B9}" dt="2026-03-30T11:03:57.718" v="47" actId="27636"/>
          <ac:spMkLst>
            <pc:docMk/>
            <pc:sldMk cId="0" sldId="273"/>
            <ac:spMk id="165" creationId="{00000000-0000-0000-0000-000000000000}"/>
          </ac:spMkLst>
        </pc:spChg>
      </pc:sldChg>
      <pc:sldChg chg="modSp mod">
        <pc:chgData name="Don Syme" userId="dd9123c1e35c60ae" providerId="LiveId" clId="{558C6075-CD96-49CC-AC4E-EEE051D025B9}" dt="2026-03-30T12:32:58.383" v="3094" actId="20577"/>
        <pc:sldMkLst>
          <pc:docMk/>
          <pc:sldMk cId="0" sldId="274"/>
        </pc:sldMkLst>
        <pc:spChg chg="mod">
          <ac:chgData name="Don Syme" userId="dd9123c1e35c60ae" providerId="LiveId" clId="{558C6075-CD96-49CC-AC4E-EEE051D025B9}" dt="2026-03-30T12:32:58.383" v="3094" actId="20577"/>
          <ac:spMkLst>
            <pc:docMk/>
            <pc:sldMk cId="0" sldId="274"/>
            <ac:spMk id="171" creationId="{00000000-0000-0000-0000-000000000000}"/>
          </ac:spMkLst>
        </pc:spChg>
      </pc:sldChg>
      <pc:sldChg chg="add">
        <pc:chgData name="Don Syme" userId="dd9123c1e35c60ae" providerId="LiveId" clId="{558C6075-CD96-49CC-AC4E-EEE051D025B9}" dt="2026-03-30T12:33:40.844" v="3097"/>
        <pc:sldMkLst>
          <pc:docMk/>
          <pc:sldMk cId="1577780490" sldId="275"/>
        </pc:sldMkLst>
      </pc:sldChg>
      <pc:sldChg chg="add">
        <pc:chgData name="Don Syme" userId="dd9123c1e35c60ae" providerId="LiveId" clId="{558C6075-CD96-49CC-AC4E-EEE051D025B9}" dt="2026-03-30T11:10:09.906" v="609"/>
        <pc:sldMkLst>
          <pc:docMk/>
          <pc:sldMk cId="662075118" sldId="279"/>
        </pc:sldMkLst>
      </pc:sldChg>
      <pc:sldChg chg="modSp add mod">
        <pc:chgData name="Don Syme" userId="dd9123c1e35c60ae" providerId="LiveId" clId="{558C6075-CD96-49CC-AC4E-EEE051D025B9}" dt="2026-03-30T11:50:16.868" v="2553" actId="20577"/>
        <pc:sldMkLst>
          <pc:docMk/>
          <pc:sldMk cId="1261541678" sldId="288"/>
        </pc:sldMkLst>
        <pc:spChg chg="mod">
          <ac:chgData name="Don Syme" userId="dd9123c1e35c60ae" providerId="LiveId" clId="{558C6075-CD96-49CC-AC4E-EEE051D025B9}" dt="2026-03-30T11:50:16.868" v="2553" actId="20577"/>
          <ac:spMkLst>
            <pc:docMk/>
            <pc:sldMk cId="1261541678" sldId="288"/>
            <ac:spMk id="268" creationId="{00000000-0000-0000-0000-000000000000}"/>
          </ac:spMkLst>
        </pc:spChg>
      </pc:sldChg>
      <pc:sldChg chg="modSp add mod">
        <pc:chgData name="Don Syme" userId="dd9123c1e35c60ae" providerId="LiveId" clId="{558C6075-CD96-49CC-AC4E-EEE051D025B9}" dt="2026-03-30T11:48:06.987" v="2399" actId="20577"/>
        <pc:sldMkLst>
          <pc:docMk/>
          <pc:sldMk cId="1258066768" sldId="289"/>
        </pc:sldMkLst>
        <pc:spChg chg="mod">
          <ac:chgData name="Don Syme" userId="dd9123c1e35c60ae" providerId="LiveId" clId="{558C6075-CD96-49CC-AC4E-EEE051D025B9}" dt="2026-03-30T11:48:06.987" v="2399" actId="20577"/>
          <ac:spMkLst>
            <pc:docMk/>
            <pc:sldMk cId="1258066768" sldId="289"/>
            <ac:spMk id="274" creationId="{00000000-0000-0000-0000-000000000000}"/>
          </ac:spMkLst>
        </pc:spChg>
      </pc:sldChg>
      <pc:sldChg chg="modSp add mod">
        <pc:chgData name="Don Syme" userId="dd9123c1e35c60ae" providerId="LiveId" clId="{558C6075-CD96-49CC-AC4E-EEE051D025B9}" dt="2026-03-30T11:48:49.723" v="2437" actId="20577"/>
        <pc:sldMkLst>
          <pc:docMk/>
          <pc:sldMk cId="1894572725" sldId="290"/>
        </pc:sldMkLst>
        <pc:spChg chg="mod">
          <ac:chgData name="Don Syme" userId="dd9123c1e35c60ae" providerId="LiveId" clId="{558C6075-CD96-49CC-AC4E-EEE051D025B9}" dt="2026-03-30T11:48:49.723" v="2437" actId="20577"/>
          <ac:spMkLst>
            <pc:docMk/>
            <pc:sldMk cId="1894572725" sldId="290"/>
            <ac:spMk id="280" creationId="{00000000-0000-0000-0000-000000000000}"/>
          </ac:spMkLst>
        </pc:spChg>
      </pc:sldChg>
      <pc:sldChg chg="add">
        <pc:chgData name="Don Syme" userId="dd9123c1e35c60ae" providerId="LiveId" clId="{558C6075-CD96-49CC-AC4E-EEE051D025B9}" dt="2026-03-30T11:44:48.520" v="2194"/>
        <pc:sldMkLst>
          <pc:docMk/>
          <pc:sldMk cId="3392530688" sldId="291"/>
        </pc:sldMkLst>
      </pc:sldChg>
      <pc:sldChg chg="add">
        <pc:chgData name="Don Syme" userId="dd9123c1e35c60ae" providerId="LiveId" clId="{558C6075-CD96-49CC-AC4E-EEE051D025B9}" dt="2026-03-30T11:44:48.520" v="2194"/>
        <pc:sldMkLst>
          <pc:docMk/>
          <pc:sldMk cId="3080516056" sldId="292"/>
        </pc:sldMkLst>
      </pc:sldChg>
      <pc:sldChg chg="addSp delSp modSp add mod">
        <pc:chgData name="Don Syme" userId="dd9123c1e35c60ae" providerId="LiveId" clId="{558C6075-CD96-49CC-AC4E-EEE051D025B9}" dt="2026-03-30T12:41:07.406" v="3965" actId="27636"/>
        <pc:sldMkLst>
          <pc:docMk/>
          <pc:sldMk cId="2408520542" sldId="302"/>
        </pc:sldMkLst>
        <pc:spChg chg="add mod">
          <ac:chgData name="Don Syme" userId="dd9123c1e35c60ae" providerId="LiveId" clId="{558C6075-CD96-49CC-AC4E-EEE051D025B9}" dt="2026-03-30T12:41:07.406" v="3965" actId="27636"/>
          <ac:spMkLst>
            <pc:docMk/>
            <pc:sldMk cId="2408520542" sldId="302"/>
            <ac:spMk id="3" creationId="{C4446FE1-5086-1243-3DA4-FB021DB07893}"/>
          </ac:spMkLst>
        </pc:spChg>
        <pc:spChg chg="mod">
          <ac:chgData name="Don Syme" userId="dd9123c1e35c60ae" providerId="LiveId" clId="{558C6075-CD96-49CC-AC4E-EEE051D025B9}" dt="2026-03-30T12:38:29.161" v="3768" actId="20577"/>
          <ac:spMkLst>
            <pc:docMk/>
            <pc:sldMk cId="2408520542" sldId="302"/>
            <ac:spMk id="177" creationId="{2D7FA8F6-CA2A-97A1-228E-52C20AA02B25}"/>
          </ac:spMkLst>
        </pc:spChg>
      </pc:sldChg>
      <pc:sldChg chg="add ord">
        <pc:chgData name="Don Syme" userId="dd9123c1e35c60ae" providerId="LiveId" clId="{558C6075-CD96-49CC-AC4E-EEE051D025B9}" dt="2026-03-30T12:29:10.163" v="2874"/>
        <pc:sldMkLst>
          <pc:docMk/>
          <pc:sldMk cId="2710777208" sldId="303"/>
        </pc:sldMkLst>
      </pc:sldChg>
      <pc:sldChg chg="modSp add mod">
        <pc:chgData name="Don Syme" userId="dd9123c1e35c60ae" providerId="LiveId" clId="{558C6075-CD96-49CC-AC4E-EEE051D025B9}" dt="2026-03-30T11:36:11.244" v="1890" actId="20577"/>
        <pc:sldMkLst>
          <pc:docMk/>
          <pc:sldMk cId="4132336916" sldId="305"/>
        </pc:sldMkLst>
        <pc:spChg chg="mod">
          <ac:chgData name="Don Syme" userId="dd9123c1e35c60ae" providerId="LiveId" clId="{558C6075-CD96-49CC-AC4E-EEE051D025B9}" dt="2026-03-30T11:33:40.341" v="1849" actId="20577"/>
          <ac:spMkLst>
            <pc:docMk/>
            <pc:sldMk cId="4132336916" sldId="305"/>
            <ac:spMk id="2" creationId="{3AAEBE24-4E50-9B74-1F91-DF7533EDC364}"/>
          </ac:spMkLst>
        </pc:spChg>
        <pc:spChg chg="mod">
          <ac:chgData name="Don Syme" userId="dd9123c1e35c60ae" providerId="LiveId" clId="{558C6075-CD96-49CC-AC4E-EEE051D025B9}" dt="2026-03-30T11:36:11.244" v="1890" actId="20577"/>
          <ac:spMkLst>
            <pc:docMk/>
            <pc:sldMk cId="4132336916" sldId="305"/>
            <ac:spMk id="81" creationId="{12164140-4317-C2FF-AB40-8CAF825BC93F}"/>
          </ac:spMkLst>
        </pc:spChg>
        <pc:spChg chg="mod">
          <ac:chgData name="Don Syme" userId="dd9123c1e35c60ae" providerId="LiveId" clId="{558C6075-CD96-49CC-AC4E-EEE051D025B9}" dt="2026-03-30T11:32:30.353" v="1753" actId="20577"/>
          <ac:spMkLst>
            <pc:docMk/>
            <pc:sldMk cId="4132336916" sldId="305"/>
            <ac:spMk id="82" creationId="{4838CF09-D24E-C0F0-29D5-9AC087A5A50B}"/>
          </ac:spMkLst>
        </pc:spChg>
        <pc:spChg chg="mod">
          <ac:chgData name="Don Syme" userId="dd9123c1e35c60ae" providerId="LiveId" clId="{558C6075-CD96-49CC-AC4E-EEE051D025B9}" dt="2026-03-30T11:35:39.589" v="1877" actId="20577"/>
          <ac:spMkLst>
            <pc:docMk/>
            <pc:sldMk cId="4132336916" sldId="305"/>
            <ac:spMk id="83" creationId="{C1EDD42C-BCCB-25E9-24C8-74A1C2D1B6A7}"/>
          </ac:spMkLst>
        </pc:spChg>
        <pc:spChg chg="mod">
          <ac:chgData name="Don Syme" userId="dd9123c1e35c60ae" providerId="LiveId" clId="{558C6075-CD96-49CC-AC4E-EEE051D025B9}" dt="2026-03-30T11:33:42.858" v="1852" actId="20577"/>
          <ac:spMkLst>
            <pc:docMk/>
            <pc:sldMk cId="4132336916" sldId="305"/>
            <ac:spMk id="84" creationId="{BC59575A-01D9-8E4A-D731-5E1836964FAC}"/>
          </ac:spMkLst>
        </pc:spChg>
      </pc:sldChg>
      <pc:sldChg chg="add">
        <pc:chgData name="Don Syme" userId="dd9123c1e35c60ae" providerId="LiveId" clId="{558C6075-CD96-49CC-AC4E-EEE051D025B9}" dt="2026-03-30T11:40:53.597" v="2032"/>
        <pc:sldMkLst>
          <pc:docMk/>
          <pc:sldMk cId="0" sldId="306"/>
        </pc:sldMkLst>
      </pc:sldChg>
      <pc:sldChg chg="add">
        <pc:chgData name="Don Syme" userId="dd9123c1e35c60ae" providerId="LiveId" clId="{558C6075-CD96-49CC-AC4E-EEE051D025B9}" dt="2026-03-30T11:40:53.597" v="2032"/>
        <pc:sldMkLst>
          <pc:docMk/>
          <pc:sldMk cId="0" sldId="307"/>
        </pc:sldMkLst>
      </pc:sldChg>
      <pc:sldChg chg="add">
        <pc:chgData name="Don Syme" userId="dd9123c1e35c60ae" providerId="LiveId" clId="{558C6075-CD96-49CC-AC4E-EEE051D025B9}" dt="2026-03-30T11:43:42.734" v="2172"/>
        <pc:sldMkLst>
          <pc:docMk/>
          <pc:sldMk cId="0" sldId="308"/>
        </pc:sldMkLst>
      </pc:sldChg>
      <pc:sldChg chg="modSp add mod ord">
        <pc:chgData name="Don Syme" userId="dd9123c1e35c60ae" providerId="LiveId" clId="{558C6075-CD96-49CC-AC4E-EEE051D025B9}" dt="2026-03-30T12:33:51.754" v="3099"/>
        <pc:sldMkLst>
          <pc:docMk/>
          <pc:sldMk cId="0" sldId="309"/>
        </pc:sldMkLst>
        <pc:spChg chg="mod">
          <ac:chgData name="Don Syme" userId="dd9123c1e35c60ae" providerId="LiveId" clId="{558C6075-CD96-49CC-AC4E-EEE051D025B9}" dt="2026-03-30T11:44:06.734" v="2174" actId="20577"/>
          <ac:spMkLst>
            <pc:docMk/>
            <pc:sldMk cId="0" sldId="309"/>
            <ac:spMk id="165" creationId="{00000000-0000-0000-0000-000000000000}"/>
          </ac:spMkLst>
        </pc:spChg>
      </pc:sldChg>
      <pc:sldChg chg="addSp delSp modSp add mod">
        <pc:chgData name="Don Syme" userId="dd9123c1e35c60ae" providerId="LiveId" clId="{558C6075-CD96-49CC-AC4E-EEE051D025B9}" dt="2026-03-30T12:24:43.820" v="2678" actId="1076"/>
        <pc:sldMkLst>
          <pc:docMk/>
          <pc:sldMk cId="3734570926" sldId="310"/>
        </pc:sldMkLst>
        <pc:spChg chg="add mod">
          <ac:chgData name="Don Syme" userId="dd9123c1e35c60ae" providerId="LiveId" clId="{558C6075-CD96-49CC-AC4E-EEE051D025B9}" dt="2026-03-30T12:24:43.820" v="2678" actId="1076"/>
          <ac:spMkLst>
            <pc:docMk/>
            <pc:sldMk cId="3734570926" sldId="310"/>
            <ac:spMk id="5" creationId="{E9E00411-84C1-79D7-9CF3-E2DFC87C055E}"/>
          </ac:spMkLst>
        </pc:spChg>
        <pc:spChg chg="mod">
          <ac:chgData name="Don Syme" userId="dd9123c1e35c60ae" providerId="LiveId" clId="{558C6075-CD96-49CC-AC4E-EEE051D025B9}" dt="2026-03-30T12:24:03.095" v="2669" actId="20577"/>
          <ac:spMkLst>
            <pc:docMk/>
            <pc:sldMk cId="3734570926" sldId="310"/>
            <ac:spMk id="177" creationId="{1320D07F-3475-6EED-6E2D-B739FC71160D}"/>
          </ac:spMkLst>
        </pc:spChg>
        <pc:spChg chg="mod">
          <ac:chgData name="Don Syme" userId="dd9123c1e35c60ae" providerId="LiveId" clId="{558C6075-CD96-49CC-AC4E-EEE051D025B9}" dt="2026-03-30T12:24:11.781" v="2673" actId="14100"/>
          <ac:spMkLst>
            <pc:docMk/>
            <pc:sldMk cId="3734570926" sldId="310"/>
            <ac:spMk id="178" creationId="{99BCABFC-847A-8EED-C35A-2A32F5ED981A}"/>
          </ac:spMkLst>
        </pc:spChg>
      </pc:sldChg>
      <pc:sldChg chg="add ord">
        <pc:chgData name="Don Syme" userId="dd9123c1e35c60ae" providerId="LiveId" clId="{558C6075-CD96-49CC-AC4E-EEE051D025B9}" dt="2026-03-30T12:29:10.163" v="2874"/>
        <pc:sldMkLst>
          <pc:docMk/>
          <pc:sldMk cId="1340320545" sldId="311"/>
        </pc:sldMkLst>
      </pc:sldChg>
      <pc:sldChg chg="modSp add mod">
        <pc:chgData name="Don Syme" userId="dd9123c1e35c60ae" providerId="LiveId" clId="{558C6075-CD96-49CC-AC4E-EEE051D025B9}" dt="2026-03-30T12:40:03.161" v="3903" actId="20577"/>
        <pc:sldMkLst>
          <pc:docMk/>
          <pc:sldMk cId="4065558725" sldId="312"/>
        </pc:sldMkLst>
        <pc:spChg chg="mod">
          <ac:chgData name="Don Syme" userId="dd9123c1e35c60ae" providerId="LiveId" clId="{558C6075-CD96-49CC-AC4E-EEE051D025B9}" dt="2026-03-30T12:40:03.161" v="3903" actId="20577"/>
          <ac:spMkLst>
            <pc:docMk/>
            <pc:sldMk cId="4065558725" sldId="312"/>
            <ac:spMk id="3" creationId="{5C3573F4-2876-3B9F-C655-2BEE052EFBF2}"/>
          </ac:spMkLst>
        </pc:spChg>
        <pc:spChg chg="mod">
          <ac:chgData name="Don Syme" userId="dd9123c1e35c60ae" providerId="LiveId" clId="{558C6075-CD96-49CC-AC4E-EEE051D025B9}" dt="2026-03-30T12:34:50.926" v="3146" actId="20577"/>
          <ac:spMkLst>
            <pc:docMk/>
            <pc:sldMk cId="4065558725" sldId="312"/>
            <ac:spMk id="177" creationId="{5489898B-D663-7938-82E2-8E45818570F8}"/>
          </ac:spMkLst>
        </pc:spChg>
      </pc:sldChg>
      <pc:sldChg chg="modSp add mod">
        <pc:chgData name="Don Syme" userId="dd9123c1e35c60ae" providerId="LiveId" clId="{558C6075-CD96-49CC-AC4E-EEE051D025B9}" dt="2026-03-30T12:38:41.048" v="3786" actId="20577"/>
        <pc:sldMkLst>
          <pc:docMk/>
          <pc:sldMk cId="881573985" sldId="313"/>
        </pc:sldMkLst>
        <pc:spChg chg="mod">
          <ac:chgData name="Don Syme" userId="dd9123c1e35c60ae" providerId="LiveId" clId="{558C6075-CD96-49CC-AC4E-EEE051D025B9}" dt="2026-03-30T12:38:41.048" v="3786" actId="20577"/>
          <ac:spMkLst>
            <pc:docMk/>
            <pc:sldMk cId="881573985" sldId="313"/>
            <ac:spMk id="207" creationId="{3D384A93-D7A1-10AA-961C-CD66FDD420CB}"/>
          </ac:spMkLst>
        </pc:spChg>
      </pc:sldChg>
      <pc:sldChg chg="delSp modSp add mod">
        <pc:chgData name="Don Syme" userId="dd9123c1e35c60ae" providerId="LiveId" clId="{558C6075-CD96-49CC-AC4E-EEE051D025B9}" dt="2026-04-23T03:30:57.591" v="3983" actId="478"/>
        <pc:sldMkLst>
          <pc:docMk/>
          <pc:sldMk cId="1198584406" sldId="314"/>
        </pc:sldMkLst>
        <pc:spChg chg="mod">
          <ac:chgData name="Don Syme" userId="dd9123c1e35c60ae" providerId="LiveId" clId="{558C6075-CD96-49CC-AC4E-EEE051D025B9}" dt="2026-04-23T03:30:54.535" v="3982" actId="20577"/>
          <ac:spMkLst>
            <pc:docMk/>
            <pc:sldMk cId="1198584406" sldId="314"/>
            <ac:spMk id="177" creationId="{4AED31AF-6080-40A1-5660-57CF79BBCF3D}"/>
          </ac:spMkLst>
        </pc:spChg>
        <pc:picChg chg="del">
          <ac:chgData name="Don Syme" userId="dd9123c1e35c60ae" providerId="LiveId" clId="{558C6075-CD96-49CC-AC4E-EEE051D025B9}" dt="2026-04-23T03:30:57.591" v="3983" actId="478"/>
          <ac:picMkLst>
            <pc:docMk/>
            <pc:sldMk cId="1198584406" sldId="314"/>
            <ac:picMk id="4" creationId="{1C28A393-070C-283E-8A2A-90C78ECA84FE}"/>
          </ac:picMkLst>
        </pc:picChg>
      </pc:sldChg>
      <pc:sldMasterChg chg="modSldLayout">
        <pc:chgData name="Don Syme" userId="dd9123c1e35c60ae" providerId="LiveId" clId="{558C6075-CD96-49CC-AC4E-EEE051D025B9}" dt="2026-03-30T11:34:29.904" v="1869" actId="12"/>
        <pc:sldMasterMkLst>
          <pc:docMk/>
          <pc:sldMasterMk cId="0" sldId="2147483656"/>
        </pc:sldMasterMkLst>
        <pc:sldLayoutChg chg="modSp mod">
          <pc:chgData name="Don Syme" userId="dd9123c1e35c60ae" providerId="LiveId" clId="{558C6075-CD96-49CC-AC4E-EEE051D025B9}" dt="2026-03-30T11:34:29.904" v="1869" actId="12"/>
          <pc:sldLayoutMkLst>
            <pc:docMk/>
            <pc:sldMasterMk cId="0" sldId="2147483656"/>
            <pc:sldLayoutMk cId="0" sldId="2147483650"/>
          </pc:sldLayoutMkLst>
          <pc:spChg chg="mod">
            <ac:chgData name="Don Syme" userId="dd9123c1e35c60ae" providerId="LiveId" clId="{558C6075-CD96-49CC-AC4E-EEE051D025B9}" dt="2026-03-30T11:34:29.904" v="1869" actId="12"/>
            <ac:spMkLst>
              <pc:docMk/>
              <pc:sldMasterMk cId="0" sldId="2147483656"/>
              <pc:sldLayoutMk cId="0" sldId="2147483650"/>
              <ac:spMk id="18"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 name="Google Shape;3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Note: Put phone on do not disturb, Slack to not notify, Teams closed</a:t>
            </a:r>
            <a:endParaRPr/>
          </a:p>
          <a:p>
            <a:pPr marL="0" lvl="0" indent="0" algn="l" rtl="0">
              <a:spcBef>
                <a:spcPts val="0"/>
              </a:spcBef>
              <a:spcAft>
                <a:spcPts val="0"/>
              </a:spcAft>
              <a:buNone/>
            </a:pPr>
            <a:endParaRPr/>
          </a:p>
          <a:p>
            <a:pPr marL="0" lvl="0" indent="0" algn="l" rtl="0">
              <a:spcBef>
                <a:spcPts val="0"/>
              </a:spcBef>
              <a:spcAft>
                <a:spcPts val="0"/>
              </a:spcAft>
              <a:buNone/>
            </a:pPr>
            <a:r>
              <a:rPr lang="en"/>
              <a:t>Thank you for the introduction, Rahul.  Again, my name is Eddie Aftandilian.  I’m a principal researcher in GitHub Next, and today I’ll be sharing some lessons that we have learned from building GitHub Copilots.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g342cfc7a1e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 name="Google Shape;45;g342cfc7a1e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g303d9a84375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 name="Google Shape;51;g303d9a84375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 representing the work of an amazing team</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a:t>Currently 18 people</a:t>
            </a:r>
            <a:endParaRPr/>
          </a:p>
          <a:p>
            <a:pPr marL="457200" lvl="0" indent="-298450" algn="l" rtl="0">
              <a:spcBef>
                <a:spcPts val="0"/>
              </a:spcBef>
              <a:spcAft>
                <a:spcPts val="0"/>
              </a:spcAft>
              <a:buSzPts val="1100"/>
              <a:buChar char="●"/>
            </a:pPr>
            <a:r>
              <a:rPr lang="en"/>
              <a:t>Mix of backgrounds and skillsets</a:t>
            </a:r>
            <a:endParaRPr/>
          </a:p>
          <a:p>
            <a:pPr marL="457200" lvl="0" indent="-298450" algn="l" rtl="0">
              <a:spcBef>
                <a:spcPts val="0"/>
              </a:spcBef>
              <a:spcAft>
                <a:spcPts val="0"/>
              </a:spcAft>
              <a:buSzPts val="1100"/>
              <a:buChar char="●"/>
            </a:pPr>
            <a:r>
              <a:rPr lang="en"/>
              <a:t>Frontend, backend, ML, programming languages, user research, etc.</a:t>
            </a:r>
            <a:endParaRPr/>
          </a:p>
          <a:p>
            <a:pPr marL="0" lvl="0" indent="0" algn="l" rtl="0">
              <a:spcBef>
                <a:spcPts val="0"/>
              </a:spcBef>
              <a:spcAft>
                <a:spcPts val="0"/>
              </a:spcAft>
              <a:buNone/>
            </a:pPr>
            <a:endParaRPr/>
          </a:p>
          <a:p>
            <a:pPr marL="0" lvl="0" indent="0" algn="l" rtl="0">
              <a:spcBef>
                <a:spcPts val="0"/>
              </a:spcBef>
              <a:spcAft>
                <a:spcPts val="0"/>
              </a:spcAft>
              <a:buNone/>
            </a:pPr>
            <a:r>
              <a:rPr lang="en"/>
              <a:t>It takes this diverse mix of skillsets to build new AI developer tools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42cfc7a1ec_0_7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42cfc7a1ec_0_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03d9a8437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03d9a8437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AI developer tools are changing the way we write software.</a:t>
            </a:r>
            <a:endParaRPr/>
          </a:p>
          <a:p>
            <a:pPr marL="0" lvl="0" indent="0" algn="l" rtl="0">
              <a:spcBef>
                <a:spcPts val="0"/>
              </a:spcBef>
              <a:spcAft>
                <a:spcPts val="0"/>
              </a:spcAft>
              <a:buNone/>
            </a:pPr>
            <a:endParaRPr/>
          </a:p>
          <a:p>
            <a:pPr marL="0" lvl="0" indent="0" algn="l" rtl="0">
              <a:spcBef>
                <a:spcPts val="0"/>
              </a:spcBef>
              <a:spcAft>
                <a:spcPts val="0"/>
              </a:spcAft>
              <a:buNone/>
            </a:pPr>
            <a:r>
              <a:rPr lang="en"/>
              <a:t>GitHub Copilot was one of the first such tools.  It launched as a technical preview (essentially a closed beta) in June 2021. Today it has 1.8M paying users, and 50% of those users’ code is written by Copilot.  Other companies such as Google report similar proportions of AI-generated code for their comparable AI code completion tools.</a:t>
            </a:r>
            <a:endParaRPr/>
          </a:p>
          <a:p>
            <a:pPr marL="0" lvl="0" indent="0" algn="l" rtl="0">
              <a:spcBef>
                <a:spcPts val="0"/>
              </a:spcBef>
              <a:spcAft>
                <a:spcPts val="0"/>
              </a:spcAft>
              <a:buNone/>
            </a:pPr>
            <a:endParaRPr/>
          </a:p>
          <a:p>
            <a:pPr marL="0" lvl="0" indent="0" algn="l" rtl="0">
              <a:spcBef>
                <a:spcPts val="0"/>
              </a:spcBef>
              <a:spcAft>
                <a:spcPts val="0"/>
              </a:spcAft>
              <a:buNone/>
            </a:pPr>
            <a:r>
              <a:rPr lang="en"/>
              <a:t>This will only increase as the next generation of tools comes online.  These are tools that approach the problem at a higher level – for example, completing an entire development task as opposed to completing a line of code or a function</a:t>
            </a:r>
            <a:endParaRPr/>
          </a:p>
          <a:p>
            <a:pPr marL="914400" lvl="1" indent="-298450" algn="l" rtl="0">
              <a:spcBef>
                <a:spcPts val="0"/>
              </a:spcBef>
              <a:spcAft>
                <a:spcPts val="0"/>
              </a:spcAft>
              <a:buSzPts val="1100"/>
              <a:buChar char="○"/>
            </a:pPr>
            <a:r>
              <a:rPr lang="en"/>
              <a:t>Copilot Workspace, Devin, Cursor, et al.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42cfc7a1ec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42cfc7a1ec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42cfc7a1ec_0_8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42cfc7a1ec_0_8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F97A7222-3311-15FC-C2A1-23651F793779}"/>
            </a:ext>
          </a:extLst>
        </p:cNvPr>
        <p:cNvGrpSpPr/>
        <p:nvPr/>
      </p:nvGrpSpPr>
      <p:grpSpPr>
        <a:xfrm>
          <a:off x="0" y="0"/>
          <a:ext cx="0" cy="0"/>
          <a:chOff x="0" y="0"/>
          <a:chExt cx="0" cy="0"/>
        </a:xfrm>
      </p:grpSpPr>
      <p:sp>
        <p:nvSpPr>
          <p:cNvPr id="76" name="Google Shape;76;g342cfc7a1ec_0_852:notes">
            <a:extLst>
              <a:ext uri="{FF2B5EF4-FFF2-40B4-BE49-F238E27FC236}">
                <a16:creationId xmlns:a16="http://schemas.microsoft.com/office/drawing/2014/main" id="{9CE9AB26-6928-FF45-D37D-4A7E04C997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42cfc7a1ec_0_852:notes">
            <a:extLst>
              <a:ext uri="{FF2B5EF4-FFF2-40B4-BE49-F238E27FC236}">
                <a16:creationId xmlns:a16="http://schemas.microsoft.com/office/drawing/2014/main" id="{3AC8B2E5-2060-2038-EEB5-F14F254E83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2590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42cfc7a1ec_0_7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42cfc7a1ec_0_7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42cfc7a1ec_0_6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42cfc7a1ec_0_6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42cfc7a1ec_0_8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42cfc7a1ec_0_8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42cfc7a1ec_0_9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42cfc7a1ec_0_9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42cfc7a1ec_0_6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42cfc7a1ec_0_6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42cfc7a1ec_0_6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42cfc7a1ec_0_6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 original GitHub Copilot completes code in your editor</a:t>
            </a:r>
            <a:endParaRPr/>
          </a:p>
          <a:p>
            <a:pPr marL="0" lvl="0" indent="0" algn="l" rtl="0">
              <a:spcBef>
                <a:spcPts val="0"/>
              </a:spcBef>
              <a:spcAft>
                <a:spcPts val="0"/>
              </a:spcAft>
              <a:buClr>
                <a:schemeClr val="dk1"/>
              </a:buClr>
              <a:buSzPts val="1100"/>
              <a:buFont typeface="Arial"/>
              <a:buNone/>
            </a:pPr>
            <a:r>
              <a:rPr lang="en"/>
              <a:t>You have to accept small bits</a:t>
            </a:r>
            <a:endParaRPr/>
          </a:p>
          <a:p>
            <a:pPr marL="0" lvl="0" indent="0" algn="l" rtl="0">
              <a:spcBef>
                <a:spcPts val="0"/>
              </a:spcBef>
              <a:spcAft>
                <a:spcPts val="0"/>
              </a:spcAft>
              <a:buClr>
                <a:schemeClr val="dk1"/>
              </a:buClr>
              <a:buSzPts val="1100"/>
              <a:buFont typeface="Arial"/>
              <a:buNone/>
            </a:pPr>
            <a:r>
              <a:rPr lang="en"/>
              <a:t>You have to move your cursor around</a:t>
            </a:r>
            <a:endParaRPr/>
          </a:p>
          <a:p>
            <a:pPr marL="0" lvl="0" indent="0" algn="l" rtl="0">
              <a:spcBef>
                <a:spcPts val="0"/>
              </a:spcBef>
              <a:spcAft>
                <a:spcPts val="0"/>
              </a:spcAft>
              <a:buClr>
                <a:schemeClr val="dk1"/>
              </a:buClr>
              <a:buSzPts val="1100"/>
              <a:buFont typeface="Arial"/>
              <a:buNone/>
            </a:pPr>
            <a:r>
              <a:rPr lang="en"/>
              <a:t>You still have to type quite a lot </a:t>
            </a:r>
            <a:endParaRPr/>
          </a:p>
          <a:p>
            <a:pPr marL="0" lvl="0" indent="0" algn="l" rtl="0">
              <a:spcBef>
                <a:spcPts val="0"/>
              </a:spcBef>
              <a:spcAft>
                <a:spcPts val="0"/>
              </a:spcAft>
              <a:buClr>
                <a:schemeClr val="dk1"/>
              </a:buClr>
              <a:buSzPts val="1100"/>
              <a:buFont typeface="Arial"/>
              <a:buNone/>
            </a:pPr>
            <a:r>
              <a:rPr lang="en"/>
              <a:t>Copilot has to infer what you are trying to do</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Can we switch POV to whole task, whole change, whole repository </a:t>
            </a:r>
            <a:endParaRPr/>
          </a:p>
          <a:p>
            <a:pPr marL="0" lvl="0" indent="0" algn="l" rtl="0">
              <a:spcBef>
                <a:spcPts val="0"/>
              </a:spcBef>
              <a:spcAft>
                <a:spcPts val="0"/>
              </a:spcAft>
              <a:buClr>
                <a:schemeClr val="dk1"/>
              </a:buClr>
              <a:buSzPts val="1100"/>
              <a:buFont typeface="Arial"/>
              <a:buNone/>
            </a:pPr>
            <a:r>
              <a:rPr lang="en"/>
              <a:t>While keeping the key learning of Copilot: repeated AI-user alignment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42cfc7a1ec_0_6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42cfc7a1ec_0_6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 original GitHub Copilot completes code in your editor</a:t>
            </a:r>
            <a:endParaRPr/>
          </a:p>
          <a:p>
            <a:pPr marL="0" lvl="0" indent="0" algn="l" rtl="0">
              <a:spcBef>
                <a:spcPts val="0"/>
              </a:spcBef>
              <a:spcAft>
                <a:spcPts val="0"/>
              </a:spcAft>
              <a:buClr>
                <a:schemeClr val="dk1"/>
              </a:buClr>
              <a:buSzPts val="1100"/>
              <a:buFont typeface="Arial"/>
              <a:buNone/>
            </a:pPr>
            <a:r>
              <a:rPr lang="en"/>
              <a:t>You have to accept small bits</a:t>
            </a:r>
            <a:endParaRPr/>
          </a:p>
          <a:p>
            <a:pPr marL="0" lvl="0" indent="0" algn="l" rtl="0">
              <a:spcBef>
                <a:spcPts val="0"/>
              </a:spcBef>
              <a:spcAft>
                <a:spcPts val="0"/>
              </a:spcAft>
              <a:buClr>
                <a:schemeClr val="dk1"/>
              </a:buClr>
              <a:buSzPts val="1100"/>
              <a:buFont typeface="Arial"/>
              <a:buNone/>
            </a:pPr>
            <a:r>
              <a:rPr lang="en"/>
              <a:t>You have to move your cursor around</a:t>
            </a:r>
            <a:endParaRPr/>
          </a:p>
          <a:p>
            <a:pPr marL="0" lvl="0" indent="0" algn="l" rtl="0">
              <a:spcBef>
                <a:spcPts val="0"/>
              </a:spcBef>
              <a:spcAft>
                <a:spcPts val="0"/>
              </a:spcAft>
              <a:buClr>
                <a:schemeClr val="dk1"/>
              </a:buClr>
              <a:buSzPts val="1100"/>
              <a:buFont typeface="Arial"/>
              <a:buNone/>
            </a:pPr>
            <a:r>
              <a:rPr lang="en"/>
              <a:t>You still have to type quite a lot </a:t>
            </a:r>
            <a:endParaRPr/>
          </a:p>
          <a:p>
            <a:pPr marL="0" lvl="0" indent="0" algn="l" rtl="0">
              <a:spcBef>
                <a:spcPts val="0"/>
              </a:spcBef>
              <a:spcAft>
                <a:spcPts val="0"/>
              </a:spcAft>
              <a:buClr>
                <a:schemeClr val="dk1"/>
              </a:buClr>
              <a:buSzPts val="1100"/>
              <a:buFont typeface="Arial"/>
              <a:buNone/>
            </a:pPr>
            <a:r>
              <a:rPr lang="en"/>
              <a:t>Copilot has to infer what you are trying to do</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Can we switch POV to whole task, whole change, whole repository </a:t>
            </a:r>
            <a:endParaRPr/>
          </a:p>
          <a:p>
            <a:pPr marL="0" lvl="0" indent="0" algn="l" rtl="0">
              <a:spcBef>
                <a:spcPts val="0"/>
              </a:spcBef>
              <a:spcAft>
                <a:spcPts val="0"/>
              </a:spcAft>
              <a:buClr>
                <a:schemeClr val="dk1"/>
              </a:buClr>
              <a:buSzPts val="1100"/>
              <a:buFont typeface="Arial"/>
              <a:buNone/>
            </a:pPr>
            <a:r>
              <a:rPr lang="en"/>
              <a:t>While keeping the key learning of Copilot: repeated AI-user alignment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42cfc7a1ec_0_6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42cfc7a1ec_0_6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 original GitHub Copilot completes code in your editor</a:t>
            </a:r>
            <a:endParaRPr/>
          </a:p>
          <a:p>
            <a:pPr marL="0" lvl="0" indent="0" algn="l" rtl="0">
              <a:spcBef>
                <a:spcPts val="0"/>
              </a:spcBef>
              <a:spcAft>
                <a:spcPts val="0"/>
              </a:spcAft>
              <a:buClr>
                <a:schemeClr val="dk1"/>
              </a:buClr>
              <a:buSzPts val="1100"/>
              <a:buFont typeface="Arial"/>
              <a:buNone/>
            </a:pPr>
            <a:r>
              <a:rPr lang="en"/>
              <a:t>You have to accept small bits</a:t>
            </a:r>
            <a:endParaRPr/>
          </a:p>
          <a:p>
            <a:pPr marL="0" lvl="0" indent="0" algn="l" rtl="0">
              <a:spcBef>
                <a:spcPts val="0"/>
              </a:spcBef>
              <a:spcAft>
                <a:spcPts val="0"/>
              </a:spcAft>
              <a:buClr>
                <a:schemeClr val="dk1"/>
              </a:buClr>
              <a:buSzPts val="1100"/>
              <a:buFont typeface="Arial"/>
              <a:buNone/>
            </a:pPr>
            <a:r>
              <a:rPr lang="en"/>
              <a:t>You have to move your cursor around</a:t>
            </a:r>
            <a:endParaRPr/>
          </a:p>
          <a:p>
            <a:pPr marL="0" lvl="0" indent="0" algn="l" rtl="0">
              <a:spcBef>
                <a:spcPts val="0"/>
              </a:spcBef>
              <a:spcAft>
                <a:spcPts val="0"/>
              </a:spcAft>
              <a:buClr>
                <a:schemeClr val="dk1"/>
              </a:buClr>
              <a:buSzPts val="1100"/>
              <a:buFont typeface="Arial"/>
              <a:buNone/>
            </a:pPr>
            <a:r>
              <a:rPr lang="en"/>
              <a:t>You still have to type quite a lot </a:t>
            </a:r>
            <a:endParaRPr/>
          </a:p>
          <a:p>
            <a:pPr marL="0" lvl="0" indent="0" algn="l" rtl="0">
              <a:spcBef>
                <a:spcPts val="0"/>
              </a:spcBef>
              <a:spcAft>
                <a:spcPts val="0"/>
              </a:spcAft>
              <a:buClr>
                <a:schemeClr val="dk1"/>
              </a:buClr>
              <a:buSzPts val="1100"/>
              <a:buFont typeface="Arial"/>
              <a:buNone/>
            </a:pPr>
            <a:r>
              <a:rPr lang="en"/>
              <a:t>Copilot has to infer what you are trying to do</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Can we switch POV to whole task, whole change, whole repository </a:t>
            </a:r>
            <a:endParaRPr/>
          </a:p>
          <a:p>
            <a:pPr marL="0" lvl="0" indent="0" algn="l" rtl="0">
              <a:spcBef>
                <a:spcPts val="0"/>
              </a:spcBef>
              <a:spcAft>
                <a:spcPts val="0"/>
              </a:spcAft>
              <a:buClr>
                <a:schemeClr val="dk1"/>
              </a:buClr>
              <a:buSzPts val="1100"/>
              <a:buFont typeface="Arial"/>
              <a:buNone/>
            </a:pPr>
            <a:r>
              <a:rPr lang="en"/>
              <a:t>While keeping the key learning of Copilot: repeated AI-user alignment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42cfc7a1ec_0_6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42cfc7a1ec_0_6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 original GitHub Copilot completes code in your editor</a:t>
            </a:r>
            <a:endParaRPr/>
          </a:p>
          <a:p>
            <a:pPr marL="0" lvl="0" indent="0" algn="l" rtl="0">
              <a:spcBef>
                <a:spcPts val="0"/>
              </a:spcBef>
              <a:spcAft>
                <a:spcPts val="0"/>
              </a:spcAft>
              <a:buClr>
                <a:schemeClr val="dk1"/>
              </a:buClr>
              <a:buSzPts val="1100"/>
              <a:buFont typeface="Arial"/>
              <a:buNone/>
            </a:pPr>
            <a:r>
              <a:rPr lang="en"/>
              <a:t>You have to accept small bits</a:t>
            </a:r>
            <a:endParaRPr/>
          </a:p>
          <a:p>
            <a:pPr marL="0" lvl="0" indent="0" algn="l" rtl="0">
              <a:spcBef>
                <a:spcPts val="0"/>
              </a:spcBef>
              <a:spcAft>
                <a:spcPts val="0"/>
              </a:spcAft>
              <a:buClr>
                <a:schemeClr val="dk1"/>
              </a:buClr>
              <a:buSzPts val="1100"/>
              <a:buFont typeface="Arial"/>
              <a:buNone/>
            </a:pPr>
            <a:r>
              <a:rPr lang="en"/>
              <a:t>You have to move your cursor around</a:t>
            </a:r>
            <a:endParaRPr/>
          </a:p>
          <a:p>
            <a:pPr marL="0" lvl="0" indent="0" algn="l" rtl="0">
              <a:spcBef>
                <a:spcPts val="0"/>
              </a:spcBef>
              <a:spcAft>
                <a:spcPts val="0"/>
              </a:spcAft>
              <a:buClr>
                <a:schemeClr val="dk1"/>
              </a:buClr>
              <a:buSzPts val="1100"/>
              <a:buFont typeface="Arial"/>
              <a:buNone/>
            </a:pPr>
            <a:r>
              <a:rPr lang="en"/>
              <a:t>You still have to type quite a lot </a:t>
            </a:r>
            <a:endParaRPr/>
          </a:p>
          <a:p>
            <a:pPr marL="0" lvl="0" indent="0" algn="l" rtl="0">
              <a:spcBef>
                <a:spcPts val="0"/>
              </a:spcBef>
              <a:spcAft>
                <a:spcPts val="0"/>
              </a:spcAft>
              <a:buClr>
                <a:schemeClr val="dk1"/>
              </a:buClr>
              <a:buSzPts val="1100"/>
              <a:buFont typeface="Arial"/>
              <a:buNone/>
            </a:pPr>
            <a:r>
              <a:rPr lang="en"/>
              <a:t>Copilot has to infer what you are trying to do</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Can we switch POV to whole task, whole change, whole repository </a:t>
            </a:r>
            <a:endParaRPr/>
          </a:p>
          <a:p>
            <a:pPr marL="0" lvl="0" indent="0" algn="l" rtl="0">
              <a:spcBef>
                <a:spcPts val="0"/>
              </a:spcBef>
              <a:spcAft>
                <a:spcPts val="0"/>
              </a:spcAft>
              <a:buClr>
                <a:schemeClr val="dk1"/>
              </a:buClr>
              <a:buSzPts val="1100"/>
              <a:buFont typeface="Arial"/>
              <a:buNone/>
            </a:pPr>
            <a:r>
              <a:rPr lang="en"/>
              <a:t>While keeping the key learning of Copilot: repeated AI-user alignment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42cfc7a1ec_0_6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42cfc7a1ec_0_6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42cfc7a1ec_0_6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42cfc7a1ec_0_6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42cfc7a1ec_0_7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42cfc7a1ec_0_7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42cfc7a1ec_0_8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42cfc7a1ec_0_8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42cfc7a1ec_0_8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42cfc7a1ec_0_8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42cfc7a1ec_0_8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42cfc7a1ec_0_8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42cfc7a1ec_0_8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42cfc7a1ec_0_8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80547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5225E095-0694-5A95-CA8C-CA8205CE6D32}"/>
            </a:ext>
          </a:extLst>
        </p:cNvPr>
        <p:cNvGrpSpPr/>
        <p:nvPr/>
      </p:nvGrpSpPr>
      <p:grpSpPr>
        <a:xfrm>
          <a:off x="0" y="0"/>
          <a:ext cx="0" cy="0"/>
          <a:chOff x="0" y="0"/>
          <a:chExt cx="0" cy="0"/>
        </a:xfrm>
      </p:grpSpPr>
      <p:sp>
        <p:nvSpPr>
          <p:cNvPr id="174" name="Google Shape;174;g3d362e54339_1_0:notes">
            <a:extLst>
              <a:ext uri="{FF2B5EF4-FFF2-40B4-BE49-F238E27FC236}">
                <a16:creationId xmlns:a16="http://schemas.microsoft.com/office/drawing/2014/main" id="{21252522-249D-3A5F-228B-FF25D4AD82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d362e54339_1_0:notes">
            <a:extLst>
              <a:ext uri="{FF2B5EF4-FFF2-40B4-BE49-F238E27FC236}">
                <a16:creationId xmlns:a16="http://schemas.microsoft.com/office/drawing/2014/main" id="{696BF18E-D78B-D31D-65EB-71653972ED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2725971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7075397ff0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7075397ff0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7075397ff0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7075397ff0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9bb85db9d5_0_5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9bb85db9d5_0_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9bb85db9d5_0_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9bb85db9d5_0_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d362e54339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d362e5433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3795696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58399C2A-A30D-0D97-1B5E-18D128040FE4}"/>
            </a:ext>
          </a:extLst>
        </p:cNvPr>
        <p:cNvGrpSpPr/>
        <p:nvPr/>
      </p:nvGrpSpPr>
      <p:grpSpPr>
        <a:xfrm>
          <a:off x="0" y="0"/>
          <a:ext cx="0" cy="0"/>
          <a:chOff x="0" y="0"/>
          <a:chExt cx="0" cy="0"/>
        </a:xfrm>
      </p:grpSpPr>
      <p:sp>
        <p:nvSpPr>
          <p:cNvPr id="174" name="Google Shape;174;g3d362e54339_1_0:notes">
            <a:extLst>
              <a:ext uri="{FF2B5EF4-FFF2-40B4-BE49-F238E27FC236}">
                <a16:creationId xmlns:a16="http://schemas.microsoft.com/office/drawing/2014/main" id="{1E71F165-6A99-126D-93C3-74FC45E8CD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d362e54339_1_0:notes">
            <a:extLst>
              <a:ext uri="{FF2B5EF4-FFF2-40B4-BE49-F238E27FC236}">
                <a16:creationId xmlns:a16="http://schemas.microsoft.com/office/drawing/2014/main" id="{C268046E-C1F2-A147-C6EE-7D77A1B120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41867878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E1F6299C-F66B-B620-087F-02A2EACF6999}"/>
            </a:ext>
          </a:extLst>
        </p:cNvPr>
        <p:cNvGrpSpPr/>
        <p:nvPr/>
      </p:nvGrpSpPr>
      <p:grpSpPr>
        <a:xfrm>
          <a:off x="0" y="0"/>
          <a:ext cx="0" cy="0"/>
          <a:chOff x="0" y="0"/>
          <a:chExt cx="0" cy="0"/>
        </a:xfrm>
      </p:grpSpPr>
      <p:sp>
        <p:nvSpPr>
          <p:cNvPr id="174" name="Google Shape;174;g3d362e54339_1_0:notes">
            <a:extLst>
              <a:ext uri="{FF2B5EF4-FFF2-40B4-BE49-F238E27FC236}">
                <a16:creationId xmlns:a16="http://schemas.microsoft.com/office/drawing/2014/main" id="{7054DB42-87A4-8297-19F2-293B49A8A7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d362e54339_1_0:notes">
            <a:extLst>
              <a:ext uri="{FF2B5EF4-FFF2-40B4-BE49-F238E27FC236}">
                <a16:creationId xmlns:a16="http://schemas.microsoft.com/office/drawing/2014/main" id="{99F04286-1907-353B-F424-34432BDFDD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The original GitHub Copilot completes code in your editor</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You have to accept small bits</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You have to move your cursor around</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You still have to type quite a lot </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Copilot has to infer what you are trying to do</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Can we switch POV to whole task, whole change, whole repository </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While keeping the key learning of Copilot: repeated AI-user alignment </a:t>
            </a:r>
            <a:endParaRPr dirty="0">
              <a:solidFill>
                <a:schemeClr val="dk1"/>
              </a:solidFil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23913188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9ACD6BFD-1996-76D2-2BB2-88C93470D207}"/>
            </a:ext>
          </a:extLst>
        </p:cNvPr>
        <p:cNvGrpSpPr/>
        <p:nvPr/>
      </p:nvGrpSpPr>
      <p:grpSpPr>
        <a:xfrm>
          <a:off x="0" y="0"/>
          <a:ext cx="0" cy="0"/>
          <a:chOff x="0" y="0"/>
          <a:chExt cx="0" cy="0"/>
        </a:xfrm>
      </p:grpSpPr>
      <p:sp>
        <p:nvSpPr>
          <p:cNvPr id="174" name="Google Shape;174;g3d362e54339_1_0:notes">
            <a:extLst>
              <a:ext uri="{FF2B5EF4-FFF2-40B4-BE49-F238E27FC236}">
                <a16:creationId xmlns:a16="http://schemas.microsoft.com/office/drawing/2014/main" id="{F8FD6417-F5BB-425A-3797-EC4B865CE2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d362e54339_1_0:notes">
            <a:extLst>
              <a:ext uri="{FF2B5EF4-FFF2-40B4-BE49-F238E27FC236}">
                <a16:creationId xmlns:a16="http://schemas.microsoft.com/office/drawing/2014/main" id="{AA1C9AA3-7D31-C039-E37B-DC31CD87B5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The original GitHub Copilot completes code in your editor</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You have to accept small bits</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You have to move your cursor around</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You still have to type quite a lot </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Copilot has to infer what you are trying to do</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Can we switch POV to whole task, whole change, whole repository </a:t>
            </a: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While keeping the key learning of Copilot: repeated AI-user alignment </a:t>
            </a:r>
            <a:endParaRPr dirty="0">
              <a:solidFill>
                <a:schemeClr val="dk1"/>
              </a:solidFil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29135746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41E5CD1F-73CE-8976-835D-BB0AD4AC1F02}"/>
            </a:ext>
          </a:extLst>
        </p:cNvPr>
        <p:cNvGrpSpPr/>
        <p:nvPr/>
      </p:nvGrpSpPr>
      <p:grpSpPr>
        <a:xfrm>
          <a:off x="0" y="0"/>
          <a:ext cx="0" cy="0"/>
          <a:chOff x="0" y="0"/>
          <a:chExt cx="0" cy="0"/>
        </a:xfrm>
      </p:grpSpPr>
      <p:sp>
        <p:nvSpPr>
          <p:cNvPr id="174" name="Google Shape;174;g3d362e54339_1_0:notes">
            <a:extLst>
              <a:ext uri="{FF2B5EF4-FFF2-40B4-BE49-F238E27FC236}">
                <a16:creationId xmlns:a16="http://schemas.microsoft.com/office/drawing/2014/main" id="{3094CD8F-1D50-2ABB-E9A5-85CF619B11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d362e54339_1_0:notes">
            <a:extLst>
              <a:ext uri="{FF2B5EF4-FFF2-40B4-BE49-F238E27FC236}">
                <a16:creationId xmlns:a16="http://schemas.microsoft.com/office/drawing/2014/main" id="{122321DF-FAE7-CD1C-3A35-B7057C3815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8910752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C35223C0-A9CA-A449-2FBE-CA594D9D3784}"/>
            </a:ext>
          </a:extLst>
        </p:cNvPr>
        <p:cNvGrpSpPr/>
        <p:nvPr/>
      </p:nvGrpSpPr>
      <p:grpSpPr>
        <a:xfrm>
          <a:off x="0" y="0"/>
          <a:ext cx="0" cy="0"/>
          <a:chOff x="0" y="0"/>
          <a:chExt cx="0" cy="0"/>
        </a:xfrm>
      </p:grpSpPr>
      <p:sp>
        <p:nvSpPr>
          <p:cNvPr id="174" name="Google Shape;174;g3d362e54339_1_0:notes">
            <a:extLst>
              <a:ext uri="{FF2B5EF4-FFF2-40B4-BE49-F238E27FC236}">
                <a16:creationId xmlns:a16="http://schemas.microsoft.com/office/drawing/2014/main" id="{58D1A4E6-B9FF-6C04-ABB8-6DBF497BA5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d362e54339_1_0:notes">
            <a:extLst>
              <a:ext uri="{FF2B5EF4-FFF2-40B4-BE49-F238E27FC236}">
                <a16:creationId xmlns:a16="http://schemas.microsoft.com/office/drawing/2014/main" id="{3F34CE81-A552-5EAB-13A0-783B363A59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2769820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a:extLst>
            <a:ext uri="{FF2B5EF4-FFF2-40B4-BE49-F238E27FC236}">
              <a16:creationId xmlns:a16="http://schemas.microsoft.com/office/drawing/2014/main" id="{2B3ECD29-3090-C220-9F2D-71258726ADD4}"/>
            </a:ext>
          </a:extLst>
        </p:cNvPr>
        <p:cNvGrpSpPr/>
        <p:nvPr/>
      </p:nvGrpSpPr>
      <p:grpSpPr>
        <a:xfrm>
          <a:off x="0" y="0"/>
          <a:ext cx="0" cy="0"/>
          <a:chOff x="0" y="0"/>
          <a:chExt cx="0" cy="0"/>
        </a:xfrm>
      </p:grpSpPr>
      <p:sp>
        <p:nvSpPr>
          <p:cNvPr id="204" name="Google Shape;204;g342cfc7a1ec_0_840:notes">
            <a:extLst>
              <a:ext uri="{FF2B5EF4-FFF2-40B4-BE49-F238E27FC236}">
                <a16:creationId xmlns:a16="http://schemas.microsoft.com/office/drawing/2014/main" id="{9F1C971B-0DB9-FADC-3C82-CEE70A698E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42cfc7a1ec_0_840:notes">
            <a:extLst>
              <a:ext uri="{FF2B5EF4-FFF2-40B4-BE49-F238E27FC236}">
                <a16:creationId xmlns:a16="http://schemas.microsoft.com/office/drawing/2014/main" id="{BE7F80E3-8B3F-E0B6-25AA-7EF40EFA18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99647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42cfc7a1ec_0_8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42cfc7a1ec_0_8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21988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42cfc7a1ec_0_8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42cfc7a1ec_0_8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37246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42cfc7a1ec_0_8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342cfc7a1ec_0_8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27739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42cfc7a1ec_0_8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42cfc7a1ec_0_8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AI developer tools are changing the way we write software.</a:t>
            </a:r>
            <a:endParaRPr/>
          </a:p>
          <a:p>
            <a:pPr marL="0" lvl="0" indent="0" algn="l" rtl="0">
              <a:spcBef>
                <a:spcPts val="0"/>
              </a:spcBef>
              <a:spcAft>
                <a:spcPts val="0"/>
              </a:spcAft>
              <a:buNone/>
            </a:pPr>
            <a:endParaRPr/>
          </a:p>
          <a:p>
            <a:pPr marL="0" lvl="0" indent="0" algn="l" rtl="0">
              <a:spcBef>
                <a:spcPts val="0"/>
              </a:spcBef>
              <a:spcAft>
                <a:spcPts val="0"/>
              </a:spcAft>
              <a:buNone/>
            </a:pPr>
            <a:r>
              <a:rPr lang="en"/>
              <a:t>GitHub Copilot was one of the first such tools.  It launched as a technical preview (essentially a closed beta) in June 2021. Today it has 1.8M paying users, and 50% of those users’ code is written by Copilot.  Other companies such as Google report similar proportions of AI-generated code for their comparable AI code completion tools.</a:t>
            </a:r>
            <a:endParaRPr/>
          </a:p>
          <a:p>
            <a:pPr marL="0" lvl="0" indent="0" algn="l" rtl="0">
              <a:spcBef>
                <a:spcPts val="0"/>
              </a:spcBef>
              <a:spcAft>
                <a:spcPts val="0"/>
              </a:spcAft>
              <a:buNone/>
            </a:pPr>
            <a:endParaRPr/>
          </a:p>
          <a:p>
            <a:pPr marL="0" lvl="0" indent="0" algn="l" rtl="0">
              <a:spcBef>
                <a:spcPts val="0"/>
              </a:spcBef>
              <a:spcAft>
                <a:spcPts val="0"/>
              </a:spcAft>
              <a:buNone/>
            </a:pPr>
            <a:r>
              <a:rPr lang="en"/>
              <a:t>This will only increase as the next generation of tools comes online.  These are tools that approach the problem at a higher level – for example, completing an entire development task as opposed to completing a line of code or a function</a:t>
            </a:r>
            <a:endParaRPr/>
          </a:p>
          <a:p>
            <a:pPr marL="914400" lvl="1" indent="-298450" algn="l" rtl="0">
              <a:spcBef>
                <a:spcPts val="0"/>
              </a:spcBef>
              <a:spcAft>
                <a:spcPts val="0"/>
              </a:spcAft>
              <a:buSzPts val="1100"/>
              <a:buChar char="○"/>
            </a:pPr>
            <a:r>
              <a:rPr lang="en"/>
              <a:t>Copilot Workspace, Devin, Cursor, et al.</a:t>
            </a:r>
            <a:endParaRPr/>
          </a:p>
        </p:txBody>
      </p:sp>
    </p:spTree>
    <p:extLst>
      <p:ext uri="{BB962C8B-B14F-4D97-AF65-F5344CB8AC3E}">
        <p14:creationId xmlns:p14="http://schemas.microsoft.com/office/powerpoint/2010/main" val="41616985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42cfc7a1ec_0_9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342cfc7a1ec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34647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42cfc7a1ec_0_7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42cfc7a1ec_0_7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2f92cd41c39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2f92cd41c39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 wanted to share the example of original Copilot.  </a:t>
            </a:r>
            <a:endParaRPr/>
          </a:p>
          <a:p>
            <a:pPr marL="0" lvl="0" indent="0" algn="l" rtl="0">
              <a:spcBef>
                <a:spcPts val="0"/>
              </a:spcBef>
              <a:spcAft>
                <a:spcPts val="0"/>
              </a:spcAft>
              <a:buNone/>
            </a:pPr>
            <a:endParaRPr/>
          </a:p>
          <a:p>
            <a:pPr marL="0" lvl="0" indent="0" algn="l" rtl="0">
              <a:spcBef>
                <a:spcPts val="0"/>
              </a:spcBef>
              <a:spcAft>
                <a:spcPts val="0"/>
              </a:spcAft>
              <a:buNone/>
            </a:pPr>
            <a:r>
              <a:rPr lang="en"/>
              <a:t>When original Copilot was introduced in June 2021, there were fewer than 10 people on the team.  One of the great things about software is that a small team of great people can build something with huge impact.  And this is what I meant by “asymmetric value” on the previous slide.</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03d9a84375_1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303d9a84375_1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Char char="●"/>
            </a:pPr>
            <a:r>
              <a:rPr lang="en">
                <a:solidFill>
                  <a:schemeClr val="dk1"/>
                </a:solidFill>
              </a:rPr>
              <a:t>In the PL and SWE communities, we have a long history of building really cool, innovative, useful tools that no one uses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Refactoring tools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Static analysis tools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Program verification or formal verification tools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Debugging tools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 The list goes on and on</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This is because we haven’t found the right UX to make these usable by real developers.  And usually the people building the tools don’t have UX expertise to find the right UX.</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Getting the UX right is the difference between success and failure</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061205bb1a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061205bb1a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rPr>
              <a:t>Copilot Workspace aims to help a developer solve an entire development task, such as a feature request or bug report.  It takes in a development task as input, finds the right places in a repo to address it, and then modifies the code.  </a:t>
            </a:r>
            <a:endParaRPr>
              <a:solidFill>
                <a:schemeClr val="dk1"/>
              </a:solidFill>
            </a:endParaRPr>
          </a:p>
          <a:p>
            <a:pPr marL="0" lvl="0" indent="0" algn="l" rtl="0">
              <a:lnSpc>
                <a:spcPct val="115000"/>
              </a:lnSpc>
              <a:spcBef>
                <a:spcPts val="0"/>
              </a:spcBef>
              <a:spcAft>
                <a:spcPts val="0"/>
              </a:spcAft>
              <a:buNone/>
            </a:pPr>
            <a:endParaRPr>
              <a:solidFill>
                <a:schemeClr val="dk1"/>
              </a:solidFill>
            </a:endParaRPr>
          </a:p>
          <a:p>
            <a:pPr marL="0" lvl="0" indent="0" algn="l" rtl="0">
              <a:lnSpc>
                <a:spcPct val="115000"/>
              </a:lnSpc>
              <a:spcBef>
                <a:spcPts val="0"/>
              </a:spcBef>
              <a:spcAft>
                <a:spcPts val="0"/>
              </a:spcAft>
              <a:buNone/>
            </a:pPr>
            <a:r>
              <a:rPr lang="en">
                <a:solidFill>
                  <a:schemeClr val="dk1"/>
                </a:solidFill>
              </a:rPr>
              <a:t>This is what the first prototype of Copilot Workspace looked like.  It was an experiment by one of our team members, Don Syme.  He had been inspired by SpecLang, but where SpecLang wanted the NL to be the source of truth, Don wanted to explore keeping code as the source of truth, but enabling the user to modify it by editing a generated natural language specification.</a:t>
            </a:r>
            <a:endParaRPr>
              <a:solidFill>
                <a:schemeClr val="dk1"/>
              </a:solidFill>
            </a:endParaRPr>
          </a:p>
          <a:p>
            <a:pPr marL="0" lvl="0" indent="0" algn="l" rtl="0">
              <a:lnSpc>
                <a:spcPct val="115000"/>
              </a:lnSpc>
              <a:spcBef>
                <a:spcPts val="0"/>
              </a:spcBef>
              <a:spcAft>
                <a:spcPts val="0"/>
              </a:spcAft>
              <a:buNone/>
            </a:pPr>
            <a:endParaRPr>
              <a:solidFill>
                <a:schemeClr val="dk1"/>
              </a:solidFill>
            </a:endParaRPr>
          </a:p>
          <a:p>
            <a:pPr marL="0" lvl="0" indent="0" algn="l" rtl="0">
              <a:lnSpc>
                <a:spcPct val="115000"/>
              </a:lnSpc>
              <a:spcBef>
                <a:spcPts val="0"/>
              </a:spcBef>
              <a:spcAft>
                <a:spcPts val="0"/>
              </a:spcAft>
              <a:buNone/>
            </a:pPr>
            <a:r>
              <a:rPr lang="en">
                <a:solidFill>
                  <a:schemeClr val="dk1"/>
                </a:solidFill>
              </a:rPr>
              <a:t>He called it “Extract, Edit, Apply.” The user would first extract a specification of the code in a repo with respect to some topic (here it’s called the “pivot”), then edit that specification, then apply that edit to the code to update it in the way desired by the user.</a:t>
            </a:r>
            <a:endParaRPr>
              <a:solidFill>
                <a:schemeClr val="dk1"/>
              </a:solidFill>
            </a:endParaRPr>
          </a:p>
          <a:p>
            <a:pPr marL="0" lvl="0" indent="0" algn="l" rtl="0">
              <a:lnSpc>
                <a:spcPct val="115000"/>
              </a:lnSpc>
              <a:spcBef>
                <a:spcPts val="0"/>
              </a:spcBef>
              <a:spcAft>
                <a:spcPts val="0"/>
              </a:spcAft>
              <a:buNone/>
            </a:pPr>
            <a:endParaRPr>
              <a:solidFill>
                <a:schemeClr val="dk1"/>
              </a:solidFill>
            </a:endParaRPr>
          </a:p>
          <a:p>
            <a:pPr marL="0" lvl="0" indent="0" algn="l" rtl="0">
              <a:lnSpc>
                <a:spcPct val="115000"/>
              </a:lnSpc>
              <a:spcBef>
                <a:spcPts val="0"/>
              </a:spcBef>
              <a:spcAft>
                <a:spcPts val="0"/>
              </a:spcAft>
              <a:buNone/>
            </a:pPr>
            <a:r>
              <a:rPr lang="en">
                <a:solidFill>
                  <a:schemeClr val="dk1"/>
                </a:solidFill>
              </a:rPr>
              <a:t>Don is brilliant, but he’s not a front-end developer, and so you can see that this is rough, but it gets the idea across.  And we’re kept the core flow of extracting a specification (and now a plan), and letting the user edit those and then apply or implement the changes in the code.</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061205bb1a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3061205bb1a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rPr>
              <a:t>This is the first publicly shown version of CW.  It was demoed at GitHub Universe in October 2023.  At this point we had brought on our first front end developer, Cole Bemis, and he totally revamped CW, and it looked amazing. Cole previously worked on GitHub’s design system, Primer, and you can see his fingerprints on this – it’s now consistent with GitHub’s design language, and looks like a real product.</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061205bb1a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3061205bb1a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rPr>
              <a:t>After Universe, we brought on a second frontend developer, Terkel Gjervik, and he revised the left hand side with a timeline view.  This makes it clear how you are supposed to progress through the flow – start with the issue, proceed to spec, then generate a plan, then implement the code changes.  This version has lasted the longest, from around March 2024 until very recently.</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3061205bb1a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3061205bb1a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the latest UI revamp, which is an “experiment” that our users can opt into.  We heard feedback from our users they wanted help from Copilot Workspace </a:t>
            </a:r>
            <a:r>
              <a:rPr lang="en" i="1"/>
              <a:t>before</a:t>
            </a:r>
            <a:r>
              <a:rPr lang="en"/>
              <a:t> starting to implement.  Often you might have an issue where you don’t actually know how to solve it, and users want to brainstorm possible approaches with the AI in the context of that issue and that repo.  And so this version focuses on the brainstorming side of using CW.  </a:t>
            </a:r>
            <a:endParaRPr/>
          </a:p>
          <a:p>
            <a:pPr marL="0" lvl="0" indent="0" algn="l" rtl="0">
              <a:spcBef>
                <a:spcPts val="0"/>
              </a:spcBef>
              <a:spcAft>
                <a:spcPts val="0"/>
              </a:spcAft>
              <a:buNone/>
            </a:pPr>
            <a:endParaRPr/>
          </a:p>
          <a:p>
            <a:pPr marL="0" lvl="0" indent="0" algn="l" rtl="0">
              <a:spcBef>
                <a:spcPts val="0"/>
              </a:spcBef>
              <a:spcAft>
                <a:spcPts val="0"/>
              </a:spcAft>
              <a:buNone/>
            </a:pPr>
            <a:r>
              <a:rPr lang="en"/>
              <a:t>You’ll note that it removes the spec and plan.  This is a big change, and we want to see how users receive it before making it the default.  But early feedback is very positive.</a:t>
            </a:r>
            <a:endParaRPr/>
          </a:p>
          <a:p>
            <a:pPr marL="0" lvl="0" indent="0" algn="l" rtl="0">
              <a:spcBef>
                <a:spcPts val="0"/>
              </a:spcBef>
              <a:spcAft>
                <a:spcPts val="0"/>
              </a:spcAft>
              <a:buNone/>
            </a:pPr>
            <a:endParaRPr/>
          </a:p>
          <a:p>
            <a:pPr marL="0" lvl="0" indent="0" algn="l" rtl="0">
              <a:spcBef>
                <a:spcPts val="0"/>
              </a:spcBef>
              <a:spcAft>
                <a:spcPts val="0"/>
              </a:spcAft>
              <a:buNone/>
            </a:pPr>
            <a:r>
              <a:rPr lang="en"/>
              <a:t>We’ve spent a lot of time and effort on the UX of Copilot Workspace, and we believe that having a well-designed and polished UX is critical to making it something our users love to use.</a:t>
            </a: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142400" y="2444875"/>
            <a:ext cx="6594300" cy="656400"/>
          </a:xfrm>
          <a:prstGeom prst="rect">
            <a:avLst/>
          </a:prstGeom>
        </p:spPr>
        <p:txBody>
          <a:bodyPr spcFirstLastPara="1" wrap="square" lIns="0" tIns="0" rIns="0" bIns="0" anchor="t" anchorCtr="0">
            <a:normAutofit/>
          </a:bodyPr>
          <a:lstStyle>
            <a:lvl1pPr lvl="0">
              <a:spcBef>
                <a:spcPts val="0"/>
              </a:spcBef>
              <a:spcAft>
                <a:spcPts val="0"/>
              </a:spcAft>
              <a:buSzPts val="3600"/>
              <a:buFont typeface="Inter"/>
              <a:buNone/>
              <a:defRPr sz="3600" b="1">
                <a:latin typeface="Inter"/>
                <a:ea typeface="Inter"/>
                <a:cs typeface="Inter"/>
                <a:sym typeface="Inter"/>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1142400" y="3101275"/>
            <a:ext cx="6492600" cy="792600"/>
          </a:xfrm>
          <a:prstGeom prst="rect">
            <a:avLst/>
          </a:prstGeom>
        </p:spPr>
        <p:txBody>
          <a:bodyPr spcFirstLastPara="1" wrap="square" lIns="0" tIns="0" rIns="0" bIns="0" anchor="t" anchorCtr="0">
            <a:normAutofit/>
          </a:bodyPr>
          <a:lstStyle>
            <a:lvl1pPr lvl="0">
              <a:lnSpc>
                <a:spcPct val="100000"/>
              </a:lnSpc>
              <a:spcBef>
                <a:spcPts val="0"/>
              </a:spcBef>
              <a:spcAft>
                <a:spcPts val="0"/>
              </a:spcAft>
              <a:buClr>
                <a:srgbClr val="B0CCC7"/>
              </a:buClr>
              <a:buSzPts val="1800"/>
              <a:buFont typeface="Inter Light"/>
              <a:buNone/>
              <a:defRPr>
                <a:solidFill>
                  <a:srgbClr val="B0CCC7"/>
                </a:solidFill>
                <a:latin typeface="Inter Light"/>
                <a:ea typeface="Inter Light"/>
                <a:cs typeface="Inter Light"/>
                <a:sym typeface="Inter Light"/>
              </a:defRPr>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a:endParaRPr/>
          </a:p>
        </p:txBody>
      </p:sp>
      <p:pic>
        <p:nvPicPr>
          <p:cNvPr id="12" name="Google Shape;12;p2"/>
          <p:cNvPicPr preferRelativeResize="0"/>
          <p:nvPr/>
        </p:nvPicPr>
        <p:blipFill>
          <a:blip r:embed="rId2">
            <a:alphaModFix/>
          </a:blip>
          <a:stretch>
            <a:fillRect/>
          </a:stretch>
        </p:blipFill>
        <p:spPr>
          <a:xfrm>
            <a:off x="669377" y="728025"/>
            <a:ext cx="1932700" cy="19327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mp; Subtitle">
  <p:cSld name="TITLE_2">
    <p:spTree>
      <p:nvGrpSpPr>
        <p:cNvPr id="1" name="Shape 13"/>
        <p:cNvGrpSpPr/>
        <p:nvPr/>
      </p:nvGrpSpPr>
      <p:grpSpPr>
        <a:xfrm>
          <a:off x="0" y="0"/>
          <a:ext cx="0" cy="0"/>
          <a:chOff x="0" y="0"/>
          <a:chExt cx="0" cy="0"/>
        </a:xfrm>
      </p:grpSpPr>
      <p:sp>
        <p:nvSpPr>
          <p:cNvPr id="14" name="Google Shape;14;p3"/>
          <p:cNvSpPr txBox="1">
            <a:spLocks noGrp="1"/>
          </p:cNvSpPr>
          <p:nvPr>
            <p:ph type="ctrTitle"/>
          </p:nvPr>
        </p:nvSpPr>
        <p:spPr>
          <a:xfrm>
            <a:off x="756750" y="2256050"/>
            <a:ext cx="6594300" cy="656400"/>
          </a:xfrm>
          <a:prstGeom prst="rect">
            <a:avLst/>
          </a:prstGeom>
        </p:spPr>
        <p:txBody>
          <a:bodyPr spcFirstLastPara="1" wrap="square" lIns="0" tIns="0" rIns="0" bIns="0" anchor="t" anchorCtr="0">
            <a:normAutofit/>
          </a:bodyPr>
          <a:lstStyle>
            <a:lvl1pPr lvl="0" rtl="0">
              <a:spcBef>
                <a:spcPts val="0"/>
              </a:spcBef>
              <a:spcAft>
                <a:spcPts val="0"/>
              </a:spcAft>
              <a:buSzPts val="3600"/>
              <a:buFont typeface="Inter"/>
              <a:buNone/>
              <a:defRPr sz="3600" b="1">
                <a:latin typeface="Inter"/>
                <a:ea typeface="Inter"/>
                <a:cs typeface="Inter"/>
                <a:sym typeface="Inter"/>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15" name="Google Shape;15;p3"/>
          <p:cNvSpPr txBox="1">
            <a:spLocks noGrp="1"/>
          </p:cNvSpPr>
          <p:nvPr>
            <p:ph type="subTitle" idx="1"/>
          </p:nvPr>
        </p:nvSpPr>
        <p:spPr>
          <a:xfrm>
            <a:off x="756750" y="2912450"/>
            <a:ext cx="6492600" cy="792600"/>
          </a:xfrm>
          <a:prstGeom prst="rect">
            <a:avLst/>
          </a:prstGeom>
        </p:spPr>
        <p:txBody>
          <a:bodyPr spcFirstLastPara="1" wrap="square" lIns="0" tIns="0" rIns="0" bIns="0" anchor="t" anchorCtr="0">
            <a:normAutofit/>
          </a:bodyPr>
          <a:lstStyle>
            <a:lvl1pPr lvl="0" rtl="0">
              <a:lnSpc>
                <a:spcPct val="100000"/>
              </a:lnSpc>
              <a:spcBef>
                <a:spcPts val="0"/>
              </a:spcBef>
              <a:spcAft>
                <a:spcPts val="0"/>
              </a:spcAft>
              <a:buClr>
                <a:srgbClr val="B0CCC7"/>
              </a:buClr>
              <a:buSzPts val="1800"/>
              <a:buFont typeface="Inter Light"/>
              <a:buNone/>
              <a:defRPr>
                <a:solidFill>
                  <a:srgbClr val="B0CCC7"/>
                </a:solidFill>
                <a:latin typeface="Inter Light"/>
                <a:ea typeface="Inter Light"/>
                <a:cs typeface="Inter Light"/>
                <a:sym typeface="Inter Light"/>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Clr>
                <a:srgbClr val="B0CCC7"/>
              </a:buClr>
              <a:buSzPts val="1800"/>
              <a:buFont typeface="Arial" panose="020B0604020202020204" pitchFamily="34" charset="0"/>
              <a:buChar char="•"/>
              <a:defRPr>
                <a:solidFill>
                  <a:srgbClr val="B0CCC7"/>
                </a:solidFill>
              </a:defRPr>
            </a:lvl1pPr>
            <a:lvl2pPr marL="914400" lvl="1" indent="-317500">
              <a:spcBef>
                <a:spcPts val="0"/>
              </a:spcBef>
              <a:spcAft>
                <a:spcPts val="0"/>
              </a:spcAft>
              <a:buClr>
                <a:srgbClr val="B0CCC7"/>
              </a:buClr>
              <a:buSzPts val="1400"/>
              <a:buChar char="○"/>
              <a:defRPr>
                <a:solidFill>
                  <a:srgbClr val="B0CCC7"/>
                </a:solidFill>
              </a:defRPr>
            </a:lvl2pPr>
            <a:lvl3pPr marL="1371600" lvl="2" indent="-317500">
              <a:spcBef>
                <a:spcPts val="0"/>
              </a:spcBef>
              <a:spcAft>
                <a:spcPts val="0"/>
              </a:spcAft>
              <a:buClr>
                <a:srgbClr val="B0CCC7"/>
              </a:buClr>
              <a:buSzPts val="1400"/>
              <a:buChar char="■"/>
              <a:defRPr>
                <a:solidFill>
                  <a:srgbClr val="B0CCC7"/>
                </a:solidFill>
              </a:defRPr>
            </a:lvl3pPr>
            <a:lvl4pPr marL="1828800" lvl="3" indent="-317500">
              <a:spcBef>
                <a:spcPts val="0"/>
              </a:spcBef>
              <a:spcAft>
                <a:spcPts val="0"/>
              </a:spcAft>
              <a:buClr>
                <a:srgbClr val="B0CCC7"/>
              </a:buClr>
              <a:buSzPts val="1400"/>
              <a:buChar char="●"/>
              <a:defRPr>
                <a:solidFill>
                  <a:srgbClr val="B0CCC7"/>
                </a:solidFill>
              </a:defRPr>
            </a:lvl4pPr>
            <a:lvl5pPr marL="2286000" lvl="4" indent="-317500">
              <a:spcBef>
                <a:spcPts val="0"/>
              </a:spcBef>
              <a:spcAft>
                <a:spcPts val="0"/>
              </a:spcAft>
              <a:buClr>
                <a:srgbClr val="B0CCC7"/>
              </a:buClr>
              <a:buSzPts val="1400"/>
              <a:buChar char="○"/>
              <a:defRPr>
                <a:solidFill>
                  <a:srgbClr val="B0CCC7"/>
                </a:solidFill>
              </a:defRPr>
            </a:lvl5pPr>
            <a:lvl6pPr marL="2743200" lvl="5" indent="-317500">
              <a:spcBef>
                <a:spcPts val="0"/>
              </a:spcBef>
              <a:spcAft>
                <a:spcPts val="0"/>
              </a:spcAft>
              <a:buClr>
                <a:srgbClr val="B0CCC7"/>
              </a:buClr>
              <a:buSzPts val="1400"/>
              <a:buChar char="■"/>
              <a:defRPr>
                <a:solidFill>
                  <a:srgbClr val="B0CCC7"/>
                </a:solidFill>
              </a:defRPr>
            </a:lvl6pPr>
            <a:lvl7pPr marL="3200400" lvl="6" indent="-317500">
              <a:spcBef>
                <a:spcPts val="0"/>
              </a:spcBef>
              <a:spcAft>
                <a:spcPts val="0"/>
              </a:spcAft>
              <a:buClr>
                <a:srgbClr val="B0CCC7"/>
              </a:buClr>
              <a:buSzPts val="1400"/>
              <a:buChar char="●"/>
              <a:defRPr>
                <a:solidFill>
                  <a:srgbClr val="B0CCC7"/>
                </a:solidFill>
              </a:defRPr>
            </a:lvl7pPr>
            <a:lvl8pPr marL="3657600" lvl="7" indent="-317500">
              <a:spcBef>
                <a:spcPts val="0"/>
              </a:spcBef>
              <a:spcAft>
                <a:spcPts val="0"/>
              </a:spcAft>
              <a:buClr>
                <a:srgbClr val="B0CCC7"/>
              </a:buClr>
              <a:buSzPts val="1400"/>
              <a:buChar char="○"/>
              <a:defRPr>
                <a:solidFill>
                  <a:srgbClr val="B0CCC7"/>
                </a:solidFill>
              </a:defRPr>
            </a:lvl8pPr>
            <a:lvl9pPr marL="4114800" lvl="8" indent="-317500">
              <a:spcBef>
                <a:spcPts val="0"/>
              </a:spcBef>
              <a:spcAft>
                <a:spcPts val="0"/>
              </a:spcAft>
              <a:buClr>
                <a:srgbClr val="B0CCC7"/>
              </a:buClr>
              <a:buSzPts val="1400"/>
              <a:buChar char="■"/>
              <a:defRPr>
                <a:solidFill>
                  <a:srgbClr val="B0CCC7"/>
                </a:solidFill>
              </a:defRPr>
            </a:lvl9pPr>
          </a:lstStyle>
          <a:p>
            <a:endParaRPr dirty="0"/>
          </a:p>
        </p:txBody>
      </p:sp>
      <p:sp>
        <p:nvSpPr>
          <p:cNvPr id="19" name="Google Shape;19;p4"/>
          <p:cNvSpPr txBox="1">
            <a:spLocks noGrp="1"/>
          </p:cNvSpPr>
          <p:nvPr>
            <p:ph type="sldNum" idx="12"/>
          </p:nvPr>
        </p:nvSpPr>
        <p:spPr>
          <a:xfrm>
            <a:off x="8080783" y="4484042"/>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90250" y="450150"/>
            <a:ext cx="67389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b="1"/>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7"/>
        <p:cNvGrpSpPr/>
        <p:nvPr/>
      </p:nvGrpSpPr>
      <p:grpSpPr>
        <a:xfrm>
          <a:off x="0" y="0"/>
          <a:ext cx="0" cy="0"/>
          <a:chOff x="0" y="0"/>
          <a:chExt cx="0" cy="0"/>
        </a:xfrm>
      </p:grpSpPr>
      <p:sp>
        <p:nvSpPr>
          <p:cNvPr id="28" name="Google Shape;28;p7"/>
          <p:cNvSpPr/>
          <p:nvPr/>
        </p:nvSpPr>
        <p:spPr>
          <a:xfrm>
            <a:off x="4572000" y="25"/>
            <a:ext cx="45720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7"/>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3600"/>
              <a:buNone/>
              <a:defRPr sz="3600" b="1"/>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0" name="Google Shape;30;p7"/>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Clr>
                <a:srgbClr val="B0CCC7"/>
              </a:buClr>
              <a:buSzPts val="2100"/>
              <a:buNone/>
              <a:defRPr sz="2100">
                <a:solidFill>
                  <a:srgbClr val="B0CCC7"/>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1" name="Google Shape;31;p7"/>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Clr>
                <a:srgbClr val="1B1F24"/>
              </a:buClr>
              <a:buSzPts val="1800"/>
              <a:buChar char="●"/>
              <a:defRPr>
                <a:solidFill>
                  <a:srgbClr val="1B1F24"/>
                </a:solidFill>
              </a:defRPr>
            </a:lvl1pPr>
            <a:lvl2pPr marL="914400" lvl="1" indent="-317500" rtl="0">
              <a:spcBef>
                <a:spcPts val="0"/>
              </a:spcBef>
              <a:spcAft>
                <a:spcPts val="0"/>
              </a:spcAft>
              <a:buClr>
                <a:srgbClr val="1B1F24"/>
              </a:buClr>
              <a:buSzPts val="1400"/>
              <a:buChar char="○"/>
              <a:defRPr>
                <a:solidFill>
                  <a:srgbClr val="1B1F24"/>
                </a:solidFill>
              </a:defRPr>
            </a:lvl2pPr>
            <a:lvl3pPr marL="1371600" lvl="2" indent="-317500" rtl="0">
              <a:spcBef>
                <a:spcPts val="0"/>
              </a:spcBef>
              <a:spcAft>
                <a:spcPts val="0"/>
              </a:spcAft>
              <a:buClr>
                <a:srgbClr val="1B1F24"/>
              </a:buClr>
              <a:buSzPts val="1400"/>
              <a:buChar char="■"/>
              <a:defRPr>
                <a:solidFill>
                  <a:srgbClr val="1B1F24"/>
                </a:solidFill>
              </a:defRPr>
            </a:lvl3pPr>
            <a:lvl4pPr marL="1828800" lvl="3" indent="-317500" rtl="0">
              <a:spcBef>
                <a:spcPts val="0"/>
              </a:spcBef>
              <a:spcAft>
                <a:spcPts val="0"/>
              </a:spcAft>
              <a:buClr>
                <a:srgbClr val="1B1F24"/>
              </a:buClr>
              <a:buSzPts val="1400"/>
              <a:buChar char="●"/>
              <a:defRPr>
                <a:solidFill>
                  <a:srgbClr val="1B1F24"/>
                </a:solidFill>
              </a:defRPr>
            </a:lvl4pPr>
            <a:lvl5pPr marL="2286000" lvl="4" indent="-317500" rtl="0">
              <a:spcBef>
                <a:spcPts val="0"/>
              </a:spcBef>
              <a:spcAft>
                <a:spcPts val="0"/>
              </a:spcAft>
              <a:buClr>
                <a:srgbClr val="1B1F24"/>
              </a:buClr>
              <a:buSzPts val="1400"/>
              <a:buChar char="○"/>
              <a:defRPr>
                <a:solidFill>
                  <a:srgbClr val="1B1F24"/>
                </a:solidFill>
              </a:defRPr>
            </a:lvl5pPr>
            <a:lvl6pPr marL="2743200" lvl="5" indent="-317500" rtl="0">
              <a:spcBef>
                <a:spcPts val="0"/>
              </a:spcBef>
              <a:spcAft>
                <a:spcPts val="0"/>
              </a:spcAft>
              <a:buClr>
                <a:srgbClr val="1B1F24"/>
              </a:buClr>
              <a:buSzPts val="1400"/>
              <a:buChar char="■"/>
              <a:defRPr>
                <a:solidFill>
                  <a:srgbClr val="1B1F24"/>
                </a:solidFill>
              </a:defRPr>
            </a:lvl6pPr>
            <a:lvl7pPr marL="3200400" lvl="6" indent="-317500" rtl="0">
              <a:spcBef>
                <a:spcPts val="0"/>
              </a:spcBef>
              <a:spcAft>
                <a:spcPts val="0"/>
              </a:spcAft>
              <a:buClr>
                <a:srgbClr val="1B1F24"/>
              </a:buClr>
              <a:buSzPts val="1400"/>
              <a:buChar char="●"/>
              <a:defRPr>
                <a:solidFill>
                  <a:srgbClr val="1B1F24"/>
                </a:solidFill>
              </a:defRPr>
            </a:lvl7pPr>
            <a:lvl8pPr marL="3657600" lvl="7" indent="-317500" rtl="0">
              <a:spcBef>
                <a:spcPts val="0"/>
              </a:spcBef>
              <a:spcAft>
                <a:spcPts val="0"/>
              </a:spcAft>
              <a:buClr>
                <a:srgbClr val="1B1F24"/>
              </a:buClr>
              <a:buSzPts val="1400"/>
              <a:buChar char="○"/>
              <a:defRPr>
                <a:solidFill>
                  <a:srgbClr val="1B1F24"/>
                </a:solidFill>
              </a:defRPr>
            </a:lvl8pPr>
            <a:lvl9pPr marL="4114800" lvl="8" indent="-317500" rtl="0">
              <a:spcBef>
                <a:spcPts val="0"/>
              </a:spcBef>
              <a:spcAft>
                <a:spcPts val="0"/>
              </a:spcAft>
              <a:buClr>
                <a:srgbClr val="1B1F24"/>
              </a:buClr>
              <a:buSzPts val="1400"/>
              <a:buChar char="■"/>
              <a:defRPr>
                <a:solidFill>
                  <a:srgbClr val="1B1F24"/>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2"/>
        <p:cNvGrpSpPr/>
        <p:nvPr/>
      </p:nvGrpSpPr>
      <p:grpSpPr>
        <a:xfrm>
          <a:off x="0" y="0"/>
          <a:ext cx="0" cy="0"/>
          <a:chOff x="0" y="0"/>
          <a:chExt cx="0" cy="0"/>
        </a:xfrm>
      </p:grpSpPr>
      <p:sp>
        <p:nvSpPr>
          <p:cNvPr id="33" name="Google Shape;33;p8"/>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Font typeface="Inter Black"/>
              <a:buNone/>
              <a:defRPr sz="12000">
                <a:latin typeface="Inter Black"/>
                <a:ea typeface="Inter Black"/>
                <a:cs typeface="Inter Black"/>
                <a:sym typeface="Inter Black"/>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4" name="Google Shape;34;p8"/>
          <p:cNvSpPr txBox="1">
            <a:spLocks noGrp="1"/>
          </p:cNvSpPr>
          <p:nvPr>
            <p:ph type="subTitle" idx="1"/>
          </p:nvPr>
        </p:nvSpPr>
        <p:spPr>
          <a:xfrm>
            <a:off x="1325700" y="2922700"/>
            <a:ext cx="6492600" cy="792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Clr>
                <a:srgbClr val="B0CCC7"/>
              </a:buClr>
              <a:buSzPts val="1800"/>
              <a:buFont typeface="Inter Light"/>
              <a:buNone/>
              <a:defRPr>
                <a:solidFill>
                  <a:srgbClr val="B0CCC7"/>
                </a:solidFill>
                <a:latin typeface="Inter Light"/>
                <a:ea typeface="Inter Light"/>
                <a:cs typeface="Inter Light"/>
                <a:sym typeface="Inter Light"/>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
        <p:cNvGrpSpPr/>
        <p:nvPr/>
      </p:nvGrpSpPr>
      <p:grpSpPr>
        <a:xfrm>
          <a:off x="0" y="0"/>
          <a:ext cx="0" cy="0"/>
          <a:chOff x="0" y="0"/>
          <a:chExt cx="0" cy="0"/>
        </a:xfrm>
      </p:grpSpPr>
      <p:sp>
        <p:nvSpPr>
          <p:cNvPr id="36" name="Google Shape;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106649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dark-2">
    <p:bg>
      <p:bgPr>
        <a:solidFill>
          <a:srgbClr val="1B1F2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1pPr>
            <a:lvl2pPr lvl="1">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2pPr>
            <a:lvl3pPr lvl="2">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3pPr>
            <a:lvl4pPr lvl="3">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4pPr>
            <a:lvl5pPr lvl="4">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5pPr>
            <a:lvl6pPr lvl="5">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6pPr>
            <a:lvl7pPr lvl="6">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7pPr>
            <a:lvl8pPr lvl="7">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8pPr>
            <a:lvl9pPr lvl="8">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Font typeface="Inter"/>
              <a:buChar char="●"/>
              <a:defRPr sz="1800">
                <a:solidFill>
                  <a:schemeClr val="lt2"/>
                </a:solidFill>
                <a:latin typeface="Inter"/>
                <a:ea typeface="Inter"/>
                <a:cs typeface="Inter"/>
                <a:sym typeface="Inter"/>
              </a:defRPr>
            </a:lvl1pPr>
            <a:lvl2pPr marL="914400" lvl="1"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2pPr>
            <a:lvl3pPr marL="1371600" lvl="2"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3pPr>
            <a:lvl4pPr marL="1828800" lvl="3"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4pPr>
            <a:lvl5pPr marL="2286000" lvl="4"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5pPr>
            <a:lvl6pPr marL="2743200" lvl="5"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6pPr>
            <a:lvl7pPr marL="3200400" lvl="6"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7pPr>
            <a:lvl8pPr marL="3657600" lvl="7"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8pPr>
            <a:lvl9pPr marL="4114800" lvl="8" indent="-3175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9pPr>
          </a:lstStyle>
          <a:p>
            <a:endParaRPr/>
          </a:p>
        </p:txBody>
      </p:sp>
      <p:pic>
        <p:nvPicPr>
          <p:cNvPr id="8" name="Google Shape;8;p1"/>
          <p:cNvPicPr preferRelativeResize="0"/>
          <p:nvPr/>
        </p:nvPicPr>
        <p:blipFill>
          <a:blip r:embed="rId11">
            <a:alphaModFix/>
          </a:blip>
          <a:stretch>
            <a:fillRect/>
          </a:stretch>
        </p:blipFill>
        <p:spPr>
          <a:xfrm>
            <a:off x="-35839" y="4427100"/>
            <a:ext cx="792600" cy="792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hyperlink" Target="mailto:dsyme@github.com" TargetMode="External"/><Relationship Id="rId2" Type="http://schemas.openxmlformats.org/officeDocument/2006/relationships/notesSlide" Target="../notesSlides/notesSlide40.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hyperlink" Target="https://bsky.app/profile/dsyme.bsky.social"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githubnext.com/" TargetMode="External"/><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10"/>
          <p:cNvSpPr txBox="1">
            <a:spLocks noGrp="1"/>
          </p:cNvSpPr>
          <p:nvPr>
            <p:ph type="ctrTitle"/>
          </p:nvPr>
        </p:nvSpPr>
        <p:spPr>
          <a:xfrm>
            <a:off x="1142400" y="2294700"/>
            <a:ext cx="7812900" cy="1135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sz="3400" dirty="0"/>
              <a:t>AI-assisted Software Development</a:t>
            </a:r>
            <a:br>
              <a:rPr lang="en" sz="3400" dirty="0"/>
            </a:br>
            <a:r>
              <a:rPr lang="en" sz="2377" b="0" dirty="0"/>
              <a:t>Trends and Themes</a:t>
            </a:r>
            <a:endParaRPr sz="2377" b="0" dirty="0"/>
          </a:p>
        </p:txBody>
      </p:sp>
      <p:sp>
        <p:nvSpPr>
          <p:cNvPr id="42" name="Google Shape;42;p10"/>
          <p:cNvSpPr txBox="1">
            <a:spLocks noGrp="1"/>
          </p:cNvSpPr>
          <p:nvPr>
            <p:ph type="subTitle" idx="1"/>
          </p:nvPr>
        </p:nvSpPr>
        <p:spPr>
          <a:xfrm>
            <a:off x="1142400" y="3518950"/>
            <a:ext cx="6492600" cy="11130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dirty="0"/>
              <a:t>Don Syme</a:t>
            </a:r>
            <a:endParaRPr dirty="0"/>
          </a:p>
          <a:p>
            <a:pPr marL="0" lvl="0" indent="0" algn="l" rtl="0">
              <a:spcBef>
                <a:spcPts val="0"/>
              </a:spcBef>
              <a:spcAft>
                <a:spcPts val="0"/>
              </a:spcAft>
              <a:buNone/>
            </a:pPr>
            <a:r>
              <a:rPr lang="en" dirty="0"/>
              <a:t>Principal Researcher, GitHub Next</a:t>
            </a:r>
            <a:endParaRPr dirty="0"/>
          </a:p>
          <a:p>
            <a:pPr marL="0" lvl="0" indent="0" algn="l" rtl="0">
              <a:spcBef>
                <a:spcPts val="0"/>
              </a:spcBef>
              <a:spcAft>
                <a:spcPts val="0"/>
              </a:spcAft>
              <a:buNone/>
            </a:pPr>
            <a:r>
              <a:rPr lang="en" dirty="0"/>
              <a:t>March 2026</a:t>
            </a:r>
            <a:endParaRPr dirty="0"/>
          </a:p>
          <a:p>
            <a:pPr marL="0" lvl="0" indent="0" algn="l" rtl="0">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ctrTitle"/>
          </p:nvPr>
        </p:nvSpPr>
        <p:spPr>
          <a:xfrm>
            <a:off x="1142400" y="2444875"/>
            <a:ext cx="6594300" cy="656400"/>
          </a:xfrm>
          <a:prstGeom prst="rect">
            <a:avLst/>
          </a:prstGeom>
        </p:spPr>
        <p:txBody>
          <a:bodyPr spcFirstLastPara="1" wrap="square" lIns="0" tIns="0" rIns="0" bIns="0" anchor="t" anchorCtr="0">
            <a:normAutofit fontScale="90000"/>
          </a:bodyPr>
          <a:lstStyle/>
          <a:p>
            <a:pPr marL="0" lvl="0" indent="0" algn="l" rtl="0">
              <a:spcBef>
                <a:spcPts val="0"/>
              </a:spcBef>
              <a:spcAft>
                <a:spcPts val="0"/>
              </a:spcAft>
              <a:buNone/>
            </a:pPr>
            <a:r>
              <a:rPr lang="en"/>
              <a:t>GitHub Next</a:t>
            </a:r>
            <a:endParaRPr/>
          </a:p>
          <a:p>
            <a:pPr marL="0" lvl="0" indent="0" algn="l" rtl="0">
              <a:lnSpc>
                <a:spcPct val="120000"/>
              </a:lnSpc>
              <a:spcBef>
                <a:spcPts val="2400"/>
              </a:spcBef>
              <a:spcAft>
                <a:spcPts val="0"/>
              </a:spcAft>
              <a:buNone/>
            </a:pPr>
            <a:r>
              <a:rPr lang="en" sz="2300" b="0" i="1">
                <a:latin typeface="Roboto"/>
                <a:ea typeface="Roboto"/>
                <a:cs typeface="Roboto"/>
                <a:sym typeface="Roboto"/>
              </a:rPr>
              <a:t>Research, Build, Balance, Ship, Learn</a:t>
            </a:r>
            <a:endParaRPr sz="2300" b="0" i="1">
              <a:latin typeface="Roboto"/>
              <a:ea typeface="Roboto"/>
              <a:cs typeface="Roboto"/>
              <a:sym typeface="Roboto"/>
            </a:endParaRPr>
          </a:p>
          <a:p>
            <a:pPr marL="0" lvl="0" indent="0" algn="l" rtl="0">
              <a:spcBef>
                <a:spcPts val="0"/>
              </a:spcBef>
              <a:spcAft>
                <a:spcPts val="0"/>
              </a:spcAft>
              <a:buNone/>
            </a:pPr>
            <a:endParaRPr/>
          </a:p>
        </p:txBody>
      </p:sp>
      <p:pic>
        <p:nvPicPr>
          <p:cNvPr id="48" name="Google Shape;48;p11"/>
          <p:cNvPicPr preferRelativeResize="0"/>
          <p:nvPr/>
        </p:nvPicPr>
        <p:blipFill>
          <a:blip r:embed="rId3">
            <a:alphaModFix/>
          </a:blip>
          <a:stretch>
            <a:fillRect/>
          </a:stretch>
        </p:blipFill>
        <p:spPr>
          <a:xfrm>
            <a:off x="4267798" y="347975"/>
            <a:ext cx="4675575" cy="1820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12"/>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endParaRPr sz="2820"/>
          </a:p>
        </p:txBody>
      </p:sp>
      <p:sp>
        <p:nvSpPr>
          <p:cNvPr id="55" name="Google Shape;55;p12"/>
          <p:cNvSpPr txBox="1">
            <a:spLocks noGrp="1"/>
          </p:cNvSpPr>
          <p:nvPr>
            <p:ph type="body" idx="1"/>
          </p:nvPr>
        </p:nvSpPr>
        <p:spPr>
          <a:xfrm>
            <a:off x="514525" y="973300"/>
            <a:ext cx="3621300" cy="34164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Clr>
                <a:srgbClr val="000000"/>
              </a:buClr>
              <a:buSzPts val="990"/>
              <a:buFont typeface="Arial"/>
              <a:buNone/>
            </a:pPr>
            <a:endParaRPr sz="2820" b="1">
              <a:solidFill>
                <a:schemeClr val="dk1"/>
              </a:solidFill>
            </a:endParaRPr>
          </a:p>
          <a:p>
            <a:pPr marL="0" lvl="0" indent="0" algn="l" rtl="0">
              <a:lnSpc>
                <a:spcPct val="100000"/>
              </a:lnSpc>
              <a:spcBef>
                <a:spcPts val="0"/>
              </a:spcBef>
              <a:spcAft>
                <a:spcPts val="0"/>
              </a:spcAft>
              <a:buClr>
                <a:srgbClr val="000000"/>
              </a:buClr>
              <a:buSzPts val="990"/>
              <a:buFont typeface="Arial"/>
              <a:buNone/>
            </a:pPr>
            <a:r>
              <a:rPr lang="en" sz="2820" b="1">
                <a:solidFill>
                  <a:schemeClr val="dk1"/>
                </a:solidFill>
              </a:rPr>
              <a:t>The GitHub Next Team</a:t>
            </a:r>
            <a:endParaRPr sz="2820" b="1">
              <a:solidFill>
                <a:schemeClr val="dk1"/>
              </a:solidFill>
            </a:endParaRPr>
          </a:p>
          <a:p>
            <a:pPr marL="0" lvl="0" indent="0" algn="l" rtl="0">
              <a:spcBef>
                <a:spcPts val="0"/>
              </a:spcBef>
              <a:spcAft>
                <a:spcPts val="1200"/>
              </a:spcAft>
              <a:buNone/>
            </a:pPr>
            <a:endParaRPr sz="2820" b="1">
              <a:solidFill>
                <a:schemeClr val="dk1"/>
              </a:solidFill>
            </a:endParaRPr>
          </a:p>
        </p:txBody>
      </p:sp>
      <p:pic>
        <p:nvPicPr>
          <p:cNvPr id="3" name="Picture 2">
            <a:extLst>
              <a:ext uri="{FF2B5EF4-FFF2-40B4-BE49-F238E27FC236}">
                <a16:creationId xmlns:a16="http://schemas.microsoft.com/office/drawing/2014/main" id="{59F8F2E1-A919-C058-3319-C733D3F1ABE0}"/>
              </a:ext>
            </a:extLst>
          </p:cNvPr>
          <p:cNvPicPr>
            <a:picLocks noChangeAspect="1"/>
          </p:cNvPicPr>
          <p:nvPr/>
        </p:nvPicPr>
        <p:blipFill>
          <a:blip r:embed="rId3"/>
          <a:stretch>
            <a:fillRect/>
          </a:stretch>
        </p:blipFill>
        <p:spPr>
          <a:xfrm>
            <a:off x="3822493" y="642890"/>
            <a:ext cx="4973687" cy="37468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3"/>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Your Big Questions!</a:t>
            </a:r>
            <a:endParaRPr/>
          </a:p>
        </p:txBody>
      </p:sp>
      <p:sp>
        <p:nvSpPr>
          <p:cNvPr id="61" name="Google Shape;61;p13"/>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200"/>
              <a:t>“What will coding with AI look like in the future?”</a:t>
            </a:r>
            <a:endParaRPr sz="2200"/>
          </a:p>
          <a:p>
            <a:pPr marL="457200" lvl="0" indent="0" algn="ctr" rtl="0">
              <a:spcBef>
                <a:spcPts val="1200"/>
              </a:spcBef>
              <a:spcAft>
                <a:spcPts val="0"/>
              </a:spcAft>
              <a:buNone/>
            </a:pPr>
            <a:endParaRPr sz="2200"/>
          </a:p>
          <a:p>
            <a:pPr marL="0" lvl="0" indent="0" algn="ctr" rtl="0">
              <a:spcBef>
                <a:spcPts val="1200"/>
              </a:spcBef>
              <a:spcAft>
                <a:spcPts val="0"/>
              </a:spcAft>
              <a:buNone/>
            </a:pPr>
            <a:r>
              <a:rPr lang="en" sz="2200"/>
              <a:t>“Does AI mean that code will be obsolete soon?”</a:t>
            </a:r>
            <a:endParaRPr sz="2200"/>
          </a:p>
          <a:p>
            <a:pPr marL="457200" lvl="0" indent="0" algn="ctr" rtl="0">
              <a:spcBef>
                <a:spcPts val="1200"/>
              </a:spcBef>
              <a:spcAft>
                <a:spcPts val="0"/>
              </a:spcAft>
              <a:buNone/>
            </a:pPr>
            <a:endParaRPr sz="2200"/>
          </a:p>
          <a:p>
            <a:pPr marL="0" lvl="0" indent="0" algn="ctr" rtl="0">
              <a:spcBef>
                <a:spcPts val="1200"/>
              </a:spcBef>
              <a:spcAft>
                <a:spcPts val="0"/>
              </a:spcAft>
              <a:buNone/>
            </a:pPr>
            <a:r>
              <a:rPr lang="en" sz="2200"/>
              <a:t>“How should I use AI tools in software development?”</a:t>
            </a:r>
            <a:endParaRPr sz="2200"/>
          </a:p>
          <a:p>
            <a:pPr marL="0" lvl="0" indent="0" algn="ctr" rtl="0">
              <a:spcBef>
                <a:spcPts val="1200"/>
              </a:spcBef>
              <a:spcAft>
                <a:spcPts val="1200"/>
              </a:spcAft>
              <a:buNone/>
            </a:pP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20"/>
              <a:t>We live in the most incredible of times</a:t>
            </a:r>
            <a:endParaRPr sz="2520"/>
          </a:p>
        </p:txBody>
      </p:sp>
      <p:sp>
        <p:nvSpPr>
          <p:cNvPr id="67" name="Google Shape;67;p14"/>
          <p:cNvSpPr txBox="1">
            <a:spLocks noGrp="1"/>
          </p:cNvSpPr>
          <p:nvPr>
            <p:ph type="body" idx="1"/>
          </p:nvPr>
        </p:nvSpPr>
        <p:spPr>
          <a:xfrm>
            <a:off x="514525" y="973300"/>
            <a:ext cx="43929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b="1" dirty="0"/>
              <a:t>AI </a:t>
            </a:r>
            <a:r>
              <a:rPr lang="en" dirty="0"/>
              <a:t>and </a:t>
            </a:r>
            <a:r>
              <a:rPr lang="en" b="1" dirty="0"/>
              <a:t>traditional dev tools </a:t>
            </a:r>
            <a:r>
              <a:rPr lang="en" dirty="0"/>
              <a:t>make us all magicians when it comes to code</a:t>
            </a:r>
            <a:br>
              <a:rPr lang="en" dirty="0"/>
            </a:br>
            <a:endParaRPr dirty="0"/>
          </a:p>
          <a:p>
            <a:pPr marL="457200" lvl="0" indent="-342900" algn="l" rtl="0">
              <a:spcBef>
                <a:spcPts val="0"/>
              </a:spcBef>
              <a:spcAft>
                <a:spcPts val="0"/>
              </a:spcAft>
              <a:buSzPts val="1800"/>
              <a:buChar char="●"/>
            </a:pPr>
            <a:r>
              <a:rPr lang="en" dirty="0"/>
              <a:t>But the magic power comes with many difficulties, responsibilities and changes!</a:t>
            </a:r>
          </a:p>
          <a:p>
            <a:pPr marL="457200" lvl="0" indent="-342900" algn="l" rtl="0">
              <a:spcBef>
                <a:spcPts val="0"/>
              </a:spcBef>
              <a:spcAft>
                <a:spcPts val="0"/>
              </a:spcAft>
              <a:buSzPts val="1800"/>
              <a:buChar char="●"/>
            </a:pPr>
            <a:endParaRPr lang="en" dirty="0"/>
          </a:p>
          <a:p>
            <a:pPr marL="457200" lvl="0" indent="-342900" algn="l" rtl="0">
              <a:spcBef>
                <a:spcPts val="0"/>
              </a:spcBef>
              <a:spcAft>
                <a:spcPts val="0"/>
              </a:spcAft>
              <a:buSzPts val="1800"/>
              <a:buChar char="●"/>
            </a:pPr>
            <a:r>
              <a:rPr lang="en" dirty="0"/>
              <a:t>Everything is changing, yet continuity is there too</a:t>
            </a:r>
            <a:endParaRPr dirty="0"/>
          </a:p>
        </p:txBody>
      </p:sp>
      <p:pic>
        <p:nvPicPr>
          <p:cNvPr id="68" name="Google Shape;68;p14"/>
          <p:cNvPicPr preferRelativeResize="0"/>
          <p:nvPr/>
        </p:nvPicPr>
        <p:blipFill>
          <a:blip r:embed="rId3">
            <a:alphaModFix/>
          </a:blip>
          <a:stretch>
            <a:fillRect/>
          </a:stretch>
        </p:blipFill>
        <p:spPr>
          <a:xfrm>
            <a:off x="5366925" y="1017725"/>
            <a:ext cx="3465275" cy="3762625"/>
          </a:xfrm>
          <a:prstGeom prst="rect">
            <a:avLst/>
          </a:prstGeom>
          <a:noFill/>
          <a:ln>
            <a:noFill/>
          </a:ln>
        </p:spPr>
      </p:pic>
      <p:sp>
        <p:nvSpPr>
          <p:cNvPr id="3" name="TextBox 2">
            <a:extLst>
              <a:ext uri="{FF2B5EF4-FFF2-40B4-BE49-F238E27FC236}">
                <a16:creationId xmlns:a16="http://schemas.microsoft.com/office/drawing/2014/main" id="{1B40BBAA-2C38-45A1-752A-8F2E58843C22}"/>
              </a:ext>
            </a:extLst>
          </p:cNvPr>
          <p:cNvSpPr txBox="1"/>
          <p:nvPr/>
        </p:nvSpPr>
        <p:spPr>
          <a:xfrm>
            <a:off x="2258122" y="2455497"/>
            <a:ext cx="4590584" cy="307777"/>
          </a:xfrm>
          <a:prstGeom prst="rect">
            <a:avLst/>
          </a:prstGeom>
          <a:noFill/>
        </p:spPr>
        <p:txBody>
          <a:bodyPr wrap="square">
            <a:spAutoFit/>
          </a:bodyPr>
          <a:lstStyle/>
          <a:p>
            <a:r>
              <a:rPr lang="en-GB" b="0" dirty="0">
                <a:effectLst/>
              </a:rPr>
              <a:t> </a:t>
            </a:r>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5"/>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AI Dev Tools are changing fast</a:t>
            </a:r>
            <a:endParaRPr/>
          </a:p>
        </p:txBody>
      </p:sp>
      <p:sp>
        <p:nvSpPr>
          <p:cNvPr id="74" name="Google Shape;74;p15"/>
          <p:cNvSpPr txBox="1">
            <a:spLocks noGrp="1"/>
          </p:cNvSpPr>
          <p:nvPr>
            <p:ph type="body" idx="1"/>
          </p:nvPr>
        </p:nvSpPr>
        <p:spPr>
          <a:xfrm>
            <a:off x="514525" y="838551"/>
            <a:ext cx="8272636" cy="4491732"/>
          </a:xfrm>
          <a:prstGeom prst="rect">
            <a:avLst/>
          </a:prstGeom>
        </p:spPr>
        <p:txBody>
          <a:bodyPr spcFirstLastPara="1" wrap="square" lIns="91425" tIns="91425" rIns="91425" bIns="91425" anchor="t" anchorCtr="0">
            <a:normAutofit/>
          </a:bodyPr>
          <a:lstStyle/>
          <a:p>
            <a:pPr marL="457200" lvl="0" indent="-308610" algn="l" rtl="0">
              <a:spcBef>
                <a:spcPts val="0"/>
              </a:spcBef>
              <a:spcAft>
                <a:spcPts val="0"/>
              </a:spcAft>
              <a:buSzPct val="100000"/>
              <a:buChar char="●"/>
            </a:pPr>
            <a:r>
              <a:rPr lang="en" sz="1600" dirty="0"/>
              <a:t>2022: </a:t>
            </a:r>
            <a:r>
              <a:rPr lang="en" sz="1600" b="1" dirty="0"/>
              <a:t>GitHub Copilot Code Completions </a:t>
            </a:r>
            <a:r>
              <a:rPr lang="en" sz="1600" dirty="0"/>
              <a:t>launched. </a:t>
            </a:r>
            <a:endParaRPr sz="1600" dirty="0"/>
          </a:p>
          <a:p>
            <a:pPr marL="914400" lvl="1" indent="-290830" algn="l" rtl="0">
              <a:spcBef>
                <a:spcPts val="0"/>
              </a:spcBef>
              <a:spcAft>
                <a:spcPts val="0"/>
              </a:spcAft>
              <a:buSzPct val="100000"/>
              <a:buChar char="○"/>
            </a:pPr>
            <a:r>
              <a:rPr lang="en" sz="1100" dirty="0"/>
              <a:t>1.8M+ paying users, 50%+ of users’ code is written by Copilot</a:t>
            </a:r>
            <a:br>
              <a:rPr lang="en" sz="1100" dirty="0"/>
            </a:br>
            <a:endParaRPr sz="1100" dirty="0"/>
          </a:p>
          <a:p>
            <a:pPr marL="457200" lvl="0" indent="-308610" algn="l" rtl="0">
              <a:spcBef>
                <a:spcPts val="0"/>
              </a:spcBef>
              <a:spcAft>
                <a:spcPts val="0"/>
              </a:spcAft>
              <a:buSzPct val="100000"/>
              <a:buChar char="●"/>
            </a:pPr>
            <a:r>
              <a:rPr lang="en" sz="1600" dirty="0"/>
              <a:t>2023: </a:t>
            </a:r>
            <a:r>
              <a:rPr lang="en" sz="1600" b="1" dirty="0"/>
              <a:t>AI Assists expand in traditional Developer Environments</a:t>
            </a:r>
            <a:endParaRPr sz="1600" b="1" dirty="0"/>
          </a:p>
          <a:p>
            <a:pPr marL="914400" lvl="1" indent="-290830" algn="l" rtl="0">
              <a:spcBef>
                <a:spcPts val="0"/>
              </a:spcBef>
              <a:spcAft>
                <a:spcPts val="0"/>
              </a:spcAft>
              <a:buSzPct val="100000"/>
              <a:buChar char="○"/>
            </a:pPr>
            <a:r>
              <a:rPr lang="en" sz="1100" dirty="0"/>
              <a:t>Summarization, advice, code review, e.g. Cody and others</a:t>
            </a:r>
            <a:br>
              <a:rPr lang="en" sz="1100" dirty="0"/>
            </a:br>
            <a:endParaRPr sz="1100" dirty="0"/>
          </a:p>
          <a:p>
            <a:pPr marL="457200" lvl="0" indent="-308610" algn="l" rtl="0">
              <a:spcBef>
                <a:spcPts val="0"/>
              </a:spcBef>
              <a:spcAft>
                <a:spcPts val="0"/>
              </a:spcAft>
              <a:buSzPct val="100000"/>
              <a:buChar char="●"/>
            </a:pPr>
            <a:r>
              <a:rPr lang="en" sz="1600" dirty="0"/>
              <a:t>2024: </a:t>
            </a:r>
            <a:r>
              <a:rPr lang="en" sz="1600" b="1" dirty="0"/>
              <a:t>Shift to Task-orientation</a:t>
            </a:r>
            <a:endParaRPr sz="1600" b="1" dirty="0"/>
          </a:p>
          <a:p>
            <a:pPr lvl="1" indent="-290830">
              <a:buSzPct val="100000"/>
            </a:pPr>
            <a:r>
              <a:rPr lang="en" sz="1100" b="1" dirty="0"/>
              <a:t>GitHub Copilot Workspace,</a:t>
            </a:r>
            <a:r>
              <a:rPr lang="en" sz="1100" dirty="0"/>
              <a:t> </a:t>
            </a:r>
            <a:r>
              <a:rPr lang="en" sz="1100" b="1" dirty="0"/>
              <a:t>Cursor Composer, Devin</a:t>
            </a:r>
            <a:r>
              <a:rPr lang="en" sz="1100" dirty="0"/>
              <a:t> bring task-orientation to the IDE </a:t>
            </a:r>
            <a:br>
              <a:rPr lang="en" sz="1100" dirty="0"/>
            </a:br>
            <a:endParaRPr sz="1100" dirty="0"/>
          </a:p>
          <a:p>
            <a:pPr marL="457200" lvl="0" indent="-308610" algn="l" rtl="0">
              <a:spcBef>
                <a:spcPts val="0"/>
              </a:spcBef>
              <a:spcAft>
                <a:spcPts val="0"/>
              </a:spcAft>
              <a:buSzPct val="100000"/>
              <a:buChar char="●"/>
            </a:pPr>
            <a:r>
              <a:rPr lang="en" sz="1600" dirty="0"/>
              <a:t>2025: </a:t>
            </a:r>
            <a:r>
              <a:rPr lang="en" sz="1600" b="1" dirty="0"/>
              <a:t>Coding Agents developed to explore and use tools</a:t>
            </a:r>
            <a:endParaRPr lang="en-GB" sz="1100" dirty="0"/>
          </a:p>
          <a:p>
            <a:pPr lvl="1" indent="-290830">
              <a:buSzPct val="100000"/>
            </a:pPr>
            <a:r>
              <a:rPr lang="en" sz="1100" dirty="0"/>
              <a:t>Cursor/VS Code </a:t>
            </a:r>
            <a:r>
              <a:rPr lang="en" sz="1100" b="1" dirty="0"/>
              <a:t>Agent-Mode</a:t>
            </a:r>
            <a:r>
              <a:rPr lang="en" sz="1100" dirty="0"/>
              <a:t>, </a:t>
            </a:r>
            <a:r>
              <a:rPr lang="en" sz="1100" b="1" dirty="0"/>
              <a:t>Claude Code</a:t>
            </a:r>
            <a:r>
              <a:rPr lang="en" sz="1100" dirty="0"/>
              <a:t> and others launched </a:t>
            </a:r>
            <a:br>
              <a:rPr lang="en-GB" sz="1100" dirty="0"/>
            </a:br>
            <a:endParaRPr lang="en-GB" sz="1100" dirty="0"/>
          </a:p>
          <a:p>
            <a:pPr marL="457200" lvl="0" indent="-308610" algn="l" rtl="0">
              <a:spcBef>
                <a:spcPts val="0"/>
              </a:spcBef>
              <a:spcAft>
                <a:spcPts val="0"/>
              </a:spcAft>
              <a:buSzPct val="100000"/>
              <a:buChar char="●"/>
            </a:pPr>
            <a:r>
              <a:rPr lang="en" sz="1600" dirty="0"/>
              <a:t>2025: </a:t>
            </a:r>
            <a:r>
              <a:rPr lang="en" sz="1600" b="1" dirty="0"/>
              <a:t>AI-assisted app development</a:t>
            </a:r>
            <a:r>
              <a:rPr lang="en" sz="1600" dirty="0"/>
              <a:t> introduced</a:t>
            </a:r>
            <a:endParaRPr sz="1600" dirty="0"/>
          </a:p>
          <a:p>
            <a:pPr marL="914400" lvl="1" indent="-290830" algn="l" rtl="0">
              <a:spcBef>
                <a:spcPts val="0"/>
              </a:spcBef>
              <a:spcAft>
                <a:spcPts val="0"/>
              </a:spcAft>
              <a:buSzPct val="100000"/>
              <a:buChar char="○"/>
            </a:pPr>
            <a:r>
              <a:rPr lang="en" sz="1100" dirty="0"/>
              <a:t>GitHub Spark, Bolt, Gemini, Lovable, Cogna, …</a:t>
            </a:r>
            <a:br>
              <a:rPr lang="en" sz="1100" dirty="0"/>
            </a:br>
            <a:endParaRPr sz="1100" dirty="0"/>
          </a:p>
          <a:p>
            <a:pPr marL="457200" lvl="0" indent="-308610" algn="l" rtl="0">
              <a:spcBef>
                <a:spcPts val="0"/>
              </a:spcBef>
              <a:spcAft>
                <a:spcPts val="0"/>
              </a:spcAft>
              <a:buSzPct val="100000"/>
              <a:buChar char="●"/>
            </a:pPr>
            <a:r>
              <a:rPr lang="en" sz="1600" dirty="0"/>
              <a:t>2025: </a:t>
            </a:r>
            <a:r>
              <a:rPr lang="en" sz="1600" b="1" dirty="0"/>
              <a:t>Continuous AI </a:t>
            </a:r>
            <a:r>
              <a:rPr lang="en" sz="1600" dirty="0"/>
              <a:t>introduced </a:t>
            </a:r>
            <a:endParaRPr sz="1600" dirty="0"/>
          </a:p>
          <a:p>
            <a:pPr lvl="1" indent="-290830">
              <a:buSzPct val="100000"/>
            </a:pPr>
            <a:r>
              <a:rPr lang="en-GB" sz="1100" dirty="0"/>
              <a:t>GitHub Agentic Workflows, Google Jules, Curor Automations</a:t>
            </a:r>
          </a:p>
          <a:p>
            <a:pPr marL="914400" lvl="1" indent="-290830" algn="l" rtl="0">
              <a:spcBef>
                <a:spcPts val="0"/>
              </a:spcBef>
              <a:spcAft>
                <a:spcPts val="0"/>
              </a:spcAft>
              <a:buSzPct val="100000"/>
              <a:buChar char="○"/>
            </a:pPr>
            <a:r>
              <a:rPr lang="en-GB" sz="1100" dirty="0"/>
              <a:t>Proactive, automated use of AI</a:t>
            </a:r>
            <a:endParaRPr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80" name="Google Shape;80;p16"/>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sz="1900" b="1" dirty="0"/>
          </a:p>
        </p:txBody>
      </p:sp>
      <p:sp>
        <p:nvSpPr>
          <p:cNvPr id="81" name="Google Shape;81;p16"/>
          <p:cNvSpPr/>
          <p:nvPr/>
        </p:nvSpPr>
        <p:spPr>
          <a:xfrm>
            <a:off x="2173600" y="3813800"/>
            <a:ext cx="5505600" cy="5727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a:latin typeface="Inter"/>
                <a:ea typeface="Inter"/>
                <a:cs typeface="Inter"/>
                <a:sym typeface="Inter"/>
              </a:rPr>
              <a:t>MODELS</a:t>
            </a:r>
            <a:endParaRPr sz="1500" b="1">
              <a:latin typeface="Inter"/>
              <a:ea typeface="Inter"/>
              <a:cs typeface="Inter"/>
              <a:sym typeface="Inter"/>
            </a:endParaRPr>
          </a:p>
        </p:txBody>
      </p:sp>
      <p:sp>
        <p:nvSpPr>
          <p:cNvPr id="82" name="Google Shape;82;p16"/>
          <p:cNvSpPr/>
          <p:nvPr/>
        </p:nvSpPr>
        <p:spPr>
          <a:xfrm>
            <a:off x="2173600" y="3049600"/>
            <a:ext cx="5505600" cy="5727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dirty="0">
                <a:latin typeface="Inter"/>
                <a:ea typeface="Inter"/>
                <a:cs typeface="Inter"/>
                <a:sym typeface="Inter"/>
              </a:rPr>
              <a:t>FINE TUNING &amp; INFERENCE &amp; GPUS &amp; HOSTING &amp; ….</a:t>
            </a:r>
            <a:endParaRPr sz="1500" b="1" dirty="0">
              <a:latin typeface="Inter"/>
              <a:ea typeface="Inter"/>
              <a:cs typeface="Inter"/>
              <a:sym typeface="Inter"/>
            </a:endParaRPr>
          </a:p>
        </p:txBody>
      </p:sp>
      <p:sp>
        <p:nvSpPr>
          <p:cNvPr id="83" name="Google Shape;83;p16"/>
          <p:cNvSpPr/>
          <p:nvPr/>
        </p:nvSpPr>
        <p:spPr>
          <a:xfrm>
            <a:off x="2173600" y="2285400"/>
            <a:ext cx="5505600" cy="572700"/>
          </a:xfrm>
          <a:prstGeom prst="rect">
            <a:avLst/>
          </a:prstGeom>
          <a:solidFill>
            <a:srgbClr val="4A86E8"/>
          </a:solid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dirty="0">
                <a:latin typeface="Inter"/>
                <a:ea typeface="Inter"/>
                <a:cs typeface="Inter"/>
                <a:sym typeface="Inter"/>
              </a:rPr>
              <a:t>AI ENRICHED SERVICES</a:t>
            </a:r>
            <a:r>
              <a:rPr lang="en" sz="1500" dirty="0">
                <a:latin typeface="Inter"/>
                <a:ea typeface="Inter"/>
                <a:cs typeface="Inter"/>
                <a:sym typeface="Inter"/>
              </a:rPr>
              <a:t> (e.g. indexing, summaries)</a:t>
            </a:r>
            <a:endParaRPr sz="1500" dirty="0">
              <a:latin typeface="Inter"/>
              <a:ea typeface="Inter"/>
              <a:cs typeface="Inter"/>
              <a:sym typeface="Inter"/>
            </a:endParaRPr>
          </a:p>
        </p:txBody>
      </p:sp>
      <p:sp>
        <p:nvSpPr>
          <p:cNvPr id="84" name="Google Shape;84;p16"/>
          <p:cNvSpPr/>
          <p:nvPr/>
        </p:nvSpPr>
        <p:spPr>
          <a:xfrm>
            <a:off x="2173600" y="1538050"/>
            <a:ext cx="5505600" cy="572700"/>
          </a:xfrm>
          <a:prstGeom prst="rect">
            <a:avLst/>
          </a:prstGeom>
          <a:solidFill>
            <a:srgbClr val="4A86E8"/>
          </a:solid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dirty="0">
                <a:latin typeface="Inter"/>
                <a:ea typeface="Inter"/>
                <a:cs typeface="Inter"/>
                <a:sym typeface="Inter"/>
              </a:rPr>
              <a:t>AI CODING AGENTS, PLANNING, TOOL USE</a:t>
            </a:r>
            <a:endParaRPr sz="1500" b="1" dirty="0">
              <a:latin typeface="Inter"/>
              <a:ea typeface="Inter"/>
              <a:cs typeface="Inter"/>
              <a:sym typeface="Inter"/>
            </a:endParaRPr>
          </a:p>
        </p:txBody>
      </p:sp>
      <p:sp>
        <p:nvSpPr>
          <p:cNvPr id="2" name="Google Shape;84;p16">
            <a:extLst>
              <a:ext uri="{FF2B5EF4-FFF2-40B4-BE49-F238E27FC236}">
                <a16:creationId xmlns:a16="http://schemas.microsoft.com/office/drawing/2014/main" id="{C5054669-758D-ADB1-6E8E-7310ECDD8356}"/>
              </a:ext>
            </a:extLst>
          </p:cNvPr>
          <p:cNvSpPr/>
          <p:nvPr/>
        </p:nvSpPr>
        <p:spPr>
          <a:xfrm>
            <a:off x="2173600" y="801251"/>
            <a:ext cx="5505600" cy="572700"/>
          </a:xfrm>
          <a:prstGeom prst="rect">
            <a:avLst/>
          </a:prstGeom>
          <a:solidFill>
            <a:srgbClr val="4A86E8"/>
          </a:solid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dirty="0">
                <a:latin typeface="Inter"/>
                <a:ea typeface="Inter"/>
                <a:cs typeface="Inter"/>
                <a:sym typeface="Inter"/>
              </a:rPr>
              <a:t>AI DEV TOOLS</a:t>
            </a:r>
            <a:endParaRPr sz="1500" b="1" dirty="0">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42C1A4F5-4D56-2089-52C9-CD970FA1673F}"/>
            </a:ext>
          </a:extLst>
        </p:cNvPr>
        <p:cNvGrpSpPr/>
        <p:nvPr/>
      </p:nvGrpSpPr>
      <p:grpSpPr>
        <a:xfrm>
          <a:off x="0" y="0"/>
          <a:ext cx="0" cy="0"/>
          <a:chOff x="0" y="0"/>
          <a:chExt cx="0" cy="0"/>
        </a:xfrm>
      </p:grpSpPr>
      <p:sp>
        <p:nvSpPr>
          <p:cNvPr id="79" name="Google Shape;79;p16">
            <a:extLst>
              <a:ext uri="{FF2B5EF4-FFF2-40B4-BE49-F238E27FC236}">
                <a16:creationId xmlns:a16="http://schemas.microsoft.com/office/drawing/2014/main" id="{C4E98F08-B275-5F84-D9C9-37324580F510}"/>
              </a:ext>
            </a:extLst>
          </p:cNvPr>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80" name="Google Shape;80;p16">
            <a:extLst>
              <a:ext uri="{FF2B5EF4-FFF2-40B4-BE49-F238E27FC236}">
                <a16:creationId xmlns:a16="http://schemas.microsoft.com/office/drawing/2014/main" id="{BAB16AE7-2B10-EBDC-2821-3164C690B503}"/>
              </a:ext>
            </a:extLst>
          </p:cNvPr>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sz="1900" b="1" dirty="0"/>
          </a:p>
        </p:txBody>
      </p:sp>
      <p:sp>
        <p:nvSpPr>
          <p:cNvPr id="81" name="Google Shape;81;p16">
            <a:extLst>
              <a:ext uri="{FF2B5EF4-FFF2-40B4-BE49-F238E27FC236}">
                <a16:creationId xmlns:a16="http://schemas.microsoft.com/office/drawing/2014/main" id="{12164140-4317-C2FF-AB40-8CAF825BC93F}"/>
              </a:ext>
            </a:extLst>
          </p:cNvPr>
          <p:cNvSpPr/>
          <p:nvPr/>
        </p:nvSpPr>
        <p:spPr>
          <a:xfrm>
            <a:off x="2173600" y="3813800"/>
            <a:ext cx="5505600" cy="5727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500" b="1" dirty="0">
                <a:latin typeface="Inter"/>
                <a:ea typeface="Inter"/>
                <a:cs typeface="Inter"/>
                <a:sym typeface="Inter"/>
              </a:rPr>
              <a:t>Model(s): Claude Opus 4.6</a:t>
            </a:r>
            <a:endParaRPr sz="1500" b="1" dirty="0">
              <a:latin typeface="Inter"/>
              <a:ea typeface="Inter"/>
              <a:cs typeface="Inter"/>
              <a:sym typeface="Inter"/>
            </a:endParaRPr>
          </a:p>
        </p:txBody>
      </p:sp>
      <p:sp>
        <p:nvSpPr>
          <p:cNvPr id="82" name="Google Shape;82;p16">
            <a:extLst>
              <a:ext uri="{FF2B5EF4-FFF2-40B4-BE49-F238E27FC236}">
                <a16:creationId xmlns:a16="http://schemas.microsoft.com/office/drawing/2014/main" id="{4838CF09-D24E-C0F0-29D5-9AC087A5A50B}"/>
              </a:ext>
            </a:extLst>
          </p:cNvPr>
          <p:cNvSpPr/>
          <p:nvPr/>
        </p:nvSpPr>
        <p:spPr>
          <a:xfrm>
            <a:off x="2173600" y="3049600"/>
            <a:ext cx="5505600" cy="5727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500" b="1" dirty="0">
                <a:latin typeface="Inter"/>
                <a:ea typeface="Inter"/>
                <a:cs typeface="Inter"/>
                <a:sym typeface="Inter"/>
              </a:rPr>
              <a:t>Hosted by: Amazon Web Services</a:t>
            </a:r>
            <a:endParaRPr sz="1500" b="1" dirty="0">
              <a:latin typeface="Inter"/>
              <a:ea typeface="Inter"/>
              <a:cs typeface="Inter"/>
              <a:sym typeface="Inter"/>
            </a:endParaRPr>
          </a:p>
        </p:txBody>
      </p:sp>
      <p:sp>
        <p:nvSpPr>
          <p:cNvPr id="83" name="Google Shape;83;p16">
            <a:extLst>
              <a:ext uri="{FF2B5EF4-FFF2-40B4-BE49-F238E27FC236}">
                <a16:creationId xmlns:a16="http://schemas.microsoft.com/office/drawing/2014/main" id="{C1EDD42C-BCCB-25E9-24C8-74A1C2D1B6A7}"/>
              </a:ext>
            </a:extLst>
          </p:cNvPr>
          <p:cNvSpPr/>
          <p:nvPr/>
        </p:nvSpPr>
        <p:spPr>
          <a:xfrm>
            <a:off x="2173600" y="2285400"/>
            <a:ext cx="5505600" cy="572700"/>
          </a:xfrm>
          <a:prstGeom prst="rect">
            <a:avLst/>
          </a:prstGeom>
          <a:solidFill>
            <a:srgbClr val="4A86E8"/>
          </a:solid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dirty="0">
                <a:latin typeface="Inter"/>
                <a:ea typeface="Inter"/>
                <a:cs typeface="Inter"/>
                <a:sym typeface="Inter"/>
              </a:rPr>
              <a:t>Code Indexed by: GitHub, Augment</a:t>
            </a:r>
            <a:endParaRPr sz="1500" dirty="0">
              <a:latin typeface="Inter"/>
              <a:ea typeface="Inter"/>
              <a:cs typeface="Inter"/>
              <a:sym typeface="Inter"/>
            </a:endParaRPr>
          </a:p>
        </p:txBody>
      </p:sp>
      <p:sp>
        <p:nvSpPr>
          <p:cNvPr id="84" name="Google Shape;84;p16">
            <a:extLst>
              <a:ext uri="{FF2B5EF4-FFF2-40B4-BE49-F238E27FC236}">
                <a16:creationId xmlns:a16="http://schemas.microsoft.com/office/drawing/2014/main" id="{BC59575A-01D9-8E4A-D731-5E1836964FAC}"/>
              </a:ext>
            </a:extLst>
          </p:cNvPr>
          <p:cNvSpPr/>
          <p:nvPr/>
        </p:nvSpPr>
        <p:spPr>
          <a:xfrm>
            <a:off x="2173600" y="1538050"/>
            <a:ext cx="5505600" cy="572700"/>
          </a:xfrm>
          <a:prstGeom prst="rect">
            <a:avLst/>
          </a:prstGeom>
          <a:solidFill>
            <a:srgbClr val="4A86E8"/>
          </a:solid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dirty="0">
                <a:latin typeface="Inter"/>
                <a:ea typeface="Inter"/>
                <a:cs typeface="Inter"/>
                <a:sym typeface="Inter"/>
              </a:rPr>
              <a:t>AI Coding Agent: Mistral Vibe</a:t>
            </a:r>
            <a:endParaRPr sz="1500" b="1" dirty="0">
              <a:latin typeface="Inter"/>
              <a:ea typeface="Inter"/>
              <a:cs typeface="Inter"/>
              <a:sym typeface="Inter"/>
            </a:endParaRPr>
          </a:p>
        </p:txBody>
      </p:sp>
      <p:sp>
        <p:nvSpPr>
          <p:cNvPr id="2" name="Google Shape;84;p16">
            <a:extLst>
              <a:ext uri="{FF2B5EF4-FFF2-40B4-BE49-F238E27FC236}">
                <a16:creationId xmlns:a16="http://schemas.microsoft.com/office/drawing/2014/main" id="{3AAEBE24-4E50-9B74-1F91-DF7533EDC364}"/>
              </a:ext>
            </a:extLst>
          </p:cNvPr>
          <p:cNvSpPr/>
          <p:nvPr/>
        </p:nvSpPr>
        <p:spPr>
          <a:xfrm>
            <a:off x="2173600" y="801251"/>
            <a:ext cx="5505600" cy="572700"/>
          </a:xfrm>
          <a:prstGeom prst="rect">
            <a:avLst/>
          </a:prstGeom>
          <a:solidFill>
            <a:srgbClr val="4A86E8"/>
          </a:solid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dirty="0">
                <a:latin typeface="Inter"/>
                <a:ea typeface="Inter"/>
                <a:cs typeface="Inter"/>
                <a:sym typeface="Inter"/>
              </a:rPr>
              <a:t>AI Dev Tool: Super AI Coding Factory</a:t>
            </a:r>
            <a:endParaRPr sz="1500" b="1" dirty="0">
              <a:latin typeface="Inter"/>
              <a:ea typeface="Inter"/>
              <a:cs typeface="Inter"/>
              <a:sym typeface="Inter"/>
            </a:endParaRPr>
          </a:p>
        </p:txBody>
      </p:sp>
    </p:spTree>
    <p:extLst>
      <p:ext uri="{BB962C8B-B14F-4D97-AF65-F5344CB8AC3E}">
        <p14:creationId xmlns:p14="http://schemas.microsoft.com/office/powerpoint/2010/main" val="4132336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fontScale="92500" lnSpcReduction="20000"/>
          </a:bodyPr>
          <a:lstStyle/>
          <a:p>
            <a:pPr marL="457200" lvl="0" indent="-387350" algn="l" rtl="0">
              <a:spcBef>
                <a:spcPts val="0"/>
              </a:spcBef>
              <a:spcAft>
                <a:spcPts val="0"/>
              </a:spcAft>
              <a:buSzPts val="2500"/>
              <a:buChar char="●"/>
            </a:pPr>
            <a:r>
              <a:rPr lang="en" sz="2500" dirty="0"/>
              <a:t>AI-assisted Pinpoint Surgery</a:t>
            </a:r>
            <a:br>
              <a:rPr lang="en" sz="2500" dirty="0"/>
            </a:br>
            <a:endParaRPr sz="2500" dirty="0"/>
          </a:p>
          <a:p>
            <a:pPr marL="457200" lvl="0" indent="-387350" algn="l" rtl="0">
              <a:spcBef>
                <a:spcPts val="0"/>
              </a:spcBef>
              <a:spcAft>
                <a:spcPts val="0"/>
              </a:spcAft>
              <a:buSzPts val="2500"/>
              <a:buChar char="●"/>
            </a:pPr>
            <a:r>
              <a:rPr lang="en" sz="2500" dirty="0"/>
              <a:t>AI-assisted Task Oriented Surgery</a:t>
            </a:r>
            <a:br>
              <a:rPr lang="en" sz="2500" dirty="0"/>
            </a:br>
            <a:endParaRPr sz="2500" dirty="0"/>
          </a:p>
          <a:p>
            <a:pPr marL="457200" lvl="0" indent="-387350" algn="l" rtl="0">
              <a:spcBef>
                <a:spcPts val="0"/>
              </a:spcBef>
              <a:spcAft>
                <a:spcPts val="0"/>
              </a:spcAft>
              <a:buSzPts val="2500"/>
              <a:buChar char="●"/>
            </a:pPr>
            <a:r>
              <a:rPr lang="en" sz="2500" dirty="0"/>
              <a:t>AI-assisted App Development</a:t>
            </a:r>
            <a:br>
              <a:rPr lang="en" sz="2500" dirty="0"/>
            </a:br>
            <a:endParaRPr sz="2500" dirty="0"/>
          </a:p>
          <a:p>
            <a:pPr marL="457200" lvl="0" indent="-387350" algn="l" rtl="0">
              <a:spcBef>
                <a:spcPts val="0"/>
              </a:spcBef>
              <a:spcAft>
                <a:spcPts val="0"/>
              </a:spcAft>
              <a:buSzPts val="2500"/>
              <a:buChar char="●"/>
            </a:pPr>
            <a:r>
              <a:rPr lang="en" sz="2500" dirty="0"/>
              <a:t>Continuous AI</a:t>
            </a:r>
          </a:p>
          <a:p>
            <a:pPr marL="457200" lvl="0" indent="-387350" algn="l" rtl="0">
              <a:spcBef>
                <a:spcPts val="0"/>
              </a:spcBef>
              <a:spcAft>
                <a:spcPts val="0"/>
              </a:spcAft>
              <a:buSzPts val="2500"/>
              <a:buChar char="●"/>
            </a:pPr>
            <a:endParaRPr lang="en" sz="2500" dirty="0"/>
          </a:p>
          <a:p>
            <a:pPr marL="457200" lvl="0" indent="-387350" algn="l" rtl="0">
              <a:spcBef>
                <a:spcPts val="0"/>
              </a:spcBef>
              <a:spcAft>
                <a:spcPts val="0"/>
              </a:spcAft>
              <a:buSzPts val="2500"/>
              <a:buChar char="●"/>
            </a:pPr>
            <a:r>
              <a:rPr lang="en" sz="2500" dirty="0"/>
              <a:t>Major changes to teamwork and methodology</a:t>
            </a:r>
            <a:endParaRPr sz="2500" dirty="0"/>
          </a:p>
        </p:txBody>
      </p:sp>
      <p:sp>
        <p:nvSpPr>
          <p:cNvPr id="90" name="Google Shape;90;p17"/>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Big Trends I’m seeing in AI Dev Tooling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1: Pinpoint Surgery</a:t>
            </a:r>
            <a:endParaRPr/>
          </a:p>
        </p:txBody>
      </p:sp>
      <p:sp>
        <p:nvSpPr>
          <p:cNvPr id="96" name="Google Shape;96;p18"/>
          <p:cNvSpPr txBox="1">
            <a:spLocks noGrp="1"/>
          </p:cNvSpPr>
          <p:nvPr>
            <p:ph type="body" idx="1"/>
          </p:nvPr>
        </p:nvSpPr>
        <p:spPr>
          <a:xfrm>
            <a:off x="514525" y="973300"/>
            <a:ext cx="4688100" cy="3416400"/>
          </a:xfrm>
          <a:prstGeom prst="rect">
            <a:avLst/>
          </a:prstGeom>
        </p:spPr>
        <p:txBody>
          <a:bodyPr spcFirstLastPara="1" wrap="square" lIns="91425" tIns="91425" rIns="91425" bIns="91425" anchor="t" anchorCtr="0">
            <a:normAutofit lnSpcReduction="10000"/>
          </a:bodyPr>
          <a:lstStyle/>
          <a:p>
            <a:pPr marL="0" lvl="0" indent="0" algn="l" rtl="0">
              <a:lnSpc>
                <a:spcPct val="105000"/>
              </a:lnSpc>
              <a:spcBef>
                <a:spcPts val="0"/>
              </a:spcBef>
              <a:spcAft>
                <a:spcPts val="0"/>
              </a:spcAft>
              <a:buNone/>
            </a:pPr>
            <a:r>
              <a:rPr lang="en" sz="2200"/>
              <a:t>The OG GitHub Copilot completes code in your editor</a:t>
            </a:r>
            <a:endParaRPr sz="2200"/>
          </a:p>
          <a:p>
            <a:pPr marL="457200" lvl="0" indent="-342900" algn="l" rtl="0">
              <a:lnSpc>
                <a:spcPct val="105000"/>
              </a:lnSpc>
              <a:spcBef>
                <a:spcPts val="1200"/>
              </a:spcBef>
              <a:spcAft>
                <a:spcPts val="0"/>
              </a:spcAft>
              <a:buSzPts val="1800"/>
              <a:buChar char="●"/>
            </a:pPr>
            <a:r>
              <a:rPr lang="en"/>
              <a:t>You are already located at a pinpoint of change</a:t>
            </a:r>
            <a:endParaRPr/>
          </a:p>
          <a:p>
            <a:pPr marL="457200" lvl="0" indent="-342900" algn="l" rtl="0">
              <a:lnSpc>
                <a:spcPct val="105000"/>
              </a:lnSpc>
              <a:spcBef>
                <a:spcPts val="0"/>
              </a:spcBef>
              <a:spcAft>
                <a:spcPts val="0"/>
              </a:spcAft>
              <a:buSzPts val="1800"/>
              <a:buChar char="●"/>
            </a:pPr>
            <a:r>
              <a:rPr lang="en"/>
              <a:t>You accept/reject small bits</a:t>
            </a:r>
            <a:endParaRPr/>
          </a:p>
          <a:p>
            <a:pPr marL="457200" lvl="0" indent="-342900" algn="l" rtl="0">
              <a:lnSpc>
                <a:spcPct val="105000"/>
              </a:lnSpc>
              <a:spcBef>
                <a:spcPts val="0"/>
              </a:spcBef>
              <a:spcAft>
                <a:spcPts val="0"/>
              </a:spcAft>
              <a:buSzPts val="1800"/>
              <a:buChar char="●"/>
            </a:pPr>
            <a:r>
              <a:rPr lang="en"/>
              <a:t>You have to type quite a lot </a:t>
            </a:r>
            <a:endParaRPr/>
          </a:p>
          <a:p>
            <a:pPr marL="457200" lvl="0" indent="-342900" algn="l" rtl="0">
              <a:lnSpc>
                <a:spcPct val="105000"/>
              </a:lnSpc>
              <a:spcBef>
                <a:spcPts val="0"/>
              </a:spcBef>
              <a:spcAft>
                <a:spcPts val="0"/>
              </a:spcAft>
              <a:buSzPts val="1800"/>
              <a:buChar char="●"/>
            </a:pPr>
            <a:r>
              <a:rPr lang="en"/>
              <a:t>Copilot sort of infers what you are trying to do</a:t>
            </a:r>
            <a:endParaRPr/>
          </a:p>
          <a:p>
            <a:pPr marL="0" lvl="0" indent="0" algn="l" rtl="0">
              <a:lnSpc>
                <a:spcPct val="105000"/>
              </a:lnSpc>
              <a:spcBef>
                <a:spcPts val="1200"/>
              </a:spcBef>
              <a:spcAft>
                <a:spcPts val="1200"/>
              </a:spcAft>
              <a:buNone/>
            </a:pPr>
            <a:r>
              <a:rPr lang="en"/>
              <a:t>This is magical: a finely honed surgical assistant</a:t>
            </a:r>
            <a:endParaRPr/>
          </a:p>
        </p:txBody>
      </p:sp>
      <p:pic>
        <p:nvPicPr>
          <p:cNvPr id="97" name="Google Shape;97;p18"/>
          <p:cNvPicPr preferRelativeResize="0"/>
          <p:nvPr/>
        </p:nvPicPr>
        <p:blipFill>
          <a:blip r:embed="rId3">
            <a:alphaModFix/>
          </a:blip>
          <a:stretch>
            <a:fillRect/>
          </a:stretch>
        </p:blipFill>
        <p:spPr>
          <a:xfrm>
            <a:off x="5353050" y="1340572"/>
            <a:ext cx="3574400" cy="2380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457200" lvl="0" indent="-374650" algn="l" rtl="0">
              <a:spcBef>
                <a:spcPts val="0"/>
              </a:spcBef>
              <a:spcAft>
                <a:spcPts val="0"/>
              </a:spcAft>
              <a:buSzPts val="2300"/>
              <a:buChar char="●"/>
            </a:pPr>
            <a:r>
              <a:rPr lang="en" sz="2300"/>
              <a:t>Type-checking</a:t>
            </a:r>
            <a:endParaRPr sz="2300"/>
          </a:p>
          <a:p>
            <a:pPr marL="457200" lvl="0" indent="-374650" algn="l" rtl="0">
              <a:spcBef>
                <a:spcPts val="0"/>
              </a:spcBef>
              <a:spcAft>
                <a:spcPts val="0"/>
              </a:spcAft>
              <a:buSzPts val="2300"/>
              <a:buChar char="●"/>
            </a:pPr>
            <a:r>
              <a:rPr lang="en" sz="2300"/>
              <a:t>Intellisense</a:t>
            </a:r>
            <a:endParaRPr sz="2300"/>
          </a:p>
          <a:p>
            <a:pPr marL="457200" lvl="0" indent="-374650" algn="l" rtl="0">
              <a:spcBef>
                <a:spcPts val="0"/>
              </a:spcBef>
              <a:spcAft>
                <a:spcPts val="0"/>
              </a:spcAft>
              <a:buSzPts val="2300"/>
              <a:buChar char="●"/>
            </a:pPr>
            <a:r>
              <a:rPr lang="en" sz="2300"/>
              <a:t>Code navigation</a:t>
            </a:r>
            <a:endParaRPr sz="2300"/>
          </a:p>
          <a:p>
            <a:pPr marL="457200" lvl="0" indent="-374650" algn="l" rtl="0">
              <a:spcBef>
                <a:spcPts val="0"/>
              </a:spcBef>
              <a:spcAft>
                <a:spcPts val="0"/>
              </a:spcAft>
              <a:buSzPts val="2300"/>
              <a:buChar char="●"/>
            </a:pPr>
            <a:r>
              <a:rPr lang="en" sz="2300"/>
              <a:t>Code search</a:t>
            </a:r>
            <a:endParaRPr sz="2300"/>
          </a:p>
          <a:p>
            <a:pPr marL="457200" lvl="0" indent="-374650" algn="l" rtl="0">
              <a:spcBef>
                <a:spcPts val="0"/>
              </a:spcBef>
              <a:spcAft>
                <a:spcPts val="0"/>
              </a:spcAft>
              <a:buSzPts val="2300"/>
              <a:buChar char="●"/>
            </a:pPr>
            <a:r>
              <a:rPr lang="en" sz="2300"/>
              <a:t>Security checking</a:t>
            </a:r>
            <a:endParaRPr sz="2300"/>
          </a:p>
          <a:p>
            <a:pPr marL="457200" lvl="0" indent="0" algn="l" rtl="0">
              <a:spcBef>
                <a:spcPts val="1200"/>
              </a:spcBef>
              <a:spcAft>
                <a:spcPts val="1200"/>
              </a:spcAft>
              <a:buNone/>
            </a:pPr>
            <a:endParaRPr sz="2300" b="1"/>
          </a:p>
        </p:txBody>
      </p:sp>
      <p:sp>
        <p:nvSpPr>
          <p:cNvPr id="103" name="Google Shape;103;p19"/>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Other pinpoint tools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fontScale="77500" lnSpcReduction="20000"/>
          </a:bodyPr>
          <a:lstStyle/>
          <a:p>
            <a:pPr marL="457200" lvl="0" indent="-351631" algn="l" rtl="0">
              <a:spcBef>
                <a:spcPts val="0"/>
              </a:spcBef>
              <a:spcAft>
                <a:spcPts val="0"/>
              </a:spcAft>
              <a:buClr>
                <a:srgbClr val="666666"/>
              </a:buClr>
              <a:buSzPct val="100000"/>
              <a:buChar char="●"/>
            </a:pPr>
            <a:r>
              <a:rPr lang="en" sz="2500" dirty="0">
                <a:solidFill>
                  <a:srgbClr val="666666"/>
                </a:solidFill>
              </a:rPr>
              <a:t>Type-checking</a:t>
            </a:r>
            <a:endParaRPr sz="2500" dirty="0">
              <a:solidFill>
                <a:srgbClr val="666666"/>
              </a:solidFill>
            </a:endParaRPr>
          </a:p>
          <a:p>
            <a:pPr marL="457200" lvl="0" indent="-351631" algn="l" rtl="0">
              <a:spcBef>
                <a:spcPts val="0"/>
              </a:spcBef>
              <a:spcAft>
                <a:spcPts val="0"/>
              </a:spcAft>
              <a:buClr>
                <a:srgbClr val="666666"/>
              </a:buClr>
              <a:buSzPct val="100000"/>
              <a:buChar char="●"/>
            </a:pPr>
            <a:r>
              <a:rPr lang="en" sz="2500" dirty="0">
                <a:solidFill>
                  <a:srgbClr val="666666"/>
                </a:solidFill>
              </a:rPr>
              <a:t>Intellisense</a:t>
            </a:r>
            <a:endParaRPr sz="2500" dirty="0">
              <a:solidFill>
                <a:srgbClr val="666666"/>
              </a:solidFill>
            </a:endParaRPr>
          </a:p>
          <a:p>
            <a:pPr marL="457200" lvl="0" indent="-351631" algn="l" rtl="0">
              <a:spcBef>
                <a:spcPts val="0"/>
              </a:spcBef>
              <a:spcAft>
                <a:spcPts val="0"/>
              </a:spcAft>
              <a:buClr>
                <a:srgbClr val="666666"/>
              </a:buClr>
              <a:buSzPct val="100000"/>
              <a:buChar char="●"/>
            </a:pPr>
            <a:r>
              <a:rPr lang="en" sz="2500" dirty="0">
                <a:solidFill>
                  <a:srgbClr val="666666"/>
                </a:solidFill>
              </a:rPr>
              <a:t>Code navigation</a:t>
            </a:r>
            <a:endParaRPr sz="2500" dirty="0">
              <a:solidFill>
                <a:srgbClr val="666666"/>
              </a:solidFill>
            </a:endParaRPr>
          </a:p>
          <a:p>
            <a:pPr marL="457200" lvl="0" indent="-351631" algn="l" rtl="0">
              <a:spcBef>
                <a:spcPts val="0"/>
              </a:spcBef>
              <a:spcAft>
                <a:spcPts val="0"/>
              </a:spcAft>
              <a:buClr>
                <a:srgbClr val="666666"/>
              </a:buClr>
              <a:buSzPct val="100000"/>
              <a:buChar char="●"/>
            </a:pPr>
            <a:r>
              <a:rPr lang="en" sz="2500" dirty="0">
                <a:solidFill>
                  <a:srgbClr val="666666"/>
                </a:solidFill>
              </a:rPr>
              <a:t>Code search</a:t>
            </a:r>
            <a:endParaRPr sz="2500" dirty="0">
              <a:solidFill>
                <a:srgbClr val="666666"/>
              </a:solidFill>
            </a:endParaRPr>
          </a:p>
          <a:p>
            <a:pPr marL="457200" lvl="0" indent="-351631" algn="l" rtl="0">
              <a:spcBef>
                <a:spcPts val="0"/>
              </a:spcBef>
              <a:spcAft>
                <a:spcPts val="0"/>
              </a:spcAft>
              <a:buClr>
                <a:srgbClr val="666666"/>
              </a:buClr>
              <a:buSzPct val="100000"/>
              <a:buChar char="●"/>
            </a:pPr>
            <a:r>
              <a:rPr lang="en" sz="2500" dirty="0">
                <a:solidFill>
                  <a:srgbClr val="666666"/>
                </a:solidFill>
              </a:rPr>
              <a:t>Security checking</a:t>
            </a:r>
            <a:endParaRPr sz="2500" dirty="0">
              <a:solidFill>
                <a:srgbClr val="666666"/>
              </a:solidFill>
            </a:endParaRPr>
          </a:p>
          <a:p>
            <a:pPr marL="457200" lvl="0" indent="-351631" algn="l" rtl="0">
              <a:spcBef>
                <a:spcPts val="0"/>
              </a:spcBef>
              <a:spcAft>
                <a:spcPts val="0"/>
              </a:spcAft>
              <a:buSzPct val="100000"/>
              <a:buChar char="●"/>
            </a:pPr>
            <a:r>
              <a:rPr lang="en" sz="2500" b="1" dirty="0"/>
              <a:t>AI Code completion</a:t>
            </a:r>
            <a:endParaRPr sz="2500" b="1" dirty="0"/>
          </a:p>
          <a:p>
            <a:pPr marL="457200" lvl="0" indent="-351631" algn="l" rtl="0">
              <a:spcBef>
                <a:spcPts val="0"/>
              </a:spcBef>
              <a:spcAft>
                <a:spcPts val="0"/>
              </a:spcAft>
              <a:buSzPct val="100000"/>
              <a:buChar char="●"/>
            </a:pPr>
            <a:r>
              <a:rPr lang="en" sz="2500" b="1" dirty="0"/>
              <a:t>AI Code summarization</a:t>
            </a:r>
            <a:endParaRPr sz="2500" b="1" dirty="0"/>
          </a:p>
          <a:p>
            <a:pPr marL="457200" lvl="0" indent="-351631" algn="l" rtl="0">
              <a:spcBef>
                <a:spcPts val="0"/>
              </a:spcBef>
              <a:spcAft>
                <a:spcPts val="0"/>
              </a:spcAft>
              <a:buSzPct val="100000"/>
              <a:buChar char="●"/>
            </a:pPr>
            <a:r>
              <a:rPr lang="en" sz="2500" b="1" dirty="0"/>
              <a:t>AI Code chat</a:t>
            </a:r>
            <a:endParaRPr sz="2500" b="1" dirty="0"/>
          </a:p>
          <a:p>
            <a:pPr marL="457200" lvl="0" indent="-351631" algn="l" rtl="0">
              <a:spcBef>
                <a:spcPts val="0"/>
              </a:spcBef>
              <a:spcAft>
                <a:spcPts val="0"/>
              </a:spcAft>
              <a:buSzPct val="100000"/>
              <a:buChar char="●"/>
            </a:pPr>
            <a:r>
              <a:rPr lang="en" sz="2500" b="1" dirty="0"/>
              <a:t>AI Code review</a:t>
            </a:r>
            <a:endParaRPr sz="2500" b="1" dirty="0"/>
          </a:p>
          <a:p>
            <a:pPr marL="457200" lvl="0" indent="-351631" algn="l" rtl="0">
              <a:spcBef>
                <a:spcPts val="0"/>
              </a:spcBef>
              <a:spcAft>
                <a:spcPts val="0"/>
              </a:spcAft>
              <a:buSzPct val="100000"/>
              <a:buChar char="●"/>
            </a:pPr>
            <a:r>
              <a:rPr lang="en" sz="2500" b="1" dirty="0"/>
              <a:t>AI Code fix suggestions</a:t>
            </a:r>
            <a:endParaRPr sz="2500" b="1" dirty="0"/>
          </a:p>
          <a:p>
            <a:pPr marL="457200" lvl="0" indent="-351631" algn="l" rtl="0">
              <a:spcBef>
                <a:spcPts val="0"/>
              </a:spcBef>
              <a:spcAft>
                <a:spcPts val="0"/>
              </a:spcAft>
              <a:buSzPct val="100000"/>
              <a:buChar char="●"/>
            </a:pPr>
            <a:r>
              <a:rPr lang="en" sz="2500" b="1" dirty="0"/>
              <a:t>AI Test generation</a:t>
            </a:r>
            <a:endParaRPr sz="2500" b="1" dirty="0"/>
          </a:p>
        </p:txBody>
      </p:sp>
      <p:sp>
        <p:nvSpPr>
          <p:cNvPr id="109" name="Google Shape;109;p20"/>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Other pinpoint tools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1"/>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2: From Pinpoint Surgery to Tasks</a:t>
            </a:r>
            <a:endParaRPr/>
          </a:p>
        </p:txBody>
      </p:sp>
      <p:sp>
        <p:nvSpPr>
          <p:cNvPr id="115" name="Google Shape;115;p21"/>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br>
              <a:rPr lang="en" sz="2500"/>
            </a:br>
            <a:r>
              <a:rPr lang="en" sz="2500" i="1"/>
              <a:t>Software activity begins with words and intent</a:t>
            </a:r>
            <a:br>
              <a:rPr lang="en" sz="2500" i="1"/>
            </a:br>
            <a:br>
              <a:rPr lang="en" sz="2500"/>
            </a:br>
            <a:r>
              <a:rPr lang="en" sz="2500"/>
              <a:t>Before a code change, before a pull request, there are words - a discussion, a bug report, a feature request, an engineering task, a meeting, a design document, an idea.</a:t>
            </a:r>
            <a:endParaRPr sz="2500"/>
          </a:p>
          <a:p>
            <a:pPr marL="0" lvl="0" indent="0" algn="l" rtl="0">
              <a:spcBef>
                <a:spcPts val="1200"/>
              </a:spcBef>
              <a:spcAft>
                <a:spcPts val="0"/>
              </a:spcAft>
              <a:buNone/>
            </a:pPr>
            <a:endParaRPr sz="2500"/>
          </a:p>
          <a:p>
            <a:pPr marL="0" lvl="0" indent="0" algn="l" rtl="0">
              <a:spcBef>
                <a:spcPts val="1200"/>
              </a:spcBef>
              <a:spcAft>
                <a:spcPts val="1200"/>
              </a:spcAft>
              <a:buNone/>
            </a:pPr>
            <a:endParaRPr sz="25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2: From Pinpoint Surgery to Tasks</a:t>
            </a:r>
            <a:endParaRPr/>
          </a:p>
          <a:p>
            <a:pPr marL="0" lvl="0" indent="0" algn="l" rtl="0">
              <a:spcBef>
                <a:spcPts val="0"/>
              </a:spcBef>
              <a:spcAft>
                <a:spcPts val="0"/>
              </a:spcAft>
              <a:buNone/>
            </a:pPr>
            <a:endParaRPr/>
          </a:p>
        </p:txBody>
      </p:sp>
      <p:pic>
        <p:nvPicPr>
          <p:cNvPr id="121" name="Google Shape;121;p22"/>
          <p:cNvPicPr preferRelativeResize="0"/>
          <p:nvPr/>
        </p:nvPicPr>
        <p:blipFill>
          <a:blip r:embed="rId3">
            <a:alphaModFix/>
          </a:blip>
          <a:stretch>
            <a:fillRect/>
          </a:stretch>
        </p:blipFill>
        <p:spPr>
          <a:xfrm>
            <a:off x="3344361" y="1344100"/>
            <a:ext cx="2455276" cy="2455276"/>
          </a:xfrm>
          <a:prstGeom prst="rect">
            <a:avLst/>
          </a:prstGeom>
          <a:noFill/>
          <a:ln>
            <a:noFill/>
          </a:ln>
        </p:spPr>
      </p:pic>
      <p:sp>
        <p:nvSpPr>
          <p:cNvPr id="122" name="Google Shape;122;p22"/>
          <p:cNvSpPr txBox="1"/>
          <p:nvPr/>
        </p:nvSpPr>
        <p:spPr>
          <a:xfrm>
            <a:off x="6237950" y="4774200"/>
            <a:ext cx="2906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lt2"/>
                </a:solidFill>
                <a:latin typeface="Inter"/>
                <a:ea typeface="Inter"/>
                <a:cs typeface="Inter"/>
                <a:sym typeface="Inter"/>
              </a:rPr>
              <a:t>https://www.flaticon.com/free-icons/</a:t>
            </a:r>
            <a:endParaRPr sz="1200">
              <a:solidFill>
                <a:schemeClr val="lt2"/>
              </a:solidFill>
              <a:latin typeface="Inter"/>
              <a:ea typeface="Inter"/>
              <a:cs typeface="Inter"/>
              <a:sym typeface="Inter"/>
            </a:endParaRPr>
          </a:p>
        </p:txBody>
      </p:sp>
      <p:sp>
        <p:nvSpPr>
          <p:cNvPr id="123" name="Google Shape;123;p22"/>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3"/>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2: From Pinpoint Surgery to Tasks</a:t>
            </a:r>
            <a:endParaRPr/>
          </a:p>
          <a:p>
            <a:pPr marL="0" lvl="0" indent="0" algn="l" rtl="0">
              <a:spcBef>
                <a:spcPts val="0"/>
              </a:spcBef>
              <a:spcAft>
                <a:spcPts val="0"/>
              </a:spcAft>
              <a:buNone/>
            </a:pPr>
            <a:endParaRPr/>
          </a:p>
        </p:txBody>
      </p:sp>
      <p:pic>
        <p:nvPicPr>
          <p:cNvPr id="129" name="Google Shape;129;p23"/>
          <p:cNvPicPr preferRelativeResize="0"/>
          <p:nvPr/>
        </p:nvPicPr>
        <p:blipFill>
          <a:blip r:embed="rId3">
            <a:alphaModFix/>
          </a:blip>
          <a:stretch>
            <a:fillRect/>
          </a:stretch>
        </p:blipFill>
        <p:spPr>
          <a:xfrm>
            <a:off x="3344361" y="1344100"/>
            <a:ext cx="2455276" cy="2455276"/>
          </a:xfrm>
          <a:prstGeom prst="rect">
            <a:avLst/>
          </a:prstGeom>
          <a:noFill/>
          <a:ln>
            <a:noFill/>
          </a:ln>
        </p:spPr>
      </p:pic>
      <p:sp>
        <p:nvSpPr>
          <p:cNvPr id="130" name="Google Shape;130;p23"/>
          <p:cNvSpPr txBox="1"/>
          <p:nvPr/>
        </p:nvSpPr>
        <p:spPr>
          <a:xfrm>
            <a:off x="6237950" y="4774200"/>
            <a:ext cx="2906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lt2"/>
                </a:solidFill>
                <a:latin typeface="Inter"/>
                <a:ea typeface="Inter"/>
                <a:cs typeface="Inter"/>
                <a:sym typeface="Inter"/>
              </a:rPr>
              <a:t>https://www.flaticon.com/free-icons/</a:t>
            </a:r>
            <a:endParaRPr sz="1200">
              <a:solidFill>
                <a:schemeClr val="lt2"/>
              </a:solidFill>
              <a:latin typeface="Inter"/>
              <a:ea typeface="Inter"/>
              <a:cs typeface="Inter"/>
              <a:sym typeface="Inter"/>
            </a:endParaRPr>
          </a:p>
        </p:txBody>
      </p:sp>
      <p:sp>
        <p:nvSpPr>
          <p:cNvPr id="131" name="Google Shape;131;p23"/>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132" name="Google Shape;132;p23"/>
          <p:cNvSpPr/>
          <p:nvPr/>
        </p:nvSpPr>
        <p:spPr>
          <a:xfrm>
            <a:off x="1600525" y="3178125"/>
            <a:ext cx="1699920" cy="1052784"/>
          </a:xfrm>
          <a:prstGeom prst="cloud">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Idea</a:t>
            </a:r>
            <a:endParaRPr sz="1800"/>
          </a:p>
        </p:txBody>
      </p:sp>
      <p:sp>
        <p:nvSpPr>
          <p:cNvPr id="133" name="Google Shape;133;p23"/>
          <p:cNvSpPr/>
          <p:nvPr/>
        </p:nvSpPr>
        <p:spPr>
          <a:xfrm>
            <a:off x="6001075" y="1120725"/>
            <a:ext cx="2455272" cy="1684044"/>
          </a:xfrm>
          <a:prstGeom prst="cloud">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Code</a:t>
            </a:r>
            <a:br>
              <a:rPr lang="en" sz="1800"/>
            </a:br>
            <a:r>
              <a:rPr lang="en" sz="1800"/>
              <a:t>🏆🏆🏆</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4"/>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2: From Pinpoint Surgery to Tasks</a:t>
            </a:r>
            <a:endParaRPr/>
          </a:p>
          <a:p>
            <a:pPr marL="0" lvl="0" indent="0" algn="l" rtl="0">
              <a:spcBef>
                <a:spcPts val="0"/>
              </a:spcBef>
              <a:spcAft>
                <a:spcPts val="0"/>
              </a:spcAft>
              <a:buNone/>
            </a:pPr>
            <a:endParaRPr/>
          </a:p>
        </p:txBody>
      </p:sp>
      <p:pic>
        <p:nvPicPr>
          <p:cNvPr id="139" name="Google Shape;139;p24"/>
          <p:cNvPicPr preferRelativeResize="0"/>
          <p:nvPr/>
        </p:nvPicPr>
        <p:blipFill>
          <a:blip r:embed="rId3">
            <a:alphaModFix/>
          </a:blip>
          <a:stretch>
            <a:fillRect/>
          </a:stretch>
        </p:blipFill>
        <p:spPr>
          <a:xfrm>
            <a:off x="3344361" y="1344100"/>
            <a:ext cx="2455276" cy="2455276"/>
          </a:xfrm>
          <a:prstGeom prst="rect">
            <a:avLst/>
          </a:prstGeom>
          <a:noFill/>
          <a:ln>
            <a:noFill/>
          </a:ln>
        </p:spPr>
      </p:pic>
      <p:sp>
        <p:nvSpPr>
          <p:cNvPr id="140" name="Google Shape;140;p24"/>
          <p:cNvSpPr txBox="1"/>
          <p:nvPr/>
        </p:nvSpPr>
        <p:spPr>
          <a:xfrm>
            <a:off x="6237950" y="4774200"/>
            <a:ext cx="2906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lt2"/>
                </a:solidFill>
                <a:latin typeface="Inter"/>
                <a:ea typeface="Inter"/>
                <a:cs typeface="Inter"/>
                <a:sym typeface="Inter"/>
              </a:rPr>
              <a:t>https://www.flaticon.com/free-icons/</a:t>
            </a:r>
            <a:endParaRPr sz="1200">
              <a:solidFill>
                <a:schemeClr val="lt2"/>
              </a:solidFill>
              <a:latin typeface="Inter"/>
              <a:ea typeface="Inter"/>
              <a:cs typeface="Inter"/>
              <a:sym typeface="Inter"/>
            </a:endParaRPr>
          </a:p>
        </p:txBody>
      </p:sp>
      <p:sp>
        <p:nvSpPr>
          <p:cNvPr id="141" name="Google Shape;141;p24"/>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142" name="Google Shape;142;p24"/>
          <p:cNvSpPr/>
          <p:nvPr/>
        </p:nvSpPr>
        <p:spPr>
          <a:xfrm>
            <a:off x="1600525" y="3178125"/>
            <a:ext cx="1699920" cy="1052784"/>
          </a:xfrm>
          <a:prstGeom prst="cloud">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Change Intent</a:t>
            </a:r>
            <a:endParaRPr sz="1800"/>
          </a:p>
        </p:txBody>
      </p:sp>
      <p:sp>
        <p:nvSpPr>
          <p:cNvPr id="143" name="Google Shape;143;p24"/>
          <p:cNvSpPr/>
          <p:nvPr/>
        </p:nvSpPr>
        <p:spPr>
          <a:xfrm>
            <a:off x="6001075" y="1120725"/>
            <a:ext cx="2455272" cy="1684044"/>
          </a:xfrm>
          <a:prstGeom prst="cloud">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Change</a:t>
            </a:r>
            <a:br>
              <a:rPr lang="en" sz="1800"/>
            </a:br>
            <a:r>
              <a:rPr lang="en" sz="1800"/>
              <a:t>🏆🏆🏆</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5"/>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2: From Pinpoint Surgery to Tasks</a:t>
            </a:r>
            <a:endParaRPr/>
          </a:p>
          <a:p>
            <a:pPr marL="0" lvl="0" indent="0" algn="l" rtl="0">
              <a:spcBef>
                <a:spcPts val="0"/>
              </a:spcBef>
              <a:spcAft>
                <a:spcPts val="0"/>
              </a:spcAft>
              <a:buNone/>
            </a:pPr>
            <a:endParaRPr/>
          </a:p>
        </p:txBody>
      </p:sp>
      <p:pic>
        <p:nvPicPr>
          <p:cNvPr id="149" name="Google Shape;149;p25"/>
          <p:cNvPicPr preferRelativeResize="0"/>
          <p:nvPr/>
        </p:nvPicPr>
        <p:blipFill>
          <a:blip r:embed="rId3">
            <a:alphaModFix/>
          </a:blip>
          <a:stretch>
            <a:fillRect/>
          </a:stretch>
        </p:blipFill>
        <p:spPr>
          <a:xfrm>
            <a:off x="3344361" y="1344100"/>
            <a:ext cx="2455276" cy="2455276"/>
          </a:xfrm>
          <a:prstGeom prst="rect">
            <a:avLst/>
          </a:prstGeom>
          <a:noFill/>
          <a:ln>
            <a:noFill/>
          </a:ln>
        </p:spPr>
      </p:pic>
      <p:sp>
        <p:nvSpPr>
          <p:cNvPr id="150" name="Google Shape;150;p25"/>
          <p:cNvSpPr txBox="1"/>
          <p:nvPr/>
        </p:nvSpPr>
        <p:spPr>
          <a:xfrm>
            <a:off x="6237950" y="4774200"/>
            <a:ext cx="2906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lt2"/>
                </a:solidFill>
                <a:latin typeface="Inter"/>
                <a:ea typeface="Inter"/>
                <a:cs typeface="Inter"/>
                <a:sym typeface="Inter"/>
              </a:rPr>
              <a:t>https://www.flaticon.com/free-icons/</a:t>
            </a:r>
            <a:endParaRPr sz="1200">
              <a:solidFill>
                <a:schemeClr val="lt2"/>
              </a:solidFill>
              <a:latin typeface="Inter"/>
              <a:ea typeface="Inter"/>
              <a:cs typeface="Inter"/>
              <a:sym typeface="Inter"/>
            </a:endParaRPr>
          </a:p>
        </p:txBody>
      </p:sp>
      <p:sp>
        <p:nvSpPr>
          <p:cNvPr id="151" name="Google Shape;151;p25"/>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152" name="Google Shape;152;p25"/>
          <p:cNvSpPr/>
          <p:nvPr/>
        </p:nvSpPr>
        <p:spPr>
          <a:xfrm>
            <a:off x="1600525" y="3178125"/>
            <a:ext cx="1699920" cy="1052784"/>
          </a:xfrm>
          <a:prstGeom prst="cloud">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GitHub Issue</a:t>
            </a:r>
            <a:endParaRPr sz="1800"/>
          </a:p>
        </p:txBody>
      </p:sp>
      <p:sp>
        <p:nvSpPr>
          <p:cNvPr id="153" name="Google Shape;153;p25"/>
          <p:cNvSpPr/>
          <p:nvPr/>
        </p:nvSpPr>
        <p:spPr>
          <a:xfrm>
            <a:off x="6001075" y="1120725"/>
            <a:ext cx="2455272" cy="1684044"/>
          </a:xfrm>
          <a:prstGeom prst="cloud">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GitHub Pull Request</a:t>
            </a:r>
            <a:br>
              <a:rPr lang="en" sz="1800"/>
            </a:br>
            <a:r>
              <a:rPr lang="en" sz="1800"/>
              <a:t>🏆🏆🏆</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6"/>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2: From Pinpoint Surgery to Tasks</a:t>
            </a:r>
            <a:endParaRPr/>
          </a:p>
          <a:p>
            <a:pPr marL="0" lvl="0" indent="0" algn="l" rtl="0">
              <a:spcBef>
                <a:spcPts val="0"/>
              </a:spcBef>
              <a:spcAft>
                <a:spcPts val="0"/>
              </a:spcAft>
              <a:buNone/>
            </a:pPr>
            <a:endParaRPr/>
          </a:p>
        </p:txBody>
      </p:sp>
      <p:sp>
        <p:nvSpPr>
          <p:cNvPr id="159" name="Google Shape;159;p26"/>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sz="2500" dirty="0"/>
              <a:t>Changing perspective</a:t>
            </a:r>
            <a:br>
              <a:rPr lang="en" sz="2500" dirty="0"/>
            </a:br>
            <a:endParaRPr sz="2500" dirty="0"/>
          </a:p>
          <a:p>
            <a:pPr marL="0" lvl="0" indent="457200" algn="l" rtl="0">
              <a:spcBef>
                <a:spcPts val="1200"/>
              </a:spcBef>
              <a:spcAft>
                <a:spcPts val="1200"/>
              </a:spcAft>
              <a:buNone/>
            </a:pPr>
            <a:r>
              <a:rPr lang="en" sz="2500" dirty="0"/>
              <a:t>	Pinpoint Surgery    		→	Whole Operation </a:t>
            </a:r>
            <a:br>
              <a:rPr lang="en" sz="2500" dirty="0"/>
            </a:br>
            <a:br>
              <a:rPr lang="en" sz="2500" dirty="0"/>
            </a:br>
            <a:r>
              <a:rPr lang="en" sz="2500" dirty="0"/>
              <a:t>	Single Point of Change 	→	Whole Repository</a:t>
            </a:r>
            <a:br>
              <a:rPr lang="en" sz="2500" dirty="0"/>
            </a:br>
            <a:br>
              <a:rPr lang="en" sz="2500" dirty="0"/>
            </a:br>
            <a:r>
              <a:rPr lang="en" sz="2500" dirty="0"/>
              <a:t>	Implicit Task 			→	Explicit Task</a:t>
            </a:r>
            <a:endParaRPr sz="2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7"/>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2: From Pinpoint Surgery to Tasks</a:t>
            </a:r>
            <a:endParaRPr/>
          </a:p>
          <a:p>
            <a:pPr marL="0" lvl="0" indent="0" algn="l" rtl="0">
              <a:spcBef>
                <a:spcPts val="0"/>
              </a:spcBef>
              <a:spcAft>
                <a:spcPts val="0"/>
              </a:spcAft>
              <a:buNone/>
            </a:pPr>
            <a:endParaRPr/>
          </a:p>
        </p:txBody>
      </p:sp>
      <p:sp>
        <p:nvSpPr>
          <p:cNvPr id="165" name="Google Shape;165;p27"/>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fontScale="92500" lnSpcReduction="10000"/>
          </a:bodyPr>
          <a:lstStyle/>
          <a:p>
            <a:pPr marL="0" lvl="0" indent="0" algn="ctr" rtl="0">
              <a:spcBef>
                <a:spcPts val="0"/>
              </a:spcBef>
              <a:spcAft>
                <a:spcPts val="0"/>
              </a:spcAft>
              <a:buNone/>
            </a:pPr>
            <a:br>
              <a:rPr lang="en" sz="2100"/>
            </a:br>
            <a:r>
              <a:rPr lang="en" sz="2100"/>
              <a:t>“Add a refresh button to the main page”</a:t>
            </a:r>
            <a:endParaRPr sz="2100"/>
          </a:p>
          <a:p>
            <a:pPr marL="0" lvl="0" indent="0" algn="ctr" rtl="0">
              <a:spcBef>
                <a:spcPts val="1200"/>
              </a:spcBef>
              <a:spcAft>
                <a:spcPts val="0"/>
              </a:spcAft>
              <a:buNone/>
            </a:pPr>
            <a:r>
              <a:rPr lang="en" sz="2100"/>
              <a:t>“Create end-to-end tests using Playwright”</a:t>
            </a:r>
            <a:endParaRPr sz="2100"/>
          </a:p>
          <a:p>
            <a:pPr marL="0" lvl="0" indent="0" algn="ctr" rtl="0">
              <a:spcBef>
                <a:spcPts val="1200"/>
              </a:spcBef>
              <a:spcAft>
                <a:spcPts val="0"/>
              </a:spcAft>
              <a:buNone/>
            </a:pPr>
            <a:r>
              <a:rPr lang="en" sz="2100"/>
              <a:t>“Set up continuous integration using GitHub Actions”</a:t>
            </a:r>
            <a:endParaRPr sz="2100"/>
          </a:p>
          <a:p>
            <a:pPr marL="0" lvl="0" indent="0" algn="ctr" rtl="0">
              <a:spcBef>
                <a:spcPts val="1200"/>
              </a:spcBef>
              <a:spcAft>
                <a:spcPts val="0"/>
              </a:spcAft>
              <a:buNone/>
            </a:pPr>
            <a:r>
              <a:rPr lang="en" sz="2100"/>
              <a:t>“Set up production resources in Azure using Terraform”</a:t>
            </a:r>
            <a:endParaRPr sz="2100"/>
          </a:p>
          <a:p>
            <a:pPr marL="0" lvl="0" indent="0" algn="ctr" rtl="0">
              <a:spcBef>
                <a:spcPts val="1200"/>
              </a:spcBef>
              <a:spcAft>
                <a:spcPts val="0"/>
              </a:spcAft>
              <a:buNone/>
            </a:pPr>
            <a:r>
              <a:rPr lang="en" sz="2100"/>
              <a:t>“Read coverage report and add unit tests to repo”</a:t>
            </a:r>
            <a:endParaRPr sz="2100"/>
          </a:p>
          <a:p>
            <a:pPr marL="0" lvl="0" indent="0" algn="ctr" rtl="0">
              <a:spcBef>
                <a:spcPts val="1200"/>
              </a:spcBef>
              <a:spcAft>
                <a:spcPts val="1200"/>
              </a:spcAft>
              <a:buNone/>
            </a:pPr>
            <a:r>
              <a:rPr lang="en" sz="2100"/>
              <a:t>“Create a website for UK house prices”</a:t>
            </a:r>
            <a:endParaRPr sz="2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8"/>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3: Automation with SWE-Agents</a:t>
            </a:r>
            <a:endParaRPr/>
          </a:p>
        </p:txBody>
      </p:sp>
      <p:sp>
        <p:nvSpPr>
          <p:cNvPr id="171" name="Google Shape;171;p28"/>
          <p:cNvSpPr txBox="1">
            <a:spLocks noGrp="1"/>
          </p:cNvSpPr>
          <p:nvPr>
            <p:ph type="body" idx="1"/>
          </p:nvPr>
        </p:nvSpPr>
        <p:spPr>
          <a:xfrm>
            <a:off x="514525" y="973300"/>
            <a:ext cx="4497600" cy="3416400"/>
          </a:xfrm>
          <a:prstGeom prst="rect">
            <a:avLst/>
          </a:prstGeom>
        </p:spPr>
        <p:txBody>
          <a:bodyPr spcFirstLastPara="1" wrap="square" lIns="91425" tIns="91425" rIns="91425" bIns="91425" anchor="t" anchorCtr="0">
            <a:normAutofit fontScale="85000" lnSpcReduction="20000"/>
          </a:bodyPr>
          <a:lstStyle/>
          <a:p>
            <a:pPr marL="0" lvl="0" indent="0" algn="l" rtl="0">
              <a:lnSpc>
                <a:spcPct val="105000"/>
              </a:lnSpc>
              <a:spcBef>
                <a:spcPts val="0"/>
              </a:spcBef>
              <a:spcAft>
                <a:spcPts val="0"/>
              </a:spcAft>
              <a:buNone/>
            </a:pPr>
            <a:r>
              <a:rPr lang="en" sz="2200" dirty="0"/>
              <a:t>SWE-Agents are AI robots that have multiple tools to operate on your code.</a:t>
            </a:r>
            <a:endParaRPr sz="2200" dirty="0"/>
          </a:p>
          <a:p>
            <a:pPr marL="0" lvl="0" indent="0" algn="l" rtl="0">
              <a:lnSpc>
                <a:spcPct val="105000"/>
              </a:lnSpc>
              <a:spcBef>
                <a:spcPts val="1200"/>
              </a:spcBef>
              <a:spcAft>
                <a:spcPts val="0"/>
              </a:spcAft>
              <a:buNone/>
            </a:pPr>
            <a:r>
              <a:rPr lang="en" sz="2200" dirty="0"/>
              <a:t>Can be unreliable, the “sweet zone” requires skill to find.</a:t>
            </a:r>
            <a:br>
              <a:rPr lang="en" sz="2200" dirty="0"/>
            </a:br>
            <a:br>
              <a:rPr lang="en" sz="2200" dirty="0"/>
            </a:br>
            <a:r>
              <a:rPr lang="en" sz="2200" dirty="0"/>
              <a:t>But improving all the time and competent at some things.</a:t>
            </a:r>
            <a:endParaRPr sz="2200" dirty="0"/>
          </a:p>
          <a:p>
            <a:pPr marL="0" lvl="0" indent="0" algn="l" rtl="0">
              <a:lnSpc>
                <a:spcPct val="105000"/>
              </a:lnSpc>
              <a:spcBef>
                <a:spcPts val="1200"/>
              </a:spcBef>
              <a:spcAft>
                <a:spcPts val="1200"/>
              </a:spcAft>
              <a:buNone/>
            </a:pPr>
            <a:r>
              <a:rPr lang="en" sz="2200" dirty="0"/>
              <a:t>Learn and use them! </a:t>
            </a:r>
            <a:br>
              <a:rPr lang="en" sz="2200" dirty="0"/>
            </a:br>
            <a:br>
              <a:rPr lang="en" sz="2200" dirty="0"/>
            </a:br>
            <a:r>
              <a:rPr lang="en" sz="2200" dirty="0"/>
              <a:t>Check results carefully!</a:t>
            </a:r>
            <a:endParaRPr sz="2200" dirty="0"/>
          </a:p>
        </p:txBody>
      </p:sp>
      <p:pic>
        <p:nvPicPr>
          <p:cNvPr id="172" name="Google Shape;172;p28"/>
          <p:cNvPicPr preferRelativeResize="0"/>
          <p:nvPr/>
        </p:nvPicPr>
        <p:blipFill>
          <a:blip r:embed="rId3">
            <a:alphaModFix/>
          </a:blip>
          <a:stretch>
            <a:fillRect/>
          </a:stretch>
        </p:blipFill>
        <p:spPr>
          <a:xfrm>
            <a:off x="5257700" y="1238250"/>
            <a:ext cx="3814751" cy="25431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0"/>
          <p:cNvSpPr txBox="1">
            <a:spLocks noGrp="1"/>
          </p:cNvSpPr>
          <p:nvPr>
            <p:ph type="title"/>
          </p:nvPr>
        </p:nvSpPr>
        <p:spPr>
          <a:xfrm>
            <a:off x="490250" y="450150"/>
            <a:ext cx="82242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Demo - Repo Tasks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1"/>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4: AI-Assisted App Development</a:t>
            </a:r>
            <a:endParaRPr/>
          </a:p>
        </p:txBody>
      </p:sp>
      <p:sp>
        <p:nvSpPr>
          <p:cNvPr id="191" name="Google Shape;191;p31"/>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lnSpc>
                <a:spcPct val="105000"/>
              </a:lnSpc>
              <a:spcBef>
                <a:spcPts val="0"/>
              </a:spcBef>
              <a:spcAft>
                <a:spcPts val="1200"/>
              </a:spcAft>
              <a:buNone/>
            </a:pPr>
            <a:r>
              <a:rPr lang="en" sz="2200"/>
              <a:t>“Create me a multiplayer online TicTacToe game”</a:t>
            </a:r>
            <a:endParaRPr sz="2200"/>
          </a:p>
        </p:txBody>
      </p:sp>
      <p:pic>
        <p:nvPicPr>
          <p:cNvPr id="192" name="Google Shape;192;p31"/>
          <p:cNvPicPr preferRelativeResize="0"/>
          <p:nvPr/>
        </p:nvPicPr>
        <p:blipFill>
          <a:blip r:embed="rId3">
            <a:alphaModFix/>
          </a:blip>
          <a:stretch>
            <a:fillRect/>
          </a:stretch>
        </p:blipFill>
        <p:spPr>
          <a:xfrm>
            <a:off x="474000" y="2135090"/>
            <a:ext cx="2360301" cy="873322"/>
          </a:xfrm>
          <a:prstGeom prst="rect">
            <a:avLst/>
          </a:prstGeom>
          <a:noFill/>
          <a:ln>
            <a:noFill/>
          </a:ln>
        </p:spPr>
      </p:pic>
      <p:pic>
        <p:nvPicPr>
          <p:cNvPr id="193" name="Google Shape;193;p31"/>
          <p:cNvPicPr preferRelativeResize="0"/>
          <p:nvPr/>
        </p:nvPicPr>
        <p:blipFill>
          <a:blip r:embed="rId4">
            <a:alphaModFix/>
          </a:blip>
          <a:stretch>
            <a:fillRect/>
          </a:stretch>
        </p:blipFill>
        <p:spPr>
          <a:xfrm>
            <a:off x="6076775" y="2838450"/>
            <a:ext cx="2928927" cy="1952624"/>
          </a:xfrm>
          <a:prstGeom prst="rect">
            <a:avLst/>
          </a:prstGeom>
          <a:noFill/>
          <a:ln>
            <a:noFill/>
          </a:ln>
        </p:spPr>
      </p:pic>
      <p:pic>
        <p:nvPicPr>
          <p:cNvPr id="194" name="Google Shape;194;p31"/>
          <p:cNvPicPr preferRelativeResize="0"/>
          <p:nvPr/>
        </p:nvPicPr>
        <p:blipFill>
          <a:blip r:embed="rId5">
            <a:alphaModFix/>
          </a:blip>
          <a:stretch>
            <a:fillRect/>
          </a:stretch>
        </p:blipFill>
        <p:spPr>
          <a:xfrm>
            <a:off x="621025" y="3366125"/>
            <a:ext cx="2360301" cy="1573526"/>
          </a:xfrm>
          <a:prstGeom prst="rect">
            <a:avLst/>
          </a:prstGeom>
          <a:noFill/>
          <a:ln>
            <a:noFill/>
          </a:ln>
        </p:spPr>
      </p:pic>
      <p:pic>
        <p:nvPicPr>
          <p:cNvPr id="195" name="Google Shape;195;p31"/>
          <p:cNvPicPr preferRelativeResize="0"/>
          <p:nvPr/>
        </p:nvPicPr>
        <p:blipFill>
          <a:blip r:embed="rId6">
            <a:alphaModFix/>
          </a:blip>
          <a:stretch>
            <a:fillRect/>
          </a:stretch>
        </p:blipFill>
        <p:spPr>
          <a:xfrm>
            <a:off x="3223857" y="2838450"/>
            <a:ext cx="3081693" cy="1733450"/>
          </a:xfrm>
          <a:prstGeom prst="rect">
            <a:avLst/>
          </a:prstGeom>
          <a:noFill/>
          <a:ln>
            <a:noFill/>
          </a:ln>
        </p:spPr>
      </p:pic>
      <p:pic>
        <p:nvPicPr>
          <p:cNvPr id="196" name="Google Shape;196;p31"/>
          <p:cNvPicPr preferRelativeResize="0"/>
          <p:nvPr/>
        </p:nvPicPr>
        <p:blipFill>
          <a:blip r:embed="rId7">
            <a:alphaModFix/>
          </a:blip>
          <a:stretch>
            <a:fillRect/>
          </a:stretch>
        </p:blipFill>
        <p:spPr>
          <a:xfrm>
            <a:off x="5909402" y="1810350"/>
            <a:ext cx="2360299" cy="13752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2"/>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Theme 4: AI-Assisted App Development</a:t>
            </a:r>
            <a:endParaRPr/>
          </a:p>
        </p:txBody>
      </p:sp>
      <p:sp>
        <p:nvSpPr>
          <p:cNvPr id="202" name="Google Shape;202;p32"/>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Narrows the scope to </a:t>
            </a:r>
            <a:r>
              <a:rPr lang="en" b="1"/>
              <a:t>app development</a:t>
            </a:r>
            <a:endParaRPr b="1"/>
          </a:p>
          <a:p>
            <a:pPr marL="457200" lvl="0" indent="-342900" algn="l" rtl="0">
              <a:spcBef>
                <a:spcPts val="0"/>
              </a:spcBef>
              <a:spcAft>
                <a:spcPts val="0"/>
              </a:spcAft>
              <a:buSzPts val="1800"/>
              <a:buChar char="●"/>
            </a:pPr>
            <a:r>
              <a:rPr lang="en"/>
              <a:t>Usually narrows to particular </a:t>
            </a:r>
            <a:r>
              <a:rPr lang="en" b="1"/>
              <a:t>design theme</a:t>
            </a:r>
            <a:r>
              <a:rPr lang="en"/>
              <a:t> and </a:t>
            </a:r>
            <a:r>
              <a:rPr lang="en" b="1"/>
              <a:t>backend services</a:t>
            </a:r>
            <a:endParaRPr b="1"/>
          </a:p>
          <a:p>
            <a:pPr marL="457200" lvl="0" indent="-342900" algn="l" rtl="0">
              <a:spcBef>
                <a:spcPts val="0"/>
              </a:spcBef>
              <a:spcAft>
                <a:spcPts val="0"/>
              </a:spcAft>
              <a:buSzPts val="1800"/>
              <a:buChar char="●"/>
            </a:pPr>
            <a:r>
              <a:rPr lang="en"/>
              <a:t>The user can </a:t>
            </a:r>
            <a:r>
              <a:rPr lang="en" b="1"/>
              <a:t>run app </a:t>
            </a:r>
            <a:r>
              <a:rPr lang="en"/>
              <a:t>and </a:t>
            </a:r>
            <a:r>
              <a:rPr lang="en" b="1"/>
              <a:t>validate directly</a:t>
            </a:r>
            <a:endParaRPr b="1"/>
          </a:p>
          <a:p>
            <a:pPr marL="457200" lvl="0" indent="-342900" algn="l" rtl="0">
              <a:spcBef>
                <a:spcPts val="0"/>
              </a:spcBef>
              <a:spcAft>
                <a:spcPts val="0"/>
              </a:spcAft>
              <a:buSzPts val="1800"/>
              <a:buChar char="●"/>
            </a:pPr>
            <a:r>
              <a:rPr lang="en"/>
              <a:t>Sometimes </a:t>
            </a:r>
            <a:r>
              <a:rPr lang="en" b="1"/>
              <a:t>little need to look at the code at all </a:t>
            </a:r>
            <a:r>
              <a:rPr lang="en"/>
              <a:t>(vibe coding)</a:t>
            </a:r>
            <a:endParaRPr/>
          </a:p>
          <a:p>
            <a:pPr marL="0" lvl="0" indent="0" algn="l" rtl="0">
              <a:spcBef>
                <a:spcPts val="1200"/>
              </a:spcBef>
              <a:spcAft>
                <a:spcPts val="0"/>
              </a:spcAft>
              <a:buNone/>
            </a:pPr>
            <a:r>
              <a:rPr lang="en"/>
              <a:t>Huge caveats</a:t>
            </a:r>
            <a:endParaRPr/>
          </a:p>
          <a:p>
            <a:pPr marL="457200" lvl="0" indent="-342900" algn="l" rtl="0">
              <a:spcBef>
                <a:spcPts val="1200"/>
              </a:spcBef>
              <a:spcAft>
                <a:spcPts val="0"/>
              </a:spcAft>
              <a:buSzPts val="1800"/>
              <a:buChar char="●"/>
            </a:pPr>
            <a:r>
              <a:rPr lang="en" b="1"/>
              <a:t>App coding </a:t>
            </a:r>
            <a:r>
              <a:rPr lang="en"/>
              <a:t>is replaced by </a:t>
            </a:r>
            <a:r>
              <a:rPr lang="en" b="1"/>
              <a:t>app description</a:t>
            </a:r>
            <a:endParaRPr b="1"/>
          </a:p>
          <a:p>
            <a:pPr marL="457200" lvl="0" indent="-342900" algn="l" rtl="0">
              <a:spcBef>
                <a:spcPts val="0"/>
              </a:spcBef>
              <a:spcAft>
                <a:spcPts val="0"/>
              </a:spcAft>
              <a:buSzPts val="1800"/>
              <a:buChar char="●"/>
            </a:pPr>
            <a:r>
              <a:rPr lang="en"/>
              <a:t>This is a small but important slice of the software industry</a:t>
            </a:r>
            <a:endParaRPr/>
          </a:p>
          <a:p>
            <a:pPr marL="457200" lvl="0" indent="-342900" algn="l" rtl="0">
              <a:spcBef>
                <a:spcPts val="0"/>
              </a:spcBef>
              <a:spcAft>
                <a:spcPts val="0"/>
              </a:spcAft>
              <a:buSzPts val="1800"/>
              <a:buChar char="●"/>
            </a:pPr>
            <a:r>
              <a:rPr lang="en"/>
              <a:t>Good </a:t>
            </a:r>
            <a:r>
              <a:rPr lang="en" b="1"/>
              <a:t>UX design </a:t>
            </a:r>
            <a:r>
              <a:rPr lang="en"/>
              <a:t>is </a:t>
            </a:r>
            <a:r>
              <a:rPr lang="en" b="1"/>
              <a:t>subjective</a:t>
            </a:r>
            <a:r>
              <a:rPr lang="en"/>
              <a:t>, impossible to describe with words</a:t>
            </a:r>
            <a:endParaRPr/>
          </a:p>
          <a:p>
            <a:pPr marL="457200" lvl="0" indent="-342900" algn="l" rtl="0">
              <a:spcBef>
                <a:spcPts val="0"/>
              </a:spcBef>
              <a:spcAft>
                <a:spcPts val="0"/>
              </a:spcAft>
              <a:buSzPts val="1800"/>
              <a:buChar char="●"/>
            </a:pPr>
            <a:r>
              <a:rPr lang="en"/>
              <a:t>Beware security disasters!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3"/>
          <p:cNvSpPr txBox="1">
            <a:spLocks noGrp="1"/>
          </p:cNvSpPr>
          <p:nvPr>
            <p:ph type="title"/>
          </p:nvPr>
        </p:nvSpPr>
        <p:spPr>
          <a:xfrm>
            <a:off x="490250" y="450150"/>
            <a:ext cx="82242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Demo - GitHub Spark</a:t>
            </a:r>
            <a:endParaRPr/>
          </a:p>
        </p:txBody>
      </p:sp>
    </p:spTree>
    <p:extLst>
      <p:ext uri="{BB962C8B-B14F-4D97-AF65-F5344CB8AC3E}">
        <p14:creationId xmlns:p14="http://schemas.microsoft.com/office/powerpoint/2010/main" val="6620751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6">
          <a:extLst>
            <a:ext uri="{FF2B5EF4-FFF2-40B4-BE49-F238E27FC236}">
              <a16:creationId xmlns:a16="http://schemas.microsoft.com/office/drawing/2014/main" id="{515E4EF5-105A-B8CD-DAA3-E83FB7CD58E3}"/>
            </a:ext>
          </a:extLst>
        </p:cNvPr>
        <p:cNvGrpSpPr/>
        <p:nvPr/>
      </p:nvGrpSpPr>
      <p:grpSpPr>
        <a:xfrm>
          <a:off x="0" y="0"/>
          <a:ext cx="0" cy="0"/>
          <a:chOff x="0" y="0"/>
          <a:chExt cx="0" cy="0"/>
        </a:xfrm>
      </p:grpSpPr>
      <p:sp>
        <p:nvSpPr>
          <p:cNvPr id="177" name="Google Shape;177;p29">
            <a:extLst>
              <a:ext uri="{FF2B5EF4-FFF2-40B4-BE49-F238E27FC236}">
                <a16:creationId xmlns:a16="http://schemas.microsoft.com/office/drawing/2014/main" id="{1320D07F-3475-6EED-6E2D-B739FC71160D}"/>
              </a:ext>
            </a:extLst>
          </p:cNvPr>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Theme 5: Continuous AI</a:t>
            </a:r>
            <a:endParaRPr dirty="0"/>
          </a:p>
        </p:txBody>
      </p:sp>
      <p:sp>
        <p:nvSpPr>
          <p:cNvPr id="178" name="Google Shape;178;p29">
            <a:extLst>
              <a:ext uri="{FF2B5EF4-FFF2-40B4-BE49-F238E27FC236}">
                <a16:creationId xmlns:a16="http://schemas.microsoft.com/office/drawing/2014/main" id="{99BCABFC-847A-8EED-C35A-2A32F5ED981A}"/>
              </a:ext>
            </a:extLst>
          </p:cNvPr>
          <p:cNvSpPr txBox="1">
            <a:spLocks noGrp="1"/>
          </p:cNvSpPr>
          <p:nvPr>
            <p:ph type="body" idx="1"/>
          </p:nvPr>
        </p:nvSpPr>
        <p:spPr>
          <a:xfrm>
            <a:off x="514524" y="1219200"/>
            <a:ext cx="6882451" cy="3170500"/>
          </a:xfrm>
          <a:prstGeom prst="rect">
            <a:avLst/>
          </a:prstGeom>
        </p:spPr>
        <p:txBody>
          <a:bodyPr spcFirstLastPara="1" wrap="square" lIns="91425" tIns="91425" rIns="91425" bIns="91425" anchor="t" anchorCtr="0">
            <a:normAutofit/>
          </a:bodyPr>
          <a:lstStyle/>
          <a:p>
            <a:pPr marL="0" lvl="0" indent="0" algn="l" rtl="0">
              <a:lnSpc>
                <a:spcPct val="105000"/>
              </a:lnSpc>
              <a:spcBef>
                <a:spcPts val="0"/>
              </a:spcBef>
              <a:spcAft>
                <a:spcPts val="0"/>
              </a:spcAft>
              <a:buNone/>
            </a:pPr>
            <a:r>
              <a:rPr lang="en-GB" sz="2200" dirty="0"/>
              <a:t>Continuous Integration</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r>
              <a:rPr lang="en-GB" sz="2200" dirty="0"/>
              <a:t>Continuous Deployment</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r>
              <a:rPr lang="en-GB" sz="2200" b="1" dirty="0"/>
              <a:t>Continuous AI</a:t>
            </a:r>
          </a:p>
          <a:p>
            <a:pPr marL="0" indent="0">
              <a:lnSpc>
                <a:spcPct val="105000"/>
              </a:lnSpc>
              <a:buNone/>
            </a:pPr>
            <a:endParaRPr lang="en-GB" sz="2200" dirty="0"/>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endParaRPr sz="2200" dirty="0"/>
          </a:p>
        </p:txBody>
      </p:sp>
      <p:sp>
        <p:nvSpPr>
          <p:cNvPr id="5" name="TextBox 4">
            <a:extLst>
              <a:ext uri="{FF2B5EF4-FFF2-40B4-BE49-F238E27FC236}">
                <a16:creationId xmlns:a16="http://schemas.microsoft.com/office/drawing/2014/main" id="{E9E00411-84C1-79D7-9CF3-E2DFC87C055E}"/>
              </a:ext>
            </a:extLst>
          </p:cNvPr>
          <p:cNvSpPr txBox="1"/>
          <p:nvPr/>
        </p:nvSpPr>
        <p:spPr>
          <a:xfrm>
            <a:off x="4637049" y="3823380"/>
            <a:ext cx="4590584" cy="307777"/>
          </a:xfrm>
          <a:prstGeom prst="rect">
            <a:avLst/>
          </a:prstGeom>
          <a:noFill/>
        </p:spPr>
        <p:txBody>
          <a:bodyPr wrap="square">
            <a:spAutoFit/>
          </a:bodyPr>
          <a:lstStyle/>
          <a:p>
            <a:r>
              <a:rPr lang="en-GB" dirty="0">
                <a:solidFill>
                  <a:schemeClr val="tx1"/>
                </a:solidFill>
              </a:rPr>
              <a:t>https://githubnext.com/projects/continuous-ai/</a:t>
            </a:r>
          </a:p>
        </p:txBody>
      </p:sp>
    </p:spTree>
    <p:extLst>
      <p:ext uri="{BB962C8B-B14F-4D97-AF65-F5344CB8AC3E}">
        <p14:creationId xmlns:p14="http://schemas.microsoft.com/office/powerpoint/2010/main" val="3734570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 Weekly Researcher</a:t>
            </a:r>
            <a:endParaRPr/>
          </a:p>
        </p:txBody>
      </p:sp>
      <p:sp>
        <p:nvSpPr>
          <p:cNvPr id="102" name="Google Shape;102;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on:</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  schedule:</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    - cron: "0 9 * * 1"     # Every week, 9AM UTC, Monday</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  workflow_dispatch:</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safe-outputs:</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  create-issue:</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br>
              <a:rPr lang="en" sz="947" b="1">
                <a:solidFill>
                  <a:schemeClr val="accent5"/>
                </a:solidFill>
                <a:latin typeface="Courier New"/>
                <a:ea typeface="Courier New"/>
                <a:cs typeface="Courier New"/>
                <a:sym typeface="Courier New"/>
              </a:rPr>
            </a:br>
            <a:r>
              <a:rPr lang="en" sz="947" b="1">
                <a:solidFill>
                  <a:schemeClr val="accent5"/>
                </a:solidFill>
                <a:latin typeface="Courier New"/>
                <a:ea typeface="Courier New"/>
                <a:cs typeface="Courier New"/>
                <a:sym typeface="Courier New"/>
              </a:rPr>
              <a:t>tools:</a:t>
            </a:r>
            <a:br>
              <a:rPr lang="en" sz="947" b="1">
                <a:solidFill>
                  <a:schemeClr val="accent5"/>
                </a:solidFill>
                <a:latin typeface="Courier New"/>
                <a:ea typeface="Courier New"/>
                <a:cs typeface="Courier New"/>
                <a:sym typeface="Courier New"/>
              </a:rPr>
            </a:br>
            <a:r>
              <a:rPr lang="en" sz="947" b="1">
                <a:solidFill>
                  <a:schemeClr val="accent5"/>
                </a:solidFill>
                <a:latin typeface="Courier New"/>
                <a:ea typeface="Courier New"/>
                <a:cs typeface="Courier New"/>
                <a:sym typeface="Courier New"/>
              </a:rPr>
              <a:t>  web-search:</a:t>
            </a:r>
            <a:br>
              <a:rPr lang="en" sz="947" b="1">
                <a:solidFill>
                  <a:schemeClr val="accent5"/>
                </a:solidFill>
                <a:latin typeface="Courier New"/>
                <a:ea typeface="Courier New"/>
                <a:cs typeface="Courier New"/>
                <a:sym typeface="Courier New"/>
              </a:rPr>
            </a:br>
            <a:br>
              <a:rPr lang="en" sz="947" b="1">
                <a:solidFill>
                  <a:schemeClr val="accent5"/>
                </a:solidFill>
                <a:latin typeface="Courier New"/>
                <a:ea typeface="Courier New"/>
                <a:cs typeface="Courier New"/>
                <a:sym typeface="Courier New"/>
              </a:rPr>
            </a:br>
            <a:r>
              <a:rPr lang="en" sz="947" b="1">
                <a:solidFill>
                  <a:schemeClr val="accent5"/>
                </a:solidFill>
                <a:latin typeface="Courier New"/>
                <a:ea typeface="Courier New"/>
                <a:cs typeface="Courier New"/>
                <a:sym typeface="Courier New"/>
              </a:rPr>
              <a: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 Agentic Weekly Researcher (Ruby)</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Do a deep research investigation in ${{ github.repository }} repository, and the related industry in general.</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 Read selections of the latest code, issues and PRs for this repo.</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 Read latest trends and news from the software industry news source on the Web.</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Create a new GitHub issue containing a markdown report with interesting news about the area related to this software project, related products and competitive analysis, related research papers, new ideas, market opportunities, business analysis, enjoyable anecdotes.</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&gt; NOTE: Include a link like this at the end of the report: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358"/>
              <a:buFont typeface="Arial"/>
              <a:buNone/>
            </a:pPr>
            <a:r>
              <a:rPr lang="en" sz="947" b="1">
                <a:solidFill>
                  <a:schemeClr val="accent5"/>
                </a:solidFill>
                <a:latin typeface="Courier New"/>
                <a:ea typeface="Courier New"/>
                <a:cs typeface="Courier New"/>
                <a:sym typeface="Courier New"/>
              </a:rPr>
              <a:t>&gt; AI-generated content by ${{ github.workflow }}, may contain mistakes.</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SzPts val="358"/>
              <a:buNone/>
            </a:pPr>
            <a:r>
              <a:rPr lang="en" sz="947" b="1">
                <a:solidFill>
                  <a:schemeClr val="accent5"/>
                </a:solidFill>
                <a:latin typeface="Courier New"/>
                <a:ea typeface="Courier New"/>
                <a:cs typeface="Courier New"/>
                <a:sym typeface="Courier New"/>
              </a:rPr>
              <a:t>```</a:t>
            </a:r>
            <a:endParaRPr sz="947" b="1">
              <a:solidFill>
                <a:schemeClr val="accent5"/>
              </a:solidFill>
            </a:endParaRPr>
          </a:p>
        </p:txBody>
      </p:sp>
      <p:sp>
        <p:nvSpPr>
          <p:cNvPr id="103" name="Google Shape;103;p21"/>
          <p:cNvSpPr/>
          <p:nvPr/>
        </p:nvSpPr>
        <p:spPr>
          <a:xfrm>
            <a:off x="4376075" y="2587625"/>
            <a:ext cx="1996800" cy="404400"/>
          </a:xfrm>
          <a:prstGeom prst="wedgeRectCallout">
            <a:avLst>
              <a:gd name="adj1" fmla="val -58862"/>
              <a:gd name="adj2" fmla="val 12434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Actions-familiar</a:t>
            </a:r>
            <a:endParaRPr/>
          </a:p>
        </p:txBody>
      </p:sp>
      <p:sp>
        <p:nvSpPr>
          <p:cNvPr id="104" name="Google Shape;104;p21"/>
          <p:cNvSpPr/>
          <p:nvPr/>
        </p:nvSpPr>
        <p:spPr>
          <a:xfrm>
            <a:off x="2860300" y="1271425"/>
            <a:ext cx="1996800" cy="404400"/>
          </a:xfrm>
          <a:prstGeom prst="wedgeRectCallout">
            <a:avLst>
              <a:gd name="adj1" fmla="val -128517"/>
              <a:gd name="adj2" fmla="val -331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Triggers</a:t>
            </a:r>
            <a:endParaRPr/>
          </a:p>
        </p:txBody>
      </p:sp>
      <p:sp>
        <p:nvSpPr>
          <p:cNvPr id="105" name="Google Shape;105;p21"/>
          <p:cNvSpPr/>
          <p:nvPr/>
        </p:nvSpPr>
        <p:spPr>
          <a:xfrm>
            <a:off x="3126450" y="1929525"/>
            <a:ext cx="1996800" cy="404400"/>
          </a:xfrm>
          <a:prstGeom prst="wedgeRectCallout">
            <a:avLst>
              <a:gd name="adj1" fmla="val -128517"/>
              <a:gd name="adj2" fmla="val -331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Safe output specs</a:t>
            </a:r>
            <a:endParaRPr/>
          </a:p>
        </p:txBody>
      </p:sp>
      <p:sp>
        <p:nvSpPr>
          <p:cNvPr id="106" name="Google Shape;106;p21"/>
          <p:cNvSpPr/>
          <p:nvPr/>
        </p:nvSpPr>
        <p:spPr>
          <a:xfrm>
            <a:off x="3126450" y="2473700"/>
            <a:ext cx="1072800" cy="404400"/>
          </a:xfrm>
          <a:prstGeom prst="wedgeRectCallout">
            <a:avLst>
              <a:gd name="adj1" fmla="val -128517"/>
              <a:gd name="adj2" fmla="val -331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Tools</a:t>
            </a:r>
            <a:endParaRPr/>
          </a:p>
        </p:txBody>
      </p:sp>
      <p:sp>
        <p:nvSpPr>
          <p:cNvPr id="107" name="Google Shape;107;p21"/>
          <p:cNvSpPr/>
          <p:nvPr/>
        </p:nvSpPr>
        <p:spPr>
          <a:xfrm>
            <a:off x="5123250" y="3927950"/>
            <a:ext cx="1996800" cy="404400"/>
          </a:xfrm>
          <a:prstGeom prst="wedgeRectCallout">
            <a:avLst>
              <a:gd name="adj1" fmla="val -58862"/>
              <a:gd name="adj2" fmla="val 12434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Self-reporting</a:t>
            </a:r>
            <a:endParaRPr/>
          </a:p>
        </p:txBody>
      </p:sp>
      <p:sp>
        <p:nvSpPr>
          <p:cNvPr id="108" name="Google Shape;108;p21"/>
          <p:cNvSpPr/>
          <p:nvPr/>
        </p:nvSpPr>
        <p:spPr>
          <a:xfrm>
            <a:off x="764050" y="3170425"/>
            <a:ext cx="1996800" cy="404400"/>
          </a:xfrm>
          <a:prstGeom prst="wedgeRectCallout">
            <a:avLst>
              <a:gd name="adj1" fmla="val -22903"/>
              <a:gd name="adj2" fmla="val 13335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Assumes GitHub</a:t>
            </a:r>
            <a:endParaRPr/>
          </a:p>
        </p:txBody>
      </p:sp>
      <p:sp>
        <p:nvSpPr>
          <p:cNvPr id="109" name="Google Shape;109;p21"/>
          <p:cNvSpPr/>
          <p:nvPr/>
        </p:nvSpPr>
        <p:spPr>
          <a:xfrm>
            <a:off x="6835500" y="2078100"/>
            <a:ext cx="1996800" cy="987300"/>
          </a:xfrm>
          <a:prstGeom prst="wedgeRectCallout">
            <a:avLst>
              <a:gd name="adj1" fmla="val -87729"/>
              <a:gd name="adj2" fmla="val 7302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NL programming = </a:t>
            </a:r>
            <a:br>
              <a:rPr lang="en"/>
            </a:br>
            <a:r>
              <a:rPr lang="en"/>
              <a:t>deliberate ambiguity =</a:t>
            </a:r>
            <a:br>
              <a:rPr lang="en"/>
            </a:br>
            <a:r>
              <a:rPr lang="en"/>
              <a:t>genuinely useful ambiguity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 Issue Triage</a:t>
            </a:r>
            <a:endParaRPr/>
          </a:p>
        </p:txBody>
      </p:sp>
      <p:sp>
        <p:nvSpPr>
          <p:cNvPr id="115" name="Google Shape;115;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on:</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  issues:</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    types: [opened, reopened]</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safe-outputs:</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  add-comment: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 Agentic Issue Triage</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Your task is to analyze issue #${{ github.event.issue.number }} and perform some initial triage tasks related to that issue.</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Analyze the issue content. Write notes, ideas, nudges, resource links, debugging strategies and/or reproduction steps for the team to consider relevant to the issue. Select appropriate labels already used in the repository and apply them to the issue.</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Finalize an output report with your analysis and add it as an issue comment to the issue.</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&gt; NOTE: Include a link like this at the end of your issue comment: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```markdown</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&gt; AI-generated content by ${{ github.workflow }}, may contain mistakes.</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r>
              <a:rPr lang="en" sz="947" b="1">
                <a:solidFill>
                  <a:schemeClr val="accent5"/>
                </a:solidFill>
                <a:latin typeface="Courier New"/>
                <a:ea typeface="Courier New"/>
                <a:cs typeface="Courier New"/>
                <a:sym typeface="Courier New"/>
              </a:rPr>
              <a:t>```</a:t>
            </a: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Clr>
                <a:schemeClr val="dk1"/>
              </a:buClr>
              <a:buSzPts val="1100"/>
              <a:buFont typeface="Arial"/>
              <a:buNone/>
            </a:pPr>
            <a:endParaRPr sz="947" b="1">
              <a:solidFill>
                <a:schemeClr val="accent5"/>
              </a:solidFill>
              <a:latin typeface="Courier New"/>
              <a:ea typeface="Courier New"/>
              <a:cs typeface="Courier New"/>
              <a:sym typeface="Courier New"/>
            </a:endParaRPr>
          </a:p>
          <a:p>
            <a:pPr marL="0" lvl="0" indent="0" algn="l" rtl="0">
              <a:lnSpc>
                <a:spcPct val="90000"/>
              </a:lnSpc>
              <a:spcBef>
                <a:spcPts val="0"/>
              </a:spcBef>
              <a:spcAft>
                <a:spcPts val="0"/>
              </a:spcAft>
              <a:buSzPts val="358"/>
              <a:buNone/>
            </a:pPr>
            <a:endParaRPr sz="947" b="1">
              <a:solidFill>
                <a:schemeClr val="accent5"/>
              </a:solidFill>
              <a:latin typeface="Courier New"/>
              <a:ea typeface="Courier New"/>
              <a:cs typeface="Courier New"/>
              <a:sym typeface="Courier New"/>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8"/>
          <p:cNvSpPr txBox="1">
            <a:spLocks noGrp="1"/>
          </p:cNvSpPr>
          <p:nvPr>
            <p:ph type="title"/>
          </p:nvPr>
        </p:nvSpPr>
        <p:spPr>
          <a:xfrm>
            <a:off x="311700" y="624669"/>
            <a:ext cx="8520600" cy="43239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Continuous AI</a:t>
            </a:r>
            <a:endParaRPr/>
          </a:p>
          <a:p>
            <a:pPr marL="0" lvl="0" indent="0" algn="ctr" rtl="0">
              <a:spcBef>
                <a:spcPts val="0"/>
              </a:spcBef>
              <a:spcAft>
                <a:spcPts val="0"/>
              </a:spcAft>
              <a:buNone/>
            </a:pPr>
            <a:r>
              <a:rPr lang="en" sz="2800">
                <a:solidFill>
                  <a:schemeClr val="lt2"/>
                </a:solidFill>
              </a:rPr>
              <a:t>implemented by</a:t>
            </a:r>
            <a:endParaRPr sz="2800">
              <a:solidFill>
                <a:schemeClr val="lt2"/>
              </a:solidFill>
            </a:endParaRPr>
          </a:p>
          <a:p>
            <a:pPr marL="0" lvl="0" indent="0" algn="ctr" rtl="0">
              <a:spcBef>
                <a:spcPts val="0"/>
              </a:spcBef>
              <a:spcAft>
                <a:spcPts val="0"/>
              </a:spcAft>
              <a:buNone/>
            </a:pPr>
            <a:r>
              <a:rPr lang="en"/>
              <a:t>Agentic Workflows </a:t>
            </a:r>
            <a:endParaRPr/>
          </a:p>
          <a:p>
            <a:pPr marL="0" lvl="0" indent="0" algn="ctr" rtl="0">
              <a:spcBef>
                <a:spcPts val="0"/>
              </a:spcBef>
              <a:spcAft>
                <a:spcPts val="0"/>
              </a:spcAft>
              <a:buNone/>
            </a:pPr>
            <a:r>
              <a:rPr lang="en" sz="3100">
                <a:solidFill>
                  <a:schemeClr val="lt2"/>
                </a:solidFill>
              </a:rPr>
              <a:t>enables</a:t>
            </a:r>
            <a:endParaRPr sz="3100">
              <a:solidFill>
                <a:schemeClr val="lt2"/>
              </a:solidFill>
            </a:endParaRPr>
          </a:p>
          <a:p>
            <a:pPr marL="0" lvl="0" indent="0" algn="ctr" rtl="0">
              <a:spcBef>
                <a:spcPts val="0"/>
              </a:spcBef>
              <a:spcAft>
                <a:spcPts val="0"/>
              </a:spcAft>
              <a:buNone/>
            </a:pPr>
            <a:r>
              <a:rPr lang="en"/>
              <a:t>Agent Zoo</a:t>
            </a:r>
            <a:endParaRPr/>
          </a:p>
          <a:p>
            <a:pPr marL="0" lvl="0" indent="0" algn="ctr" rtl="0">
              <a:spcBef>
                <a:spcPts val="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1"/>
          <p:cNvSpPr txBox="1">
            <a:spLocks noGrp="1"/>
          </p:cNvSpPr>
          <p:nvPr>
            <p:ph type="title"/>
          </p:nvPr>
        </p:nvSpPr>
        <p:spPr>
          <a:xfrm>
            <a:off x="311700" y="624669"/>
            <a:ext cx="8520600" cy="43239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dirty="0"/>
              <a:t>Continuous AI</a:t>
            </a:r>
            <a:endParaRPr dirty="0"/>
          </a:p>
          <a:p>
            <a:pPr marL="0" lvl="0" indent="0" algn="ctr" rtl="0">
              <a:spcBef>
                <a:spcPts val="0"/>
              </a:spcBef>
              <a:spcAft>
                <a:spcPts val="0"/>
              </a:spcAft>
              <a:buNone/>
            </a:pPr>
            <a:r>
              <a:rPr lang="en" sz="2800" dirty="0">
                <a:solidFill>
                  <a:schemeClr val="lt2"/>
                </a:solidFill>
              </a:rPr>
              <a:t>implemented by</a:t>
            </a:r>
            <a:endParaRPr sz="2800" dirty="0">
              <a:solidFill>
                <a:schemeClr val="lt2"/>
              </a:solidFill>
            </a:endParaRPr>
          </a:p>
          <a:p>
            <a:pPr marL="0" lvl="0" indent="0" algn="ctr" rtl="0">
              <a:spcBef>
                <a:spcPts val="0"/>
              </a:spcBef>
              <a:spcAft>
                <a:spcPts val="0"/>
              </a:spcAft>
              <a:buNone/>
            </a:pPr>
            <a:r>
              <a:rPr lang="en" dirty="0"/>
              <a:t>Agentic Workflows </a:t>
            </a:r>
            <a:endParaRPr dirty="0"/>
          </a:p>
          <a:p>
            <a:pPr marL="0" lvl="0" indent="0" algn="ctr" rtl="0">
              <a:spcBef>
                <a:spcPts val="0"/>
              </a:spcBef>
              <a:spcAft>
                <a:spcPts val="0"/>
              </a:spcAft>
              <a:buNone/>
            </a:pPr>
            <a:r>
              <a:rPr lang="en" sz="3100" dirty="0">
                <a:solidFill>
                  <a:schemeClr val="lt2"/>
                </a:solidFill>
              </a:rPr>
              <a:t>enables</a:t>
            </a:r>
            <a:endParaRPr sz="3100" dirty="0">
              <a:solidFill>
                <a:schemeClr val="lt2"/>
              </a:solidFill>
            </a:endParaRPr>
          </a:p>
          <a:p>
            <a:pPr marL="0" lvl="0" indent="0" algn="ctr" rtl="0">
              <a:spcBef>
                <a:spcPts val="0"/>
              </a:spcBef>
              <a:spcAft>
                <a:spcPts val="0"/>
              </a:spcAft>
              <a:buNone/>
            </a:pPr>
            <a:r>
              <a:rPr lang="en" dirty="0"/>
              <a:t>Continuous Engineering</a:t>
            </a:r>
            <a:endParaRPr dirty="0"/>
          </a:p>
          <a:p>
            <a:pPr marL="0" lvl="0" indent="0" algn="ctr" rtl="0">
              <a:spcBef>
                <a:spcPts val="0"/>
              </a:spcBef>
              <a:spcAft>
                <a:spcPts val="0"/>
              </a:spcAft>
              <a:buNone/>
            </a:pP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9"/>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Theme 5: The Repository as an Automated Software Factory</a:t>
            </a:r>
            <a:endParaRPr dirty="0"/>
          </a:p>
        </p:txBody>
      </p:sp>
      <p:sp>
        <p:nvSpPr>
          <p:cNvPr id="178" name="Google Shape;178;p29"/>
          <p:cNvSpPr txBox="1">
            <a:spLocks noGrp="1"/>
          </p:cNvSpPr>
          <p:nvPr>
            <p:ph type="body" idx="1"/>
          </p:nvPr>
        </p:nvSpPr>
        <p:spPr>
          <a:xfrm>
            <a:off x="514525" y="1219200"/>
            <a:ext cx="3314060" cy="3170500"/>
          </a:xfrm>
          <a:prstGeom prst="rect">
            <a:avLst/>
          </a:prstGeom>
        </p:spPr>
        <p:txBody>
          <a:bodyPr spcFirstLastPara="1" wrap="square" lIns="91425" tIns="91425" rIns="91425" bIns="91425" anchor="t" anchorCtr="0">
            <a:normAutofit fontScale="92500" lnSpcReduction="20000"/>
          </a:bodyPr>
          <a:lstStyle/>
          <a:p>
            <a:pPr marL="0" lvl="0" indent="0" algn="l" rtl="0">
              <a:lnSpc>
                <a:spcPct val="105000"/>
              </a:lnSpc>
              <a:spcBef>
                <a:spcPts val="0"/>
              </a:spcBef>
              <a:spcAft>
                <a:spcPts val="0"/>
              </a:spcAft>
              <a:buNone/>
            </a:pPr>
            <a:r>
              <a:rPr lang="en-GB" sz="2200" dirty="0"/>
              <a:t>Continuous Integration</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r>
              <a:rPr lang="en-GB" sz="2200" dirty="0"/>
              <a:t>Continuous Deployment</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r>
              <a:rPr lang="en-GB" sz="2200" b="1" dirty="0"/>
              <a:t>Continuous AI</a:t>
            </a:r>
          </a:p>
          <a:p>
            <a:pPr marL="0" indent="0">
              <a:lnSpc>
                <a:spcPct val="105000"/>
              </a:lnSpc>
              <a:buNone/>
            </a:pPr>
            <a:endParaRPr lang="en-GB" sz="2200" dirty="0"/>
          </a:p>
          <a:p>
            <a:pPr marL="0" indent="0">
              <a:lnSpc>
                <a:spcPct val="105000"/>
              </a:lnSpc>
              <a:buNone/>
            </a:pPr>
            <a:r>
              <a:rPr lang="en-GB" sz="2200" dirty="0"/>
              <a:t>CI/CD is a form of automated factory</a:t>
            </a:r>
          </a:p>
          <a:p>
            <a:pPr marL="0" lvl="0" indent="0" algn="l" rtl="0">
              <a:lnSpc>
                <a:spcPct val="105000"/>
              </a:lnSpc>
              <a:spcBef>
                <a:spcPts val="0"/>
              </a:spcBef>
              <a:spcAft>
                <a:spcPts val="0"/>
              </a:spcAft>
              <a:buNone/>
            </a:pPr>
            <a:br>
              <a:rPr lang="en-GB" sz="2200" dirty="0"/>
            </a:br>
            <a:r>
              <a:rPr lang="en-GB" sz="2200" dirty="0"/>
              <a:t>Automation happens proactively</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endParaRPr sz="2200" dirty="0"/>
          </a:p>
        </p:txBody>
      </p:sp>
      <p:pic>
        <p:nvPicPr>
          <p:cNvPr id="180" name="Google Shape;180;p29"/>
          <p:cNvPicPr preferRelativeResize="0"/>
          <p:nvPr/>
        </p:nvPicPr>
        <p:blipFill>
          <a:blip r:embed="rId3">
            <a:alphaModFix/>
          </a:blip>
          <a:stretch>
            <a:fillRect/>
          </a:stretch>
        </p:blipFill>
        <p:spPr>
          <a:xfrm>
            <a:off x="3828585" y="1219200"/>
            <a:ext cx="5218289" cy="3084240"/>
          </a:xfrm>
          <a:prstGeom prst="rect">
            <a:avLst/>
          </a:prstGeom>
          <a:noFill/>
          <a:ln>
            <a:noFill/>
          </a:ln>
        </p:spPr>
      </p:pic>
    </p:spTree>
    <p:extLst>
      <p:ext uri="{BB962C8B-B14F-4D97-AF65-F5344CB8AC3E}">
        <p14:creationId xmlns:p14="http://schemas.microsoft.com/office/powerpoint/2010/main" val="15777804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6">
          <a:extLst>
            <a:ext uri="{FF2B5EF4-FFF2-40B4-BE49-F238E27FC236}">
              <a16:creationId xmlns:a16="http://schemas.microsoft.com/office/drawing/2014/main" id="{428F2DD8-EC52-4768-9227-A209640847EA}"/>
            </a:ext>
          </a:extLst>
        </p:cNvPr>
        <p:cNvGrpSpPr/>
        <p:nvPr/>
      </p:nvGrpSpPr>
      <p:grpSpPr>
        <a:xfrm>
          <a:off x="0" y="0"/>
          <a:ext cx="0" cy="0"/>
          <a:chOff x="0" y="0"/>
          <a:chExt cx="0" cy="0"/>
        </a:xfrm>
      </p:grpSpPr>
      <p:sp>
        <p:nvSpPr>
          <p:cNvPr id="177" name="Google Shape;177;p29">
            <a:extLst>
              <a:ext uri="{FF2B5EF4-FFF2-40B4-BE49-F238E27FC236}">
                <a16:creationId xmlns:a16="http://schemas.microsoft.com/office/drawing/2014/main" id="{F41BD5AE-7917-B4FC-BBF8-E741AA42C2C9}"/>
              </a:ext>
            </a:extLst>
          </p:cNvPr>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Example: Proactive fault investigation</a:t>
            </a:r>
            <a:endParaRPr dirty="0"/>
          </a:p>
        </p:txBody>
      </p:sp>
      <p:sp>
        <p:nvSpPr>
          <p:cNvPr id="178" name="Google Shape;178;p29">
            <a:extLst>
              <a:ext uri="{FF2B5EF4-FFF2-40B4-BE49-F238E27FC236}">
                <a16:creationId xmlns:a16="http://schemas.microsoft.com/office/drawing/2014/main" id="{9A1204E7-49A0-5DD3-95C0-EC389A189384}"/>
              </a:ext>
            </a:extLst>
          </p:cNvPr>
          <p:cNvSpPr txBox="1">
            <a:spLocks noGrp="1"/>
          </p:cNvSpPr>
          <p:nvPr>
            <p:ph type="body" idx="1"/>
          </p:nvPr>
        </p:nvSpPr>
        <p:spPr>
          <a:xfrm>
            <a:off x="514525" y="1219200"/>
            <a:ext cx="3314060" cy="3170500"/>
          </a:xfrm>
          <a:prstGeom prst="rect">
            <a:avLst/>
          </a:prstGeom>
        </p:spPr>
        <p:txBody>
          <a:bodyPr spcFirstLastPara="1" wrap="square" lIns="91425" tIns="91425" rIns="91425" bIns="91425" anchor="t" anchorCtr="0">
            <a:normAutofit/>
          </a:bodyPr>
          <a:lstStyle/>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r>
              <a:rPr lang="en-GB" sz="2200" dirty="0"/>
              <a:t>Fault investigation happens proactively</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r>
              <a:rPr lang="en-GB" sz="2200" dirty="0"/>
              <a:t>AI agent gathers all information about fault, analyses, recommends</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endParaRPr sz="2200" dirty="0"/>
          </a:p>
        </p:txBody>
      </p:sp>
      <p:pic>
        <p:nvPicPr>
          <p:cNvPr id="180" name="Google Shape;180;p29">
            <a:extLst>
              <a:ext uri="{FF2B5EF4-FFF2-40B4-BE49-F238E27FC236}">
                <a16:creationId xmlns:a16="http://schemas.microsoft.com/office/drawing/2014/main" id="{EA8C0B25-A4B8-061F-9B43-1950BEA5A459}"/>
              </a:ext>
            </a:extLst>
          </p:cNvPr>
          <p:cNvPicPr preferRelativeResize="0"/>
          <p:nvPr/>
        </p:nvPicPr>
        <p:blipFill>
          <a:blip r:embed="rId3">
            <a:alphaModFix/>
          </a:blip>
          <a:stretch>
            <a:fillRect/>
          </a:stretch>
        </p:blipFill>
        <p:spPr>
          <a:xfrm>
            <a:off x="3828585" y="1219200"/>
            <a:ext cx="5218289" cy="3084240"/>
          </a:xfrm>
          <a:prstGeom prst="rect">
            <a:avLst/>
          </a:prstGeom>
          <a:noFill/>
          <a:ln>
            <a:noFill/>
          </a:ln>
        </p:spPr>
      </p:pic>
      <p:sp>
        <p:nvSpPr>
          <p:cNvPr id="3" name="TextBox 2">
            <a:extLst>
              <a:ext uri="{FF2B5EF4-FFF2-40B4-BE49-F238E27FC236}">
                <a16:creationId xmlns:a16="http://schemas.microsoft.com/office/drawing/2014/main" id="{739F1EC3-C420-3B92-C621-9F4BA51F31A7}"/>
              </a:ext>
            </a:extLst>
          </p:cNvPr>
          <p:cNvSpPr txBox="1"/>
          <p:nvPr/>
        </p:nvSpPr>
        <p:spPr>
          <a:xfrm>
            <a:off x="6333950" y="1876098"/>
            <a:ext cx="4591050" cy="1107996"/>
          </a:xfrm>
          <a:prstGeom prst="rect">
            <a:avLst/>
          </a:prstGeom>
          <a:noFill/>
        </p:spPr>
        <p:txBody>
          <a:bodyPr wrap="square">
            <a:spAutoFit/>
          </a:bodyPr>
          <a:lstStyle/>
          <a:p>
            <a:r>
              <a:rPr lang="en-GB" sz="6600" dirty="0"/>
              <a:t>💣</a:t>
            </a:r>
          </a:p>
        </p:txBody>
      </p:sp>
    </p:spTree>
    <p:extLst>
      <p:ext uri="{BB962C8B-B14F-4D97-AF65-F5344CB8AC3E}">
        <p14:creationId xmlns:p14="http://schemas.microsoft.com/office/powerpoint/2010/main" val="27107772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6">
          <a:extLst>
            <a:ext uri="{FF2B5EF4-FFF2-40B4-BE49-F238E27FC236}">
              <a16:creationId xmlns:a16="http://schemas.microsoft.com/office/drawing/2014/main" id="{723AAD97-205A-14B5-4507-4F8CE587B93B}"/>
            </a:ext>
          </a:extLst>
        </p:cNvPr>
        <p:cNvGrpSpPr/>
        <p:nvPr/>
      </p:nvGrpSpPr>
      <p:grpSpPr>
        <a:xfrm>
          <a:off x="0" y="0"/>
          <a:ext cx="0" cy="0"/>
          <a:chOff x="0" y="0"/>
          <a:chExt cx="0" cy="0"/>
        </a:xfrm>
      </p:grpSpPr>
      <p:sp>
        <p:nvSpPr>
          <p:cNvPr id="177" name="Google Shape;177;p29">
            <a:extLst>
              <a:ext uri="{FF2B5EF4-FFF2-40B4-BE49-F238E27FC236}">
                <a16:creationId xmlns:a16="http://schemas.microsoft.com/office/drawing/2014/main" id="{4AD18469-0E01-A6D6-467D-26FAD0577AB5}"/>
              </a:ext>
            </a:extLst>
          </p:cNvPr>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Example: Continuous Documentation</a:t>
            </a:r>
            <a:endParaRPr dirty="0"/>
          </a:p>
        </p:txBody>
      </p:sp>
      <p:sp>
        <p:nvSpPr>
          <p:cNvPr id="178" name="Google Shape;178;p29">
            <a:extLst>
              <a:ext uri="{FF2B5EF4-FFF2-40B4-BE49-F238E27FC236}">
                <a16:creationId xmlns:a16="http://schemas.microsoft.com/office/drawing/2014/main" id="{C4466371-01DD-3E22-CD8F-50A1CBC968D7}"/>
              </a:ext>
            </a:extLst>
          </p:cNvPr>
          <p:cNvSpPr txBox="1">
            <a:spLocks noGrp="1"/>
          </p:cNvSpPr>
          <p:nvPr>
            <p:ph type="body" idx="1"/>
          </p:nvPr>
        </p:nvSpPr>
        <p:spPr>
          <a:xfrm>
            <a:off x="514525" y="1219200"/>
            <a:ext cx="3314060" cy="3170500"/>
          </a:xfrm>
          <a:prstGeom prst="rect">
            <a:avLst/>
          </a:prstGeom>
        </p:spPr>
        <p:txBody>
          <a:bodyPr spcFirstLastPara="1" wrap="square" lIns="91425" tIns="91425" rIns="91425" bIns="91425" anchor="t" anchorCtr="0">
            <a:normAutofit/>
          </a:bodyPr>
          <a:lstStyle/>
          <a:p>
            <a:pPr marL="0" lvl="0" indent="0" algn="l" rtl="0">
              <a:lnSpc>
                <a:spcPct val="105000"/>
              </a:lnSpc>
              <a:spcBef>
                <a:spcPts val="0"/>
              </a:spcBef>
              <a:spcAft>
                <a:spcPts val="0"/>
              </a:spcAft>
              <a:buNone/>
            </a:pPr>
            <a:r>
              <a:rPr lang="en-GB" sz="2200" dirty="0"/>
              <a:t>Automatically write and maintain software </a:t>
            </a:r>
            <a:r>
              <a:rPr lang="en-GB" sz="2200" b="1" dirty="0"/>
              <a:t>documentation</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r>
              <a:rPr lang="en-GB" sz="2200" dirty="0"/>
              <a:t>Automatically write and maintain </a:t>
            </a:r>
            <a:r>
              <a:rPr lang="en-GB" sz="2200" b="1" dirty="0"/>
              <a:t>specifications</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endParaRPr sz="2200" dirty="0"/>
          </a:p>
        </p:txBody>
      </p:sp>
      <p:pic>
        <p:nvPicPr>
          <p:cNvPr id="4" name="Picture 3">
            <a:extLst>
              <a:ext uri="{FF2B5EF4-FFF2-40B4-BE49-F238E27FC236}">
                <a16:creationId xmlns:a16="http://schemas.microsoft.com/office/drawing/2014/main" id="{EA0CBA73-B31A-BAD4-E40E-A2D18A96EF03}"/>
              </a:ext>
            </a:extLst>
          </p:cNvPr>
          <p:cNvPicPr>
            <a:picLocks noChangeAspect="1"/>
          </p:cNvPicPr>
          <p:nvPr/>
        </p:nvPicPr>
        <p:blipFill>
          <a:blip r:embed="rId3"/>
          <a:srcRect l="20895" t="891" r="20895" b="-891"/>
          <a:stretch>
            <a:fillRect/>
          </a:stretch>
        </p:blipFill>
        <p:spPr>
          <a:xfrm>
            <a:off x="4973098" y="981306"/>
            <a:ext cx="3920312" cy="3524447"/>
          </a:xfrm>
          <a:prstGeom prst="rect">
            <a:avLst/>
          </a:prstGeom>
        </p:spPr>
      </p:pic>
    </p:spTree>
    <p:extLst>
      <p:ext uri="{BB962C8B-B14F-4D97-AF65-F5344CB8AC3E}">
        <p14:creationId xmlns:p14="http://schemas.microsoft.com/office/powerpoint/2010/main" val="13403205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6">
          <a:extLst>
            <a:ext uri="{FF2B5EF4-FFF2-40B4-BE49-F238E27FC236}">
              <a16:creationId xmlns:a16="http://schemas.microsoft.com/office/drawing/2014/main" id="{5178732B-3E16-474B-7D1B-8AFC07EAF90F}"/>
            </a:ext>
          </a:extLst>
        </p:cNvPr>
        <p:cNvGrpSpPr/>
        <p:nvPr/>
      </p:nvGrpSpPr>
      <p:grpSpPr>
        <a:xfrm>
          <a:off x="0" y="0"/>
          <a:ext cx="0" cy="0"/>
          <a:chOff x="0" y="0"/>
          <a:chExt cx="0" cy="0"/>
        </a:xfrm>
      </p:grpSpPr>
      <p:sp>
        <p:nvSpPr>
          <p:cNvPr id="177" name="Google Shape;177;p29">
            <a:extLst>
              <a:ext uri="{FF2B5EF4-FFF2-40B4-BE49-F238E27FC236}">
                <a16:creationId xmlns:a16="http://schemas.microsoft.com/office/drawing/2014/main" id="{4AED31AF-6080-40A1-5660-57CF79BBCF3D}"/>
              </a:ext>
            </a:extLst>
          </p:cNvPr>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Example: Continuous Perf Improvement</a:t>
            </a:r>
            <a:endParaRPr dirty="0"/>
          </a:p>
        </p:txBody>
      </p:sp>
      <p:sp>
        <p:nvSpPr>
          <p:cNvPr id="178" name="Google Shape;178;p29">
            <a:extLst>
              <a:ext uri="{FF2B5EF4-FFF2-40B4-BE49-F238E27FC236}">
                <a16:creationId xmlns:a16="http://schemas.microsoft.com/office/drawing/2014/main" id="{8C053E2F-0FEC-B079-B3CF-2BE8F4D6E748}"/>
              </a:ext>
            </a:extLst>
          </p:cNvPr>
          <p:cNvSpPr txBox="1">
            <a:spLocks noGrp="1"/>
          </p:cNvSpPr>
          <p:nvPr>
            <p:ph type="body" idx="1"/>
          </p:nvPr>
        </p:nvSpPr>
        <p:spPr>
          <a:xfrm>
            <a:off x="514525" y="1219200"/>
            <a:ext cx="3314060" cy="3170500"/>
          </a:xfrm>
          <a:prstGeom prst="rect">
            <a:avLst/>
          </a:prstGeom>
        </p:spPr>
        <p:txBody>
          <a:bodyPr spcFirstLastPara="1" wrap="square" lIns="91425" tIns="91425" rIns="91425" bIns="91425" anchor="t" anchorCtr="0">
            <a:normAutofit/>
          </a:bodyPr>
          <a:lstStyle/>
          <a:p>
            <a:pPr marL="0" lvl="0" indent="0" algn="l" rtl="0">
              <a:lnSpc>
                <a:spcPct val="105000"/>
              </a:lnSpc>
              <a:spcBef>
                <a:spcPts val="0"/>
              </a:spcBef>
              <a:spcAft>
                <a:spcPts val="0"/>
              </a:spcAft>
              <a:buNone/>
            </a:pPr>
            <a:r>
              <a:rPr lang="en-GB" sz="2200" dirty="0"/>
              <a:t>Automatically write and maintain software </a:t>
            </a:r>
            <a:r>
              <a:rPr lang="en-GB" sz="2200" b="1" dirty="0"/>
              <a:t>documentation</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r>
              <a:rPr lang="en-GB" sz="2200" dirty="0"/>
              <a:t>Automatically write and maintain </a:t>
            </a:r>
            <a:r>
              <a:rPr lang="en-GB" sz="2200" b="1" dirty="0"/>
              <a:t>specifications</a:t>
            </a:r>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endParaRPr lang="en-GB" sz="2200" dirty="0"/>
          </a:p>
          <a:p>
            <a:pPr marL="0" lvl="0" indent="0" algn="l" rtl="0">
              <a:lnSpc>
                <a:spcPct val="105000"/>
              </a:lnSpc>
              <a:spcBef>
                <a:spcPts val="0"/>
              </a:spcBef>
              <a:spcAft>
                <a:spcPts val="0"/>
              </a:spcAft>
              <a:buNone/>
            </a:pPr>
            <a:endParaRPr sz="2200" dirty="0"/>
          </a:p>
        </p:txBody>
      </p:sp>
    </p:spTree>
    <p:extLst>
      <p:ext uri="{BB962C8B-B14F-4D97-AF65-F5344CB8AC3E}">
        <p14:creationId xmlns:p14="http://schemas.microsoft.com/office/powerpoint/2010/main" val="11985844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6">
          <a:extLst>
            <a:ext uri="{FF2B5EF4-FFF2-40B4-BE49-F238E27FC236}">
              <a16:creationId xmlns:a16="http://schemas.microsoft.com/office/drawing/2014/main" id="{683667FA-F60B-63D2-730F-9747F2039A49}"/>
            </a:ext>
          </a:extLst>
        </p:cNvPr>
        <p:cNvGrpSpPr/>
        <p:nvPr/>
      </p:nvGrpSpPr>
      <p:grpSpPr>
        <a:xfrm>
          <a:off x="0" y="0"/>
          <a:ext cx="0" cy="0"/>
          <a:chOff x="0" y="0"/>
          <a:chExt cx="0" cy="0"/>
        </a:xfrm>
      </p:grpSpPr>
      <p:sp>
        <p:nvSpPr>
          <p:cNvPr id="177" name="Google Shape;177;p29">
            <a:extLst>
              <a:ext uri="{FF2B5EF4-FFF2-40B4-BE49-F238E27FC236}">
                <a16:creationId xmlns:a16="http://schemas.microsoft.com/office/drawing/2014/main" id="{2D7FA8F6-CA2A-97A1-228E-52C20AA02B25}"/>
              </a:ext>
            </a:extLst>
          </p:cNvPr>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Theme 6: New Futures, New Work</a:t>
            </a:r>
            <a:endParaRPr dirty="0"/>
          </a:p>
        </p:txBody>
      </p:sp>
      <p:sp>
        <p:nvSpPr>
          <p:cNvPr id="3" name="Text Placeholder 2">
            <a:extLst>
              <a:ext uri="{FF2B5EF4-FFF2-40B4-BE49-F238E27FC236}">
                <a16:creationId xmlns:a16="http://schemas.microsoft.com/office/drawing/2014/main" id="{C4446FE1-5086-1243-3DA4-FB021DB07893}"/>
              </a:ext>
            </a:extLst>
          </p:cNvPr>
          <p:cNvSpPr>
            <a:spLocks noGrp="1"/>
          </p:cNvSpPr>
          <p:nvPr>
            <p:ph type="body" idx="1"/>
          </p:nvPr>
        </p:nvSpPr>
        <p:spPr>
          <a:xfrm>
            <a:off x="514525" y="973299"/>
            <a:ext cx="7926000" cy="3836593"/>
          </a:xfrm>
        </p:spPr>
        <p:txBody>
          <a:bodyPr>
            <a:normAutofit lnSpcReduction="10000"/>
          </a:bodyPr>
          <a:lstStyle/>
          <a:p>
            <a:pPr marL="114300" indent="0">
              <a:buNone/>
            </a:pPr>
            <a:r>
              <a:rPr lang="en-GB" dirty="0"/>
              <a:t>The Future is </a:t>
            </a:r>
            <a:r>
              <a:rPr lang="en-GB" b="1" u="sng" dirty="0"/>
              <a:t>Work that wasn’t being done before</a:t>
            </a:r>
          </a:p>
          <a:p>
            <a:pPr marL="114300" indent="0">
              <a:buNone/>
            </a:pPr>
            <a:endParaRPr lang="en-GB" b="1" dirty="0"/>
          </a:p>
          <a:p>
            <a:pPr marL="114300" indent="0">
              <a:buNone/>
            </a:pPr>
            <a:r>
              <a:rPr lang="en-GB" sz="1600" dirty="0"/>
              <a:t>Automobile</a:t>
            </a:r>
          </a:p>
          <a:p>
            <a:r>
              <a:rPr lang="en-GB" sz="1600" dirty="0"/>
              <a:t>Led to </a:t>
            </a:r>
            <a:r>
              <a:rPr lang="en-GB" sz="1600" b="1" u="sng" dirty="0"/>
              <a:t>travel that wasn’t being done before</a:t>
            </a:r>
          </a:p>
          <a:p>
            <a:pPr marL="114300" indent="0">
              <a:buNone/>
            </a:pPr>
            <a:br>
              <a:rPr lang="en-GB" sz="1600" dirty="0"/>
            </a:br>
            <a:r>
              <a:rPr lang="en-GB" sz="1600" dirty="0"/>
              <a:t>Factory</a:t>
            </a:r>
          </a:p>
          <a:p>
            <a:r>
              <a:rPr lang="en-GB" sz="1600" dirty="0"/>
              <a:t>Led to </a:t>
            </a:r>
            <a:r>
              <a:rPr lang="en-GB" sz="1600" b="1" u="sng" dirty="0"/>
              <a:t>millions of products that weren’t being produced before</a:t>
            </a:r>
          </a:p>
          <a:p>
            <a:pPr marL="114300" indent="0">
              <a:buNone/>
            </a:pPr>
            <a:endParaRPr lang="en-GB" sz="1600" dirty="0"/>
          </a:p>
          <a:p>
            <a:pPr marL="114300" indent="0">
              <a:buNone/>
            </a:pPr>
            <a:r>
              <a:rPr lang="en-GB" sz="1600" dirty="0"/>
              <a:t>Medicine</a:t>
            </a:r>
          </a:p>
          <a:p>
            <a:r>
              <a:rPr lang="en-GB" sz="1600" dirty="0"/>
              <a:t>Led to </a:t>
            </a:r>
            <a:r>
              <a:rPr lang="en-GB" sz="1600" b="1" u="sng" dirty="0"/>
              <a:t>many diseases that weren’t being treated before</a:t>
            </a:r>
          </a:p>
          <a:p>
            <a:pPr marL="114300" indent="0">
              <a:buNone/>
            </a:pPr>
            <a:br>
              <a:rPr lang="en-GB" sz="1600" b="1"/>
            </a:br>
            <a:r>
              <a:rPr lang="en-GB" sz="1600" b="1"/>
              <a:t>More </a:t>
            </a:r>
            <a:r>
              <a:rPr lang="en-GB" sz="1600" b="1" dirty="0"/>
              <a:t>overall work, not less</a:t>
            </a:r>
          </a:p>
          <a:p>
            <a:pPr marL="114300" indent="0">
              <a:buNone/>
            </a:pPr>
            <a:r>
              <a:rPr lang="en-GB" sz="1600" b="1" dirty="0"/>
              <a:t>New work, not less work</a:t>
            </a:r>
          </a:p>
        </p:txBody>
      </p:sp>
    </p:spTree>
    <p:extLst>
      <p:ext uri="{BB962C8B-B14F-4D97-AF65-F5344CB8AC3E}">
        <p14:creationId xmlns:p14="http://schemas.microsoft.com/office/powerpoint/2010/main" val="24085205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6">
          <a:extLst>
            <a:ext uri="{FF2B5EF4-FFF2-40B4-BE49-F238E27FC236}">
              <a16:creationId xmlns:a16="http://schemas.microsoft.com/office/drawing/2014/main" id="{5452C450-3093-97D8-CDCE-EA66101AEFA8}"/>
            </a:ext>
          </a:extLst>
        </p:cNvPr>
        <p:cNvGrpSpPr/>
        <p:nvPr/>
      </p:nvGrpSpPr>
      <p:grpSpPr>
        <a:xfrm>
          <a:off x="0" y="0"/>
          <a:ext cx="0" cy="0"/>
          <a:chOff x="0" y="0"/>
          <a:chExt cx="0" cy="0"/>
        </a:xfrm>
      </p:grpSpPr>
      <p:sp>
        <p:nvSpPr>
          <p:cNvPr id="177" name="Google Shape;177;p29">
            <a:extLst>
              <a:ext uri="{FF2B5EF4-FFF2-40B4-BE49-F238E27FC236}">
                <a16:creationId xmlns:a16="http://schemas.microsoft.com/office/drawing/2014/main" id="{5489898B-D663-7938-82E2-8E45818570F8}"/>
              </a:ext>
            </a:extLst>
          </p:cNvPr>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Theme 6: New Futures, New Work</a:t>
            </a:r>
            <a:endParaRPr dirty="0"/>
          </a:p>
        </p:txBody>
      </p:sp>
      <p:sp>
        <p:nvSpPr>
          <p:cNvPr id="3" name="Text Placeholder 2">
            <a:extLst>
              <a:ext uri="{FF2B5EF4-FFF2-40B4-BE49-F238E27FC236}">
                <a16:creationId xmlns:a16="http://schemas.microsoft.com/office/drawing/2014/main" id="{5C3573F4-2876-3B9F-C655-2BEE052EFBF2}"/>
              </a:ext>
            </a:extLst>
          </p:cNvPr>
          <p:cNvSpPr>
            <a:spLocks noGrp="1"/>
          </p:cNvSpPr>
          <p:nvPr>
            <p:ph type="body" idx="1"/>
          </p:nvPr>
        </p:nvSpPr>
        <p:spPr>
          <a:xfrm>
            <a:off x="514525" y="973299"/>
            <a:ext cx="7926000" cy="3836593"/>
          </a:xfrm>
        </p:spPr>
        <p:txBody>
          <a:bodyPr>
            <a:normAutofit fontScale="92500" lnSpcReduction="10000"/>
          </a:bodyPr>
          <a:lstStyle/>
          <a:p>
            <a:pPr marL="114300" indent="0">
              <a:buNone/>
            </a:pPr>
            <a:r>
              <a:rPr lang="en-GB" sz="1600" b="1" dirty="0"/>
              <a:t>Software Performance Engineering</a:t>
            </a:r>
            <a:r>
              <a:rPr lang="en-GB" sz="1600" dirty="0"/>
              <a:t> was previously expensive, </a:t>
            </a:r>
            <a:r>
              <a:rPr lang="en-GB" sz="1600" dirty="0" err="1"/>
              <a:t>adhoc</a:t>
            </a:r>
            <a:r>
              <a:rPr lang="en-GB" sz="1600" dirty="0"/>
              <a:t>, ephemeral</a:t>
            </a:r>
          </a:p>
          <a:p>
            <a:pPr marL="114300" indent="0">
              <a:buNone/>
            </a:pPr>
            <a:r>
              <a:rPr lang="en-GB" sz="1600" dirty="0"/>
              <a:t>	</a:t>
            </a:r>
            <a:r>
              <a:rPr lang="en-GB" sz="1600" dirty="0">
                <a:sym typeface="Wingdings" panose="05000000000000000000" pitchFamily="2" charset="2"/>
              </a:rPr>
              <a:t> AI-automated performance engineering now tractable</a:t>
            </a:r>
          </a:p>
          <a:p>
            <a:pPr marL="114300" indent="0">
              <a:buNone/>
            </a:pPr>
            <a:r>
              <a:rPr lang="en-GB" sz="1600" dirty="0">
                <a:sym typeface="Wingdings" panose="05000000000000000000" pitchFamily="2" charset="2"/>
              </a:rPr>
              <a:t>	 Needs human expertise and oversight</a:t>
            </a:r>
          </a:p>
          <a:p>
            <a:pPr marL="114300" indent="0">
              <a:buNone/>
            </a:pPr>
            <a:r>
              <a:rPr lang="en-GB" sz="1600" dirty="0">
                <a:sym typeface="Wingdings" panose="05000000000000000000" pitchFamily="2" charset="2"/>
              </a:rPr>
              <a:t>	 </a:t>
            </a:r>
            <a:r>
              <a:rPr lang="en-GB" sz="1600" b="1" dirty="0">
                <a:sym typeface="Wingdings" panose="05000000000000000000" pitchFamily="2" charset="2"/>
              </a:rPr>
              <a:t>Good work that was too expensive to do</a:t>
            </a:r>
          </a:p>
          <a:p>
            <a:pPr marL="114300" indent="0">
              <a:buNone/>
            </a:pPr>
            <a:endParaRPr lang="en-GB" sz="1600" dirty="0">
              <a:sym typeface="Wingdings" panose="05000000000000000000" pitchFamily="2" charset="2"/>
            </a:endParaRPr>
          </a:p>
          <a:p>
            <a:pPr marL="114300" indent="0">
              <a:buNone/>
            </a:pPr>
            <a:r>
              <a:rPr lang="en-GB" sz="1600" b="1" dirty="0">
                <a:sym typeface="Wingdings" panose="05000000000000000000" pitchFamily="2" charset="2"/>
              </a:rPr>
              <a:t>Formal Verification </a:t>
            </a:r>
            <a:r>
              <a:rPr lang="en-GB" sz="1600" dirty="0">
                <a:sym typeface="Wingdings" panose="05000000000000000000" pitchFamily="2" charset="2"/>
              </a:rPr>
              <a:t>was previously very expensive, rare</a:t>
            </a:r>
          </a:p>
          <a:p>
            <a:pPr marL="114300" indent="0">
              <a:buNone/>
            </a:pPr>
            <a:r>
              <a:rPr lang="en-GB" sz="1600" dirty="0">
                <a:sym typeface="Wingdings" panose="05000000000000000000" pitchFamily="2" charset="2"/>
              </a:rPr>
              <a:t>	 AI-automated formal verification now looking tractable</a:t>
            </a:r>
          </a:p>
          <a:p>
            <a:pPr marL="114300" indent="0">
              <a:buNone/>
            </a:pPr>
            <a:r>
              <a:rPr lang="en-GB" sz="1600" dirty="0">
                <a:sym typeface="Wingdings" panose="05000000000000000000" pitchFamily="2" charset="2"/>
              </a:rPr>
              <a:t>	 100x less expensive</a:t>
            </a:r>
          </a:p>
          <a:p>
            <a:pPr marL="114300" indent="0">
              <a:buNone/>
            </a:pPr>
            <a:r>
              <a:rPr lang="en-GB" sz="1600" dirty="0">
                <a:sym typeface="Wingdings" panose="05000000000000000000" pitchFamily="2" charset="2"/>
              </a:rPr>
              <a:t>	 Needs human expertise and oversight</a:t>
            </a:r>
          </a:p>
          <a:p>
            <a:pPr marL="114300" indent="0">
              <a:buNone/>
            </a:pPr>
            <a:br>
              <a:rPr lang="en-GB" sz="1600" b="1" dirty="0">
                <a:sym typeface="Wingdings" panose="05000000000000000000" pitchFamily="2" charset="2"/>
              </a:rPr>
            </a:br>
            <a:r>
              <a:rPr lang="en-GB" sz="1600" b="1" dirty="0">
                <a:sym typeface="Wingdings" panose="05000000000000000000" pitchFamily="2" charset="2"/>
              </a:rPr>
              <a:t>Software Maintenance </a:t>
            </a:r>
            <a:r>
              <a:rPr lang="en-GB" sz="1600" dirty="0">
                <a:sym typeface="Wingdings" panose="05000000000000000000" pitchFamily="2" charset="2"/>
              </a:rPr>
              <a:t>was previously very expensive, needed experts</a:t>
            </a:r>
          </a:p>
          <a:p>
            <a:pPr marL="114300" indent="0">
              <a:buNone/>
            </a:pPr>
            <a:r>
              <a:rPr lang="en-GB" sz="1600" dirty="0">
                <a:sym typeface="Wingdings" panose="05000000000000000000" pitchFamily="2" charset="2"/>
              </a:rPr>
              <a:t>	 AI-assisted software maintenance now tractable</a:t>
            </a:r>
          </a:p>
          <a:p>
            <a:pPr marL="114300" indent="0">
              <a:buNone/>
            </a:pPr>
            <a:r>
              <a:rPr lang="en-GB" sz="1600" dirty="0">
                <a:sym typeface="Wingdings" panose="05000000000000000000" pitchFamily="2" charset="2"/>
              </a:rPr>
              <a:t>	 20x(?) less expensive</a:t>
            </a:r>
          </a:p>
          <a:p>
            <a:pPr marL="114300" indent="0">
              <a:buNone/>
            </a:pPr>
            <a:r>
              <a:rPr lang="en-GB" sz="1600" dirty="0">
                <a:sym typeface="Wingdings" panose="05000000000000000000" pitchFamily="2" charset="2"/>
              </a:rPr>
              <a:t>	 Needs human expertise and oversight</a:t>
            </a:r>
            <a:endParaRPr lang="en-GB" sz="1600" dirty="0"/>
          </a:p>
        </p:txBody>
      </p:sp>
    </p:spTree>
    <p:extLst>
      <p:ext uri="{BB962C8B-B14F-4D97-AF65-F5344CB8AC3E}">
        <p14:creationId xmlns:p14="http://schemas.microsoft.com/office/powerpoint/2010/main" val="40655587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06">
          <a:extLst>
            <a:ext uri="{FF2B5EF4-FFF2-40B4-BE49-F238E27FC236}">
              <a16:creationId xmlns:a16="http://schemas.microsoft.com/office/drawing/2014/main" id="{D3DD4AF7-103D-7395-56FD-029D9694EE01}"/>
            </a:ext>
          </a:extLst>
        </p:cNvPr>
        <p:cNvGrpSpPr/>
        <p:nvPr/>
      </p:nvGrpSpPr>
      <p:grpSpPr>
        <a:xfrm>
          <a:off x="0" y="0"/>
          <a:ext cx="0" cy="0"/>
          <a:chOff x="0" y="0"/>
          <a:chExt cx="0" cy="0"/>
        </a:xfrm>
      </p:grpSpPr>
      <p:sp>
        <p:nvSpPr>
          <p:cNvPr id="207" name="Google Shape;207;p33">
            <a:extLst>
              <a:ext uri="{FF2B5EF4-FFF2-40B4-BE49-F238E27FC236}">
                <a16:creationId xmlns:a16="http://schemas.microsoft.com/office/drawing/2014/main" id="{3D384A93-D7A1-10AA-961C-CD66FDD420CB}"/>
              </a:ext>
            </a:extLst>
          </p:cNvPr>
          <p:cNvSpPr txBox="1">
            <a:spLocks noGrp="1"/>
          </p:cNvSpPr>
          <p:nvPr>
            <p:ph type="title"/>
          </p:nvPr>
        </p:nvSpPr>
        <p:spPr>
          <a:xfrm>
            <a:off x="490250" y="450150"/>
            <a:ext cx="82242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Demo – Repo Assist</a:t>
            </a:r>
            <a:endParaRPr dirty="0"/>
          </a:p>
        </p:txBody>
      </p:sp>
    </p:spTree>
    <p:extLst>
      <p:ext uri="{BB962C8B-B14F-4D97-AF65-F5344CB8AC3E}">
        <p14:creationId xmlns:p14="http://schemas.microsoft.com/office/powerpoint/2010/main" val="8815739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42"/>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My Answers!</a:t>
            </a:r>
            <a:endParaRPr/>
          </a:p>
        </p:txBody>
      </p:sp>
      <p:sp>
        <p:nvSpPr>
          <p:cNvPr id="268" name="Google Shape;268;p42"/>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dirty="0"/>
              <a:t>“What will coding with AI look like in the future?”</a:t>
            </a:r>
            <a:endParaRPr sz="2200" dirty="0"/>
          </a:p>
          <a:p>
            <a:pPr marL="457200" lvl="0" indent="-347345" algn="l" rtl="0">
              <a:spcBef>
                <a:spcPts val="1200"/>
              </a:spcBef>
              <a:spcAft>
                <a:spcPts val="0"/>
              </a:spcAft>
              <a:buSzPct val="100000"/>
              <a:buAutoNum type="arabicPeriod"/>
            </a:pPr>
            <a:r>
              <a:rPr lang="en" sz="2200" b="1" dirty="0"/>
              <a:t>Pinpoint, task-oriented and automated tools</a:t>
            </a:r>
            <a:r>
              <a:rPr lang="en" sz="2200" dirty="0"/>
              <a:t> will be everywhere</a:t>
            </a:r>
            <a:endParaRPr sz="2200" dirty="0"/>
          </a:p>
          <a:p>
            <a:pPr marL="457200" lvl="0" indent="-347345" algn="l" rtl="0">
              <a:spcBef>
                <a:spcPts val="0"/>
              </a:spcBef>
              <a:spcAft>
                <a:spcPts val="0"/>
              </a:spcAft>
              <a:buSzPct val="100000"/>
              <a:buAutoNum type="arabicPeriod"/>
            </a:pPr>
            <a:r>
              <a:rPr lang="en" sz="2200" b="1" dirty="0"/>
              <a:t>Depth knowledge, technical description, guidance, expertise, rapid exploration</a:t>
            </a:r>
            <a:r>
              <a:rPr lang="en" sz="2200" dirty="0"/>
              <a:t> become key</a:t>
            </a:r>
            <a:endParaRPr sz="2200" b="1" dirty="0"/>
          </a:p>
          <a:p>
            <a:pPr marL="457200" lvl="0" indent="-347345" algn="l" rtl="0">
              <a:spcBef>
                <a:spcPts val="0"/>
              </a:spcBef>
              <a:spcAft>
                <a:spcPts val="0"/>
              </a:spcAft>
              <a:buSzPct val="100000"/>
              <a:buAutoNum type="arabicPeriod"/>
            </a:pPr>
            <a:r>
              <a:rPr lang="en" sz="2200" b="1" dirty="0"/>
              <a:t>Requirements</a:t>
            </a:r>
            <a:r>
              <a:rPr lang="en" sz="2200" dirty="0"/>
              <a:t>, </a:t>
            </a:r>
            <a:r>
              <a:rPr lang="en" sz="2200" b="1" dirty="0"/>
              <a:t>validation</a:t>
            </a:r>
            <a:r>
              <a:rPr lang="en" sz="2200" dirty="0"/>
              <a:t>, </a:t>
            </a:r>
            <a:r>
              <a:rPr lang="en" sz="2200" b="1" dirty="0"/>
              <a:t>design</a:t>
            </a:r>
            <a:r>
              <a:rPr lang="en" sz="2200" dirty="0"/>
              <a:t>, </a:t>
            </a:r>
            <a:r>
              <a:rPr lang="en" sz="2200" b="1" dirty="0"/>
              <a:t>maintainability</a:t>
            </a:r>
            <a:r>
              <a:rPr lang="en" sz="2200" dirty="0"/>
              <a:t>, </a:t>
            </a:r>
            <a:r>
              <a:rPr lang="en" sz="2200" b="1" dirty="0"/>
              <a:t>improvement</a:t>
            </a:r>
            <a:r>
              <a:rPr lang="en" sz="2200" dirty="0"/>
              <a:t>, </a:t>
            </a:r>
            <a:r>
              <a:rPr lang="en" sz="2200" b="1" dirty="0"/>
              <a:t>security </a:t>
            </a:r>
            <a:r>
              <a:rPr lang="en" sz="2200" dirty="0"/>
              <a:t>will be partially automated</a:t>
            </a:r>
            <a:endParaRPr sz="2200" dirty="0"/>
          </a:p>
        </p:txBody>
      </p:sp>
    </p:spTree>
    <p:extLst>
      <p:ext uri="{BB962C8B-B14F-4D97-AF65-F5344CB8AC3E}">
        <p14:creationId xmlns:p14="http://schemas.microsoft.com/office/powerpoint/2010/main" val="12615416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3"/>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My Answers!</a:t>
            </a:r>
            <a:endParaRPr/>
          </a:p>
        </p:txBody>
      </p:sp>
      <p:sp>
        <p:nvSpPr>
          <p:cNvPr id="274" name="Google Shape;274;p43"/>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dirty="0"/>
              <a:t>“Does AI mean that code will be obsolete soon?”</a:t>
            </a:r>
            <a:endParaRPr sz="2200" dirty="0"/>
          </a:p>
          <a:p>
            <a:pPr marL="457200" lvl="0" indent="-368300" algn="l" rtl="0">
              <a:spcBef>
                <a:spcPts val="1200"/>
              </a:spcBef>
              <a:spcAft>
                <a:spcPts val="0"/>
              </a:spcAft>
              <a:buSzPts val="2200"/>
              <a:buAutoNum type="arabicPeriod"/>
            </a:pPr>
            <a:r>
              <a:rPr lang="en" sz="2200" dirty="0"/>
              <a:t>No! Code will largely remain the record of ground truth</a:t>
            </a:r>
            <a:endParaRPr sz="2200" dirty="0"/>
          </a:p>
          <a:p>
            <a:pPr marL="457200" lvl="0" indent="-368300" algn="l" rtl="0">
              <a:spcBef>
                <a:spcPts val="0"/>
              </a:spcBef>
              <a:spcAft>
                <a:spcPts val="0"/>
              </a:spcAft>
              <a:buSzPts val="2200"/>
              <a:buAutoNum type="arabicPeriod"/>
            </a:pPr>
            <a:r>
              <a:rPr lang="en" sz="2200" dirty="0"/>
              <a:t>But development without AI will not be productive</a:t>
            </a:r>
            <a:endParaRPr sz="2200" dirty="0"/>
          </a:p>
          <a:p>
            <a:pPr marL="457200" lvl="0" indent="-368300" algn="l" rtl="0">
              <a:spcBef>
                <a:spcPts val="0"/>
              </a:spcBef>
              <a:spcAft>
                <a:spcPts val="0"/>
              </a:spcAft>
              <a:buSzPts val="2200"/>
              <a:buAutoNum type="arabicPeriod"/>
            </a:pPr>
            <a:r>
              <a:rPr lang="en" sz="2200" b="1" dirty="0"/>
              <a:t>Depth knowledge </a:t>
            </a:r>
            <a:r>
              <a:rPr lang="en" sz="2200" dirty="0"/>
              <a:t>will be critical </a:t>
            </a:r>
          </a:p>
          <a:p>
            <a:pPr lvl="1" indent="-368300">
              <a:buSzPts val="2200"/>
              <a:buFont typeface="Arial" panose="020B0604020202020204" pitchFamily="34" charset="0"/>
              <a:buChar char="•"/>
            </a:pPr>
            <a:r>
              <a:rPr lang="en" sz="1800" dirty="0"/>
              <a:t>Coding, quality, delivery, release, project management, security, networking, + all computer science</a:t>
            </a:r>
            <a:endParaRPr sz="1800" dirty="0"/>
          </a:p>
        </p:txBody>
      </p:sp>
    </p:spTree>
    <p:extLst>
      <p:ext uri="{BB962C8B-B14F-4D97-AF65-F5344CB8AC3E}">
        <p14:creationId xmlns:p14="http://schemas.microsoft.com/office/powerpoint/2010/main" val="12580667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4"/>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My Answers!</a:t>
            </a:r>
            <a:endParaRPr/>
          </a:p>
        </p:txBody>
      </p:sp>
      <p:sp>
        <p:nvSpPr>
          <p:cNvPr id="280" name="Google Shape;280;p44"/>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dirty="0"/>
              <a:t>“How should I use AI tools in software development?”</a:t>
            </a:r>
            <a:endParaRPr sz="2200" dirty="0"/>
          </a:p>
          <a:p>
            <a:pPr marL="457200" lvl="0" indent="-368300" algn="l" rtl="0">
              <a:spcBef>
                <a:spcPts val="1200"/>
              </a:spcBef>
              <a:spcAft>
                <a:spcPts val="0"/>
              </a:spcAft>
              <a:buSzPts val="2200"/>
              <a:buAutoNum type="arabicPeriod"/>
            </a:pPr>
            <a:r>
              <a:rPr lang="en" sz="2200" b="1" dirty="0"/>
              <a:t>Learn</a:t>
            </a:r>
            <a:r>
              <a:rPr lang="en" sz="2200" dirty="0"/>
              <a:t> how to be a great programmer </a:t>
            </a:r>
            <a:r>
              <a:rPr lang="en" sz="2200" b="1" dirty="0"/>
              <a:t>without AI</a:t>
            </a:r>
            <a:endParaRPr sz="2200" b="1" dirty="0"/>
          </a:p>
          <a:p>
            <a:pPr marL="457200" lvl="0" indent="-368300" algn="l" rtl="0">
              <a:spcBef>
                <a:spcPts val="0"/>
              </a:spcBef>
              <a:spcAft>
                <a:spcPts val="0"/>
              </a:spcAft>
              <a:buSzPts val="2200"/>
              <a:buAutoNum type="arabicPeriod"/>
            </a:pPr>
            <a:r>
              <a:rPr lang="en" sz="2200" b="1" dirty="0"/>
              <a:t>Embrace </a:t>
            </a:r>
            <a:r>
              <a:rPr lang="en" sz="2200" dirty="0"/>
              <a:t>AI-assisted pinpoint, task-oriented, productivity, automation tools</a:t>
            </a:r>
          </a:p>
          <a:p>
            <a:pPr marL="457200" lvl="0" indent="-368300" algn="l" rtl="0">
              <a:spcBef>
                <a:spcPts val="0"/>
              </a:spcBef>
              <a:spcAft>
                <a:spcPts val="0"/>
              </a:spcAft>
              <a:buSzPts val="2200"/>
              <a:buAutoNum type="arabicPeriod"/>
            </a:pPr>
            <a:r>
              <a:rPr lang="en" sz="2200" b="1" dirty="0"/>
              <a:t>Learn </a:t>
            </a:r>
            <a:r>
              <a:rPr lang="en" sz="2200" dirty="0"/>
              <a:t>how all these tools work</a:t>
            </a:r>
            <a:endParaRPr sz="2200" dirty="0"/>
          </a:p>
        </p:txBody>
      </p:sp>
    </p:spTree>
    <p:extLst>
      <p:ext uri="{BB962C8B-B14F-4D97-AF65-F5344CB8AC3E}">
        <p14:creationId xmlns:p14="http://schemas.microsoft.com/office/powerpoint/2010/main" val="18945727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5"/>
          <p:cNvSpPr txBox="1">
            <a:spLocks noGrp="1"/>
          </p:cNvSpPr>
          <p:nvPr>
            <p:ph type="body" idx="1"/>
          </p:nvPr>
        </p:nvSpPr>
        <p:spPr>
          <a:xfrm>
            <a:off x="514525" y="973300"/>
            <a:ext cx="49929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Coding is already magical, AI coding gives you wild powers</a:t>
            </a:r>
            <a:br>
              <a:rPr lang="en" dirty="0"/>
            </a:br>
            <a:endParaRPr dirty="0"/>
          </a:p>
          <a:p>
            <a:pPr marL="457200" lvl="0" indent="-342900" algn="l" rtl="0">
              <a:spcBef>
                <a:spcPts val="0"/>
              </a:spcBef>
              <a:spcAft>
                <a:spcPts val="0"/>
              </a:spcAft>
              <a:buSzPts val="1800"/>
              <a:buChar char="●"/>
            </a:pPr>
            <a:r>
              <a:rPr lang="en" dirty="0"/>
              <a:t>These powers are simple to use but need expert-level guidance</a:t>
            </a:r>
            <a:br>
              <a:rPr lang="en" dirty="0"/>
            </a:br>
            <a:endParaRPr dirty="0"/>
          </a:p>
          <a:p>
            <a:pPr marL="457200" lvl="0" indent="-342900" algn="l" rtl="0">
              <a:spcBef>
                <a:spcPts val="0"/>
              </a:spcBef>
              <a:spcAft>
                <a:spcPts val="0"/>
              </a:spcAft>
              <a:buSzPts val="1800"/>
              <a:buChar char="●"/>
            </a:pPr>
            <a:r>
              <a:rPr lang="en" dirty="0"/>
              <a:t>AI is changing coding fast, and good developers embrace some of it</a:t>
            </a:r>
            <a:endParaRPr dirty="0"/>
          </a:p>
          <a:p>
            <a:pPr marL="0" lvl="0" indent="0" algn="l" rtl="0">
              <a:spcBef>
                <a:spcPts val="1200"/>
              </a:spcBef>
              <a:spcAft>
                <a:spcPts val="1200"/>
              </a:spcAft>
              <a:buNone/>
            </a:pPr>
            <a:r>
              <a:rPr lang="en" u="sng" dirty="0">
                <a:solidFill>
                  <a:schemeClr val="hlink"/>
                </a:solidFill>
                <a:hlinkClick r:id="rId3"/>
              </a:rPr>
              <a:t>dsyme@github.com</a:t>
            </a:r>
            <a:r>
              <a:rPr lang="en" dirty="0"/>
              <a:t> </a:t>
            </a:r>
            <a:r>
              <a:rPr lang="en" u="sng" dirty="0">
                <a:solidFill>
                  <a:schemeClr val="hlink"/>
                </a:solidFill>
                <a:hlinkClick r:id="rId4"/>
              </a:rPr>
              <a:t>@dsyme.bsky.social</a:t>
            </a:r>
            <a:r>
              <a:rPr lang="en" dirty="0"/>
              <a:t> </a:t>
            </a:r>
            <a:endParaRPr dirty="0"/>
          </a:p>
        </p:txBody>
      </p:sp>
      <p:sp>
        <p:nvSpPr>
          <p:cNvPr id="286" name="Google Shape;286;p45"/>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20"/>
              <a:t>We live in the most incredible of times</a:t>
            </a:r>
            <a:endParaRPr sz="2520"/>
          </a:p>
        </p:txBody>
      </p:sp>
      <p:pic>
        <p:nvPicPr>
          <p:cNvPr id="287" name="Google Shape;287;p45"/>
          <p:cNvPicPr preferRelativeResize="0"/>
          <p:nvPr/>
        </p:nvPicPr>
        <p:blipFill>
          <a:blip r:embed="rId5">
            <a:alphaModFix/>
          </a:blip>
          <a:stretch>
            <a:fillRect/>
          </a:stretch>
        </p:blipFill>
        <p:spPr>
          <a:xfrm>
            <a:off x="5687600" y="1017725"/>
            <a:ext cx="3363050" cy="3651650"/>
          </a:xfrm>
          <a:prstGeom prst="rect">
            <a:avLst/>
          </a:prstGeom>
          <a:noFill/>
          <a:ln>
            <a:noFill/>
          </a:ln>
        </p:spPr>
      </p:pic>
    </p:spTree>
    <p:extLst>
      <p:ext uri="{BB962C8B-B14F-4D97-AF65-F5344CB8AC3E}">
        <p14:creationId xmlns:p14="http://schemas.microsoft.com/office/powerpoint/2010/main" val="33925306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6"/>
          <p:cNvSpPr/>
          <p:nvPr/>
        </p:nvSpPr>
        <p:spPr>
          <a:xfrm>
            <a:off x="3599698" y="1116375"/>
            <a:ext cx="1944600" cy="1944600"/>
          </a:xfrm>
          <a:prstGeom prst="ellipse">
            <a:avLst/>
          </a:prstGeom>
          <a:noFill/>
          <a:ln w="28575" cap="flat" cmpd="sng">
            <a:solidFill>
              <a:srgbClr val="83E3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3" name="Google Shape;293;p46">
            <a:hlinkClick r:id="rId3"/>
          </p:cNvPr>
          <p:cNvPicPr preferRelativeResize="0"/>
          <p:nvPr/>
        </p:nvPicPr>
        <p:blipFill>
          <a:blip r:embed="rId4">
            <a:alphaModFix/>
          </a:blip>
          <a:stretch>
            <a:fillRect/>
          </a:stretch>
        </p:blipFill>
        <p:spPr>
          <a:xfrm>
            <a:off x="3937503" y="1587657"/>
            <a:ext cx="1418924" cy="1002050"/>
          </a:xfrm>
          <a:prstGeom prst="rect">
            <a:avLst/>
          </a:prstGeom>
          <a:noFill/>
          <a:ln>
            <a:noFill/>
          </a:ln>
        </p:spPr>
      </p:pic>
      <p:sp>
        <p:nvSpPr>
          <p:cNvPr id="294" name="Google Shape;294;p46"/>
          <p:cNvSpPr txBox="1"/>
          <p:nvPr/>
        </p:nvSpPr>
        <p:spPr>
          <a:xfrm>
            <a:off x="3593550" y="3120970"/>
            <a:ext cx="1956900" cy="414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b="1">
                <a:solidFill>
                  <a:srgbClr val="83E3D9"/>
                </a:solidFill>
                <a:latin typeface="Inter"/>
                <a:ea typeface="Inter"/>
                <a:cs typeface="Inter"/>
                <a:sym typeface="Inter"/>
              </a:rPr>
              <a:t>GitHub Next</a:t>
            </a:r>
            <a:endParaRPr sz="2000" b="1">
              <a:solidFill>
                <a:srgbClr val="83E3D9"/>
              </a:solidFill>
              <a:latin typeface="Inter"/>
              <a:ea typeface="Inter"/>
              <a:cs typeface="Inter"/>
              <a:sym typeface="Inter"/>
            </a:endParaRPr>
          </a:p>
        </p:txBody>
      </p:sp>
      <p:sp>
        <p:nvSpPr>
          <p:cNvPr id="295" name="Google Shape;295;p46"/>
          <p:cNvSpPr txBox="1"/>
          <p:nvPr/>
        </p:nvSpPr>
        <p:spPr>
          <a:xfrm>
            <a:off x="3528299" y="3564300"/>
            <a:ext cx="2087400" cy="5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Inter"/>
                <a:ea typeface="Inter"/>
                <a:cs typeface="Inter"/>
                <a:sym typeface="Inter"/>
              </a:rPr>
              <a:t>Investigating the future of software development</a:t>
            </a:r>
            <a:endParaRPr sz="1200">
              <a:solidFill>
                <a:schemeClr val="dk1"/>
              </a:solidFill>
              <a:latin typeface="Inter"/>
              <a:ea typeface="Inter"/>
              <a:cs typeface="Inter"/>
              <a:sym typeface="Inter"/>
            </a:endParaRPr>
          </a:p>
          <a:p>
            <a:pPr marL="0" lvl="0" indent="0" algn="ctr" rtl="0">
              <a:spcBef>
                <a:spcPts val="0"/>
              </a:spcBef>
              <a:spcAft>
                <a:spcPts val="0"/>
              </a:spcAft>
              <a:buNone/>
            </a:pPr>
            <a:endParaRPr sz="1200">
              <a:solidFill>
                <a:srgbClr val="8B939E"/>
              </a:solidFill>
            </a:endParaRPr>
          </a:p>
          <a:p>
            <a:pPr marL="0" lvl="0" indent="0" algn="ctr" rtl="0">
              <a:spcBef>
                <a:spcPts val="0"/>
              </a:spcBef>
              <a:spcAft>
                <a:spcPts val="0"/>
              </a:spcAft>
              <a:buNone/>
            </a:pPr>
            <a:r>
              <a:rPr lang="en" sz="1000" u="sng">
                <a:solidFill>
                  <a:schemeClr val="hlink"/>
                </a:solidFill>
                <a:hlinkClick r:id="rId3"/>
              </a:rPr>
              <a:t>githubnext.com</a:t>
            </a:r>
            <a:endParaRPr sz="1000">
              <a:solidFill>
                <a:schemeClr val="dk1"/>
              </a:solidFill>
            </a:endParaRPr>
          </a:p>
        </p:txBody>
      </p:sp>
      <p:sp>
        <p:nvSpPr>
          <p:cNvPr id="296" name="Google Shape;296;p46"/>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97" name="Google Shape;297;p46"/>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extLst>
      <p:ext uri="{BB962C8B-B14F-4D97-AF65-F5344CB8AC3E}">
        <p14:creationId xmlns:p14="http://schemas.microsoft.com/office/powerpoint/2010/main" val="30805160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4"/>
          <p:cNvSpPr txBox="1">
            <a:spLocks noGrp="1"/>
          </p:cNvSpPr>
          <p:nvPr>
            <p:ph type="title"/>
          </p:nvPr>
        </p:nvSpPr>
        <p:spPr>
          <a:xfrm>
            <a:off x="490250" y="450150"/>
            <a:ext cx="82242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General lessons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5"/>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Lesson: A small team can build a big thing</a:t>
            </a:r>
            <a:endParaRPr/>
          </a:p>
        </p:txBody>
      </p:sp>
      <p:pic>
        <p:nvPicPr>
          <p:cNvPr id="218" name="Google Shape;218;p35"/>
          <p:cNvPicPr preferRelativeResize="0"/>
          <p:nvPr/>
        </p:nvPicPr>
        <p:blipFill>
          <a:blip r:embed="rId3">
            <a:alphaModFix/>
          </a:blip>
          <a:stretch>
            <a:fillRect/>
          </a:stretch>
        </p:blipFill>
        <p:spPr>
          <a:xfrm>
            <a:off x="2231875" y="1017725"/>
            <a:ext cx="4680238" cy="3820976"/>
          </a:xfrm>
          <a:prstGeom prst="rect">
            <a:avLst/>
          </a:prstGeom>
          <a:noFill/>
          <a:ln>
            <a:noFill/>
          </a:ln>
        </p:spPr>
      </p:pic>
      <p:sp>
        <p:nvSpPr>
          <p:cNvPr id="219" name="Google Shape;219;p35"/>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8"/>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Lesson: UX is critical in </a:t>
            </a:r>
            <a:r>
              <a:rPr lang="en" strike="sngStrike"/>
              <a:t>AI</a:t>
            </a:r>
            <a:r>
              <a:rPr lang="en"/>
              <a:t> developer tools</a:t>
            </a:r>
            <a:endParaRPr/>
          </a:p>
        </p:txBody>
      </p:sp>
      <p:pic>
        <p:nvPicPr>
          <p:cNvPr id="240" name="Google Shape;240;p38"/>
          <p:cNvPicPr preferRelativeResize="0"/>
          <p:nvPr/>
        </p:nvPicPr>
        <p:blipFill>
          <a:blip r:embed="rId3">
            <a:alphaModFix/>
          </a:blip>
          <a:stretch>
            <a:fillRect/>
          </a:stretch>
        </p:blipFill>
        <p:spPr>
          <a:xfrm>
            <a:off x="2661512" y="1111900"/>
            <a:ext cx="3820977" cy="3820977"/>
          </a:xfrm>
          <a:prstGeom prst="rect">
            <a:avLst/>
          </a:prstGeom>
          <a:noFill/>
          <a:ln>
            <a:noFill/>
          </a:ln>
        </p:spPr>
      </p:pic>
      <p:sp>
        <p:nvSpPr>
          <p:cNvPr id="241" name="Google Shape;241;p38"/>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0"/>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Copilot Workspace UI prototype</a:t>
            </a:r>
            <a:endParaRPr/>
          </a:p>
        </p:txBody>
      </p:sp>
      <p:pic>
        <p:nvPicPr>
          <p:cNvPr id="324" name="Google Shape;324;p50"/>
          <p:cNvPicPr preferRelativeResize="0"/>
          <p:nvPr/>
        </p:nvPicPr>
        <p:blipFill>
          <a:blip r:embed="rId3">
            <a:alphaModFix/>
          </a:blip>
          <a:stretch>
            <a:fillRect/>
          </a:stretch>
        </p:blipFill>
        <p:spPr>
          <a:xfrm>
            <a:off x="1393550" y="1082775"/>
            <a:ext cx="6356910" cy="3820975"/>
          </a:xfrm>
          <a:prstGeom prst="rect">
            <a:avLst/>
          </a:prstGeom>
          <a:noFill/>
          <a:ln>
            <a:noFill/>
          </a:ln>
        </p:spPr>
      </p:pic>
      <p:sp>
        <p:nvSpPr>
          <p:cNvPr id="325" name="Google Shape;325;p50"/>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52"/>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Copilot Workspace UI v1</a:t>
            </a:r>
            <a:endParaRPr/>
          </a:p>
        </p:txBody>
      </p:sp>
      <p:pic>
        <p:nvPicPr>
          <p:cNvPr id="354" name="Google Shape;354;p52"/>
          <p:cNvPicPr preferRelativeResize="0"/>
          <p:nvPr/>
        </p:nvPicPr>
        <p:blipFill>
          <a:blip r:embed="rId3">
            <a:alphaModFix/>
          </a:blip>
          <a:stretch>
            <a:fillRect/>
          </a:stretch>
        </p:blipFill>
        <p:spPr>
          <a:xfrm>
            <a:off x="1175575" y="1121600"/>
            <a:ext cx="6792847" cy="3820977"/>
          </a:xfrm>
          <a:prstGeom prst="rect">
            <a:avLst/>
          </a:prstGeom>
          <a:noFill/>
          <a:ln>
            <a:noFill/>
          </a:ln>
        </p:spPr>
      </p:pic>
      <p:sp>
        <p:nvSpPr>
          <p:cNvPr id="355" name="Google Shape;355;p52"/>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54"/>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Copilot Workspace UI v2</a:t>
            </a:r>
            <a:endParaRPr/>
          </a:p>
        </p:txBody>
      </p:sp>
      <p:pic>
        <p:nvPicPr>
          <p:cNvPr id="368" name="Google Shape;368;p54"/>
          <p:cNvPicPr preferRelativeResize="0"/>
          <p:nvPr/>
        </p:nvPicPr>
        <p:blipFill>
          <a:blip r:embed="rId3">
            <a:alphaModFix/>
          </a:blip>
          <a:stretch>
            <a:fillRect/>
          </a:stretch>
        </p:blipFill>
        <p:spPr>
          <a:xfrm>
            <a:off x="1486288" y="1121600"/>
            <a:ext cx="6171418" cy="3820975"/>
          </a:xfrm>
          <a:prstGeom prst="rect">
            <a:avLst/>
          </a:prstGeom>
          <a:noFill/>
          <a:ln>
            <a:noFill/>
          </a:ln>
        </p:spPr>
      </p:pic>
      <p:sp>
        <p:nvSpPr>
          <p:cNvPr id="369" name="Google Shape;369;p54"/>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55"/>
          <p:cNvSpPr txBox="1">
            <a:spLocks noGrp="1"/>
          </p:cNvSpPr>
          <p:nvPr>
            <p:ph type="title"/>
          </p:nvPr>
        </p:nvSpPr>
        <p:spPr>
          <a:xfrm>
            <a:off x="514525" y="265850"/>
            <a:ext cx="7926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Copilot Workspace today</a:t>
            </a:r>
            <a:endParaRPr/>
          </a:p>
        </p:txBody>
      </p:sp>
      <p:pic>
        <p:nvPicPr>
          <p:cNvPr id="375" name="Google Shape;375;p55"/>
          <p:cNvPicPr preferRelativeResize="0"/>
          <p:nvPr/>
        </p:nvPicPr>
        <p:blipFill rotWithShape="1">
          <a:blip r:embed="rId3">
            <a:alphaModFix/>
          </a:blip>
          <a:srcRect t="8240"/>
          <a:stretch/>
        </p:blipFill>
        <p:spPr>
          <a:xfrm>
            <a:off x="1281550" y="1106325"/>
            <a:ext cx="6580900" cy="3771349"/>
          </a:xfrm>
          <a:prstGeom prst="rect">
            <a:avLst/>
          </a:prstGeom>
          <a:noFill/>
          <a:ln>
            <a:noFill/>
          </a:ln>
        </p:spPr>
      </p:pic>
      <p:sp>
        <p:nvSpPr>
          <p:cNvPr id="376" name="Google Shape;376;p55"/>
          <p:cNvSpPr txBox="1">
            <a:spLocks noGrp="1"/>
          </p:cNvSpPr>
          <p:nvPr>
            <p:ph type="body" idx="1"/>
          </p:nvPr>
        </p:nvSpPr>
        <p:spPr>
          <a:xfrm>
            <a:off x="514525" y="973300"/>
            <a:ext cx="79260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theme/theme1.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368</TotalTime>
  <Words>3713</Words>
  <Application>Microsoft Office PowerPoint</Application>
  <PresentationFormat>On-screen Show (16:9)</PresentationFormat>
  <Paragraphs>437</Paragraphs>
  <Slides>48</Slides>
  <Notes>48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Wingdings</vt:lpstr>
      <vt:lpstr>Inter Light</vt:lpstr>
      <vt:lpstr>Inter Black</vt:lpstr>
      <vt:lpstr>Arial</vt:lpstr>
      <vt:lpstr>Courier New</vt:lpstr>
      <vt:lpstr>Roboto</vt:lpstr>
      <vt:lpstr>Inter</vt:lpstr>
      <vt:lpstr>Simple Dark</vt:lpstr>
      <vt:lpstr>AI-assisted Software Development Trends and Themes</vt:lpstr>
      <vt:lpstr>GitHub Next Research, Build, Balance, Ship, Learn </vt:lpstr>
      <vt:lpstr>PowerPoint Presentation</vt:lpstr>
      <vt:lpstr>Your Big Questions!</vt:lpstr>
      <vt:lpstr>We live in the most incredible of times</vt:lpstr>
      <vt:lpstr>AI Dev Tools are changing fast</vt:lpstr>
      <vt:lpstr>PowerPoint Presentation</vt:lpstr>
      <vt:lpstr>PowerPoint Presentation</vt:lpstr>
      <vt:lpstr>The Big Trends I’m seeing in AI Dev Tooling</vt:lpstr>
      <vt:lpstr>Theme 1: Pinpoint Surgery</vt:lpstr>
      <vt:lpstr>Other pinpoint tools</vt:lpstr>
      <vt:lpstr>Other pinpoint tools</vt:lpstr>
      <vt:lpstr>Theme 2: From Pinpoint Surgery to Tasks</vt:lpstr>
      <vt:lpstr>Theme 2: From Pinpoint Surgery to Tasks </vt:lpstr>
      <vt:lpstr>Theme 2: From Pinpoint Surgery to Tasks </vt:lpstr>
      <vt:lpstr>Theme 2: From Pinpoint Surgery to Tasks </vt:lpstr>
      <vt:lpstr>Theme 2: From Pinpoint Surgery to Tasks </vt:lpstr>
      <vt:lpstr>Theme 2: From Pinpoint Surgery to Tasks </vt:lpstr>
      <vt:lpstr>Theme 2: From Pinpoint Surgery to Tasks </vt:lpstr>
      <vt:lpstr>Theme 3: Automation with SWE-Agents</vt:lpstr>
      <vt:lpstr>Demo - Repo Tasks </vt:lpstr>
      <vt:lpstr>Theme 4: AI-Assisted App Development</vt:lpstr>
      <vt:lpstr>Theme 4: AI-Assisted App Development</vt:lpstr>
      <vt:lpstr>Demo - GitHub Spark</vt:lpstr>
      <vt:lpstr>Theme 5: Continuous AI</vt:lpstr>
      <vt:lpstr>Example - Weekly Researcher</vt:lpstr>
      <vt:lpstr>Example - Issue Triage</vt:lpstr>
      <vt:lpstr>Continuous AI implemented by Agentic Workflows  enables Agent Zoo </vt:lpstr>
      <vt:lpstr>Continuous AI implemented by Agentic Workflows  enables Continuous Engineering </vt:lpstr>
      <vt:lpstr>Theme 5: The Repository as an Automated Software Factory</vt:lpstr>
      <vt:lpstr>Example: Proactive fault investigation</vt:lpstr>
      <vt:lpstr>Example: Continuous Documentation</vt:lpstr>
      <vt:lpstr>Example: Continuous Perf Improvement</vt:lpstr>
      <vt:lpstr>Theme 6: New Futures, New Work</vt:lpstr>
      <vt:lpstr>Theme 6: New Futures, New Work</vt:lpstr>
      <vt:lpstr>Demo – Repo Assist</vt:lpstr>
      <vt:lpstr>My Answers!</vt:lpstr>
      <vt:lpstr>My Answers!</vt:lpstr>
      <vt:lpstr>My Answers!</vt:lpstr>
      <vt:lpstr>We live in the most incredible of times</vt:lpstr>
      <vt:lpstr>PowerPoint Presentation</vt:lpstr>
      <vt:lpstr>General lessons</vt:lpstr>
      <vt:lpstr>Lesson: A small team can build a big thing</vt:lpstr>
      <vt:lpstr>Lesson: UX is critical in AI developer tools</vt:lpstr>
      <vt:lpstr>Copilot Workspace UI prototype</vt:lpstr>
      <vt:lpstr>Copilot Workspace UI v1</vt:lpstr>
      <vt:lpstr>Copilot Workspace UI v2</vt:lpstr>
      <vt:lpstr>Copilot Workspace today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Don Syme</cp:lastModifiedBy>
  <cp:revision>1</cp:revision>
  <dcterms:modified xsi:type="dcterms:W3CDTF">2026-04-23T03:35:14Z</dcterms:modified>
</cp:coreProperties>
</file>