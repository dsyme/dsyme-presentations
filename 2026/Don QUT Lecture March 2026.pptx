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55"/>
  </p:notesMasterIdLst>
  <p:sldIdLst>
    <p:sldId id="256" r:id="rId2"/>
    <p:sldId id="257" r:id="rId3"/>
    <p:sldId id="258" r:id="rId4"/>
    <p:sldId id="259" r:id="rId5"/>
    <p:sldId id="260" r:id="rId6"/>
    <p:sldId id="316" r:id="rId7"/>
    <p:sldId id="261" r:id="rId8"/>
    <p:sldId id="262" r:id="rId9"/>
    <p:sldId id="305"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7" r:id="rId24"/>
    <p:sldId id="278" r:id="rId25"/>
    <p:sldId id="317" r:id="rId26"/>
    <p:sldId id="310" r:id="rId27"/>
    <p:sldId id="318" r:id="rId28"/>
    <p:sldId id="321" r:id="rId29"/>
    <p:sldId id="306" r:id="rId30"/>
    <p:sldId id="307" r:id="rId31"/>
    <p:sldId id="319" r:id="rId32"/>
    <p:sldId id="320" r:id="rId33"/>
    <p:sldId id="308" r:id="rId34"/>
    <p:sldId id="309" r:id="rId35"/>
    <p:sldId id="275" r:id="rId36"/>
    <p:sldId id="303" r:id="rId37"/>
    <p:sldId id="311" r:id="rId38"/>
    <p:sldId id="322" r:id="rId39"/>
    <p:sldId id="302" r:id="rId40"/>
    <p:sldId id="312" r:id="rId41"/>
    <p:sldId id="313" r:id="rId42"/>
    <p:sldId id="288" r:id="rId43"/>
    <p:sldId id="289" r:id="rId44"/>
    <p:sldId id="290" r:id="rId45"/>
    <p:sldId id="291" r:id="rId46"/>
    <p:sldId id="292" r:id="rId47"/>
    <p:sldId id="280" r:id="rId48"/>
    <p:sldId id="281" r:id="rId49"/>
    <p:sldId id="284" r:id="rId50"/>
    <p:sldId id="296" r:id="rId51"/>
    <p:sldId id="298" r:id="rId52"/>
    <p:sldId id="300" r:id="rId53"/>
    <p:sldId id="301" r:id="rId54"/>
  </p:sldIdLst>
  <p:sldSz cx="9144000" cy="5143500" type="screen16x9"/>
  <p:notesSz cx="6858000" cy="9144000"/>
  <p:embeddedFontLst>
    <p:embeddedFont>
      <p:font typeface="Inter" panose="020B0604020202020204" charset="0"/>
      <p:regular r:id="rId56"/>
      <p:bold r:id="rId57"/>
      <p:italic r:id="rId58"/>
      <p:boldItalic r:id="rId59"/>
    </p:embeddedFont>
    <p:embeddedFont>
      <p:font typeface="Inter Black" panose="020B0604020202020204" charset="0"/>
      <p:bold r:id="rId60"/>
      <p:boldItalic r:id="rId61"/>
    </p:embeddedFont>
    <p:embeddedFont>
      <p:font typeface="Inter Light" panose="020B0604020202020204" charset="0"/>
      <p:regular r:id="rId62"/>
      <p:bold r:id="rId63"/>
      <p:italic r:id="rId64"/>
      <p:boldItalic r:id="rId65"/>
    </p:embeddedFont>
    <p:embeddedFont>
      <p:font typeface="Roboto" panose="02000000000000000000" pitchFamily="2" charset="0"/>
      <p:regular r:id="rId66"/>
      <p: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D1C18-92A4-4C05-B254-D5DCE077B413}" v="8" dt="2026-04-23T03:45:32.211"/>
    <p1510:client id="{D5FA2A09-D2B3-4372-9448-C2590D1A77D9}" v="1" dt="2026-04-23T03:30:49.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 Syme" userId="dd9123c1e35c60ae" providerId="LiveId" clId="{558C6075-CD96-49CC-AC4E-EEE051D025B9}"/>
    <pc:docChg chg="undo custSel addSld delSld modSld sldOrd modMainMaster">
      <pc:chgData name="Don Syme" userId="dd9123c1e35c60ae" providerId="LiveId" clId="{558C6075-CD96-49CC-AC4E-EEE051D025B9}" dt="2026-04-23T04:51:28.944" v="4018" actId="20577"/>
      <pc:docMkLst>
        <pc:docMk/>
      </pc:docMkLst>
      <pc:sldChg chg="modSp mod">
        <pc:chgData name="Don Syme" userId="dd9123c1e35c60ae" providerId="LiveId" clId="{558C6075-CD96-49CC-AC4E-EEE051D025B9}" dt="2026-04-23T03:59:18.622" v="4014" actId="20577"/>
        <pc:sldMkLst>
          <pc:docMk/>
          <pc:sldMk cId="0" sldId="256"/>
        </pc:sldMkLst>
        <pc:spChg chg="mod">
          <ac:chgData name="Don Syme" userId="dd9123c1e35c60ae" providerId="LiveId" clId="{558C6075-CD96-49CC-AC4E-EEE051D025B9}" dt="2026-03-30T12:31:10.261" v="3011" actId="20577"/>
          <ac:spMkLst>
            <pc:docMk/>
            <pc:sldMk cId="0" sldId="256"/>
            <ac:spMk id="41" creationId="{00000000-0000-0000-0000-000000000000}"/>
          </ac:spMkLst>
        </pc:spChg>
        <pc:spChg chg="mod">
          <ac:chgData name="Don Syme" userId="dd9123c1e35c60ae" providerId="LiveId" clId="{558C6075-CD96-49CC-AC4E-EEE051D025B9}" dt="2026-04-23T03:59:18.622" v="4014" actId="20577"/>
          <ac:spMkLst>
            <pc:docMk/>
            <pc:sldMk cId="0" sldId="256"/>
            <ac:spMk id="42" creationId="{00000000-0000-0000-0000-000000000000}"/>
          </ac:spMkLst>
        </pc:spChg>
      </pc:sldChg>
      <pc:sldChg chg="addSp delSp modSp mod">
        <pc:chgData name="Don Syme" userId="dd9123c1e35c60ae" providerId="LiveId" clId="{558C6075-CD96-49CC-AC4E-EEE051D025B9}" dt="2026-03-30T11:22:35.027" v="1225" actId="1076"/>
        <pc:sldMkLst>
          <pc:docMk/>
          <pc:sldMk cId="0" sldId="258"/>
        </pc:sldMkLst>
        <pc:picChg chg="add mod">
          <ac:chgData name="Don Syme" userId="dd9123c1e35c60ae" providerId="LiveId" clId="{558C6075-CD96-49CC-AC4E-EEE051D025B9}" dt="2026-03-30T11:22:35.027" v="1225" actId="1076"/>
          <ac:picMkLst>
            <pc:docMk/>
            <pc:sldMk cId="0" sldId="258"/>
            <ac:picMk id="3" creationId="{59F8F2E1-A919-C058-3319-C733D3F1ABE0}"/>
          </ac:picMkLst>
        </pc:picChg>
      </pc:sldChg>
      <pc:sldChg chg="addSp modSp mod">
        <pc:chgData name="Don Syme" userId="dd9123c1e35c60ae" providerId="LiveId" clId="{558C6075-CD96-49CC-AC4E-EEE051D025B9}" dt="2026-04-23T03:41:12.052" v="3988" actId="20577"/>
        <pc:sldMkLst>
          <pc:docMk/>
          <pc:sldMk cId="0" sldId="260"/>
        </pc:sldMkLst>
        <pc:spChg chg="add">
          <ac:chgData name="Don Syme" userId="dd9123c1e35c60ae" providerId="LiveId" clId="{558C6075-CD96-49CC-AC4E-EEE051D025B9}" dt="2026-04-23T03:35:01.901" v="3984" actId="22"/>
          <ac:spMkLst>
            <pc:docMk/>
            <pc:sldMk cId="0" sldId="260"/>
            <ac:spMk id="3" creationId="{1B40BBAA-2C38-45A1-752A-8F2E58843C22}"/>
          </ac:spMkLst>
        </pc:spChg>
        <pc:spChg chg="mod">
          <ac:chgData name="Don Syme" userId="dd9123c1e35c60ae" providerId="LiveId" clId="{558C6075-CD96-49CC-AC4E-EEE051D025B9}" dt="2026-04-23T03:41:12.052" v="3988" actId="20577"/>
          <ac:spMkLst>
            <pc:docMk/>
            <pc:sldMk cId="0" sldId="260"/>
            <ac:spMk id="67" creationId="{00000000-0000-0000-0000-000000000000}"/>
          </ac:spMkLst>
        </pc:spChg>
      </pc:sldChg>
      <pc:sldChg chg="modSp mod">
        <pc:chgData name="Don Syme" userId="dd9123c1e35c60ae" providerId="LiveId" clId="{558C6075-CD96-49CC-AC4E-EEE051D025B9}" dt="2026-03-30T12:29:51.854" v="2910" actId="20577"/>
        <pc:sldMkLst>
          <pc:docMk/>
          <pc:sldMk cId="0" sldId="261"/>
        </pc:sldMkLst>
        <pc:spChg chg="mod">
          <ac:chgData name="Don Syme" userId="dd9123c1e35c60ae" providerId="LiveId" clId="{558C6075-CD96-49CC-AC4E-EEE051D025B9}" dt="2026-03-30T12:29:51.854" v="2910" actId="20577"/>
          <ac:spMkLst>
            <pc:docMk/>
            <pc:sldMk cId="0" sldId="261"/>
            <ac:spMk id="74" creationId="{00000000-0000-0000-0000-000000000000}"/>
          </ac:spMkLst>
        </pc:spChg>
      </pc:sldChg>
      <pc:sldChg chg="addSp modSp mod">
        <pc:chgData name="Don Syme" userId="dd9123c1e35c60ae" providerId="LiveId" clId="{558C6075-CD96-49CC-AC4E-EEE051D025B9}" dt="2026-03-30T11:31:22.572" v="1669" actId="20577"/>
        <pc:sldMkLst>
          <pc:docMk/>
          <pc:sldMk cId="0" sldId="262"/>
        </pc:sldMkLst>
        <pc:spChg chg="add mod">
          <ac:chgData name="Don Syme" userId="dd9123c1e35c60ae" providerId="LiveId" clId="{558C6075-CD96-49CC-AC4E-EEE051D025B9}" dt="2026-03-30T11:31:05.655" v="1631" actId="1076"/>
          <ac:spMkLst>
            <pc:docMk/>
            <pc:sldMk cId="0" sldId="262"/>
            <ac:spMk id="2" creationId="{C5054669-758D-ADB1-6E8E-7310ECDD8356}"/>
          </ac:spMkLst>
        </pc:spChg>
        <pc:spChg chg="mod">
          <ac:chgData name="Don Syme" userId="dd9123c1e35c60ae" providerId="LiveId" clId="{558C6075-CD96-49CC-AC4E-EEE051D025B9}" dt="2026-03-30T11:30:54.712" v="1630" actId="1076"/>
          <ac:spMkLst>
            <pc:docMk/>
            <pc:sldMk cId="0" sldId="262"/>
            <ac:spMk id="83" creationId="{00000000-0000-0000-0000-000000000000}"/>
          </ac:spMkLst>
        </pc:spChg>
        <pc:spChg chg="mod">
          <ac:chgData name="Don Syme" userId="dd9123c1e35c60ae" providerId="LiveId" clId="{558C6075-CD96-49CC-AC4E-EEE051D025B9}" dt="2026-03-30T11:31:22.572" v="1669" actId="20577"/>
          <ac:spMkLst>
            <pc:docMk/>
            <pc:sldMk cId="0" sldId="262"/>
            <ac:spMk id="84" creationId="{00000000-0000-0000-0000-000000000000}"/>
          </ac:spMkLst>
        </pc:spChg>
      </pc:sldChg>
      <pc:sldChg chg="modSp mod">
        <pc:chgData name="Don Syme" userId="dd9123c1e35c60ae" providerId="LiveId" clId="{558C6075-CD96-49CC-AC4E-EEE051D025B9}" dt="2026-03-30T12:31:51.216" v="3055" actId="20577"/>
        <pc:sldMkLst>
          <pc:docMk/>
          <pc:sldMk cId="0" sldId="263"/>
        </pc:sldMkLst>
        <pc:spChg chg="mod">
          <ac:chgData name="Don Syme" userId="dd9123c1e35c60ae" providerId="LiveId" clId="{558C6075-CD96-49CC-AC4E-EEE051D025B9}" dt="2026-03-30T12:31:51.216" v="3055" actId="20577"/>
          <ac:spMkLst>
            <pc:docMk/>
            <pc:sldMk cId="0" sldId="263"/>
            <ac:spMk id="89" creationId="{00000000-0000-0000-0000-000000000000}"/>
          </ac:spMkLst>
        </pc:spChg>
      </pc:sldChg>
      <pc:sldChg chg="modSp mod">
        <pc:chgData name="Don Syme" userId="dd9123c1e35c60ae" providerId="LiveId" clId="{558C6075-CD96-49CC-AC4E-EEE051D025B9}" dt="2026-03-30T12:32:12.262" v="3058" actId="20577"/>
        <pc:sldMkLst>
          <pc:docMk/>
          <pc:sldMk cId="0" sldId="266"/>
        </pc:sldMkLst>
        <pc:spChg chg="mod">
          <ac:chgData name="Don Syme" userId="dd9123c1e35c60ae" providerId="LiveId" clId="{558C6075-CD96-49CC-AC4E-EEE051D025B9}" dt="2026-03-30T12:32:12.262" v="3058" actId="20577"/>
          <ac:spMkLst>
            <pc:docMk/>
            <pc:sldMk cId="0" sldId="266"/>
            <ac:spMk id="108" creationId="{00000000-0000-0000-0000-000000000000}"/>
          </ac:spMkLst>
        </pc:spChg>
      </pc:sldChg>
      <pc:sldChg chg="modSp mod">
        <pc:chgData name="Don Syme" userId="dd9123c1e35c60ae" providerId="LiveId" clId="{558C6075-CD96-49CC-AC4E-EEE051D025B9}" dt="2026-03-30T11:03:57.673" v="45" actId="27636"/>
        <pc:sldMkLst>
          <pc:docMk/>
          <pc:sldMk cId="0" sldId="267"/>
        </pc:sldMkLst>
        <pc:spChg chg="mod">
          <ac:chgData name="Don Syme" userId="dd9123c1e35c60ae" providerId="LiveId" clId="{558C6075-CD96-49CC-AC4E-EEE051D025B9}" dt="2026-03-30T11:03:57.673" v="45" actId="27636"/>
          <ac:spMkLst>
            <pc:docMk/>
            <pc:sldMk cId="0" sldId="267"/>
            <ac:spMk id="115" creationId="{00000000-0000-0000-0000-000000000000}"/>
          </ac:spMkLst>
        </pc:spChg>
      </pc:sldChg>
      <pc:sldChg chg="modSp mod">
        <pc:chgData name="Don Syme" userId="dd9123c1e35c60ae" providerId="LiveId" clId="{558C6075-CD96-49CC-AC4E-EEE051D025B9}" dt="2026-03-30T11:38:24.481" v="1954" actId="20577"/>
        <pc:sldMkLst>
          <pc:docMk/>
          <pc:sldMk cId="0" sldId="272"/>
        </pc:sldMkLst>
        <pc:spChg chg="mod">
          <ac:chgData name="Don Syme" userId="dd9123c1e35c60ae" providerId="LiveId" clId="{558C6075-CD96-49CC-AC4E-EEE051D025B9}" dt="2026-03-30T11:38:24.481" v="1954" actId="20577"/>
          <ac:spMkLst>
            <pc:docMk/>
            <pc:sldMk cId="0" sldId="272"/>
            <ac:spMk id="159" creationId="{00000000-0000-0000-0000-000000000000}"/>
          </ac:spMkLst>
        </pc:spChg>
      </pc:sldChg>
      <pc:sldChg chg="modSp mod">
        <pc:chgData name="Don Syme" userId="dd9123c1e35c60ae" providerId="LiveId" clId="{558C6075-CD96-49CC-AC4E-EEE051D025B9}" dt="2026-03-30T11:03:57.718" v="47" actId="27636"/>
        <pc:sldMkLst>
          <pc:docMk/>
          <pc:sldMk cId="0" sldId="273"/>
        </pc:sldMkLst>
        <pc:spChg chg="mod">
          <ac:chgData name="Don Syme" userId="dd9123c1e35c60ae" providerId="LiveId" clId="{558C6075-CD96-49CC-AC4E-EEE051D025B9}" dt="2026-03-30T11:03:57.718" v="47" actId="27636"/>
          <ac:spMkLst>
            <pc:docMk/>
            <pc:sldMk cId="0" sldId="273"/>
            <ac:spMk id="165" creationId="{00000000-0000-0000-0000-000000000000}"/>
          </ac:spMkLst>
        </pc:spChg>
      </pc:sldChg>
      <pc:sldChg chg="modSp mod">
        <pc:chgData name="Don Syme" userId="dd9123c1e35c60ae" providerId="LiveId" clId="{558C6075-CD96-49CC-AC4E-EEE051D025B9}" dt="2026-03-30T12:32:58.383" v="3094" actId="20577"/>
        <pc:sldMkLst>
          <pc:docMk/>
          <pc:sldMk cId="0" sldId="274"/>
        </pc:sldMkLst>
        <pc:spChg chg="mod">
          <ac:chgData name="Don Syme" userId="dd9123c1e35c60ae" providerId="LiveId" clId="{558C6075-CD96-49CC-AC4E-EEE051D025B9}" dt="2026-03-30T12:32:58.383" v="3094" actId="20577"/>
          <ac:spMkLst>
            <pc:docMk/>
            <pc:sldMk cId="0" sldId="274"/>
            <ac:spMk id="171" creationId="{00000000-0000-0000-0000-000000000000}"/>
          </ac:spMkLst>
        </pc:spChg>
      </pc:sldChg>
      <pc:sldChg chg="add">
        <pc:chgData name="Don Syme" userId="dd9123c1e35c60ae" providerId="LiveId" clId="{558C6075-CD96-49CC-AC4E-EEE051D025B9}" dt="2026-03-30T12:33:40.844" v="3097"/>
        <pc:sldMkLst>
          <pc:docMk/>
          <pc:sldMk cId="1577780490" sldId="275"/>
        </pc:sldMkLst>
      </pc:sldChg>
      <pc:sldChg chg="add del">
        <pc:chgData name="Don Syme" userId="dd9123c1e35c60ae" providerId="LiveId" clId="{558C6075-CD96-49CC-AC4E-EEE051D025B9}" dt="2026-04-23T03:42:21.130" v="3993" actId="47"/>
        <pc:sldMkLst>
          <pc:docMk/>
          <pc:sldMk cId="662075118" sldId="279"/>
        </pc:sldMkLst>
      </pc:sldChg>
      <pc:sldChg chg="modSp add mod">
        <pc:chgData name="Don Syme" userId="dd9123c1e35c60ae" providerId="LiveId" clId="{558C6075-CD96-49CC-AC4E-EEE051D025B9}" dt="2026-03-30T11:50:16.868" v="2553" actId="20577"/>
        <pc:sldMkLst>
          <pc:docMk/>
          <pc:sldMk cId="1261541678" sldId="288"/>
        </pc:sldMkLst>
        <pc:spChg chg="mod">
          <ac:chgData name="Don Syme" userId="dd9123c1e35c60ae" providerId="LiveId" clId="{558C6075-CD96-49CC-AC4E-EEE051D025B9}" dt="2026-03-30T11:50:16.868" v="2553" actId="20577"/>
          <ac:spMkLst>
            <pc:docMk/>
            <pc:sldMk cId="1261541678" sldId="288"/>
            <ac:spMk id="268" creationId="{00000000-0000-0000-0000-000000000000}"/>
          </ac:spMkLst>
        </pc:spChg>
      </pc:sldChg>
      <pc:sldChg chg="modSp add mod">
        <pc:chgData name="Don Syme" userId="dd9123c1e35c60ae" providerId="LiveId" clId="{558C6075-CD96-49CC-AC4E-EEE051D025B9}" dt="2026-03-30T11:48:06.987" v="2399" actId="20577"/>
        <pc:sldMkLst>
          <pc:docMk/>
          <pc:sldMk cId="1258066768" sldId="289"/>
        </pc:sldMkLst>
        <pc:spChg chg="mod">
          <ac:chgData name="Don Syme" userId="dd9123c1e35c60ae" providerId="LiveId" clId="{558C6075-CD96-49CC-AC4E-EEE051D025B9}" dt="2026-03-30T11:48:06.987" v="2399" actId="20577"/>
          <ac:spMkLst>
            <pc:docMk/>
            <pc:sldMk cId="1258066768" sldId="289"/>
            <ac:spMk id="274" creationId="{00000000-0000-0000-0000-000000000000}"/>
          </ac:spMkLst>
        </pc:spChg>
      </pc:sldChg>
      <pc:sldChg chg="modSp add mod">
        <pc:chgData name="Don Syme" userId="dd9123c1e35c60ae" providerId="LiveId" clId="{558C6075-CD96-49CC-AC4E-EEE051D025B9}" dt="2026-03-30T11:48:49.723" v="2437" actId="20577"/>
        <pc:sldMkLst>
          <pc:docMk/>
          <pc:sldMk cId="1894572725" sldId="290"/>
        </pc:sldMkLst>
        <pc:spChg chg="mod">
          <ac:chgData name="Don Syme" userId="dd9123c1e35c60ae" providerId="LiveId" clId="{558C6075-CD96-49CC-AC4E-EEE051D025B9}" dt="2026-03-30T11:48:49.723" v="2437" actId="20577"/>
          <ac:spMkLst>
            <pc:docMk/>
            <pc:sldMk cId="1894572725" sldId="290"/>
            <ac:spMk id="280" creationId="{00000000-0000-0000-0000-000000000000}"/>
          </ac:spMkLst>
        </pc:spChg>
      </pc:sldChg>
      <pc:sldChg chg="add">
        <pc:chgData name="Don Syme" userId="dd9123c1e35c60ae" providerId="LiveId" clId="{558C6075-CD96-49CC-AC4E-EEE051D025B9}" dt="2026-03-30T11:44:48.520" v="2194"/>
        <pc:sldMkLst>
          <pc:docMk/>
          <pc:sldMk cId="3392530688" sldId="291"/>
        </pc:sldMkLst>
      </pc:sldChg>
      <pc:sldChg chg="add">
        <pc:chgData name="Don Syme" userId="dd9123c1e35c60ae" providerId="LiveId" clId="{558C6075-CD96-49CC-AC4E-EEE051D025B9}" dt="2026-03-30T11:44:48.520" v="2194"/>
        <pc:sldMkLst>
          <pc:docMk/>
          <pc:sldMk cId="3080516056" sldId="292"/>
        </pc:sldMkLst>
      </pc:sldChg>
      <pc:sldChg chg="addSp delSp modSp add mod">
        <pc:chgData name="Don Syme" userId="dd9123c1e35c60ae" providerId="LiveId" clId="{558C6075-CD96-49CC-AC4E-EEE051D025B9}" dt="2026-03-30T12:41:07.406" v="3965" actId="27636"/>
        <pc:sldMkLst>
          <pc:docMk/>
          <pc:sldMk cId="2408520542" sldId="302"/>
        </pc:sldMkLst>
        <pc:spChg chg="add mod">
          <ac:chgData name="Don Syme" userId="dd9123c1e35c60ae" providerId="LiveId" clId="{558C6075-CD96-49CC-AC4E-EEE051D025B9}" dt="2026-03-30T12:41:07.406" v="3965" actId="27636"/>
          <ac:spMkLst>
            <pc:docMk/>
            <pc:sldMk cId="2408520542" sldId="302"/>
            <ac:spMk id="3" creationId="{C4446FE1-5086-1243-3DA4-FB021DB07893}"/>
          </ac:spMkLst>
        </pc:spChg>
        <pc:spChg chg="mod">
          <ac:chgData name="Don Syme" userId="dd9123c1e35c60ae" providerId="LiveId" clId="{558C6075-CD96-49CC-AC4E-EEE051D025B9}" dt="2026-03-30T12:38:29.161" v="3768" actId="20577"/>
          <ac:spMkLst>
            <pc:docMk/>
            <pc:sldMk cId="2408520542" sldId="302"/>
            <ac:spMk id="177" creationId="{2D7FA8F6-CA2A-97A1-228E-52C20AA02B25}"/>
          </ac:spMkLst>
        </pc:spChg>
      </pc:sldChg>
      <pc:sldChg chg="add ord">
        <pc:chgData name="Don Syme" userId="dd9123c1e35c60ae" providerId="LiveId" clId="{558C6075-CD96-49CC-AC4E-EEE051D025B9}" dt="2026-03-30T12:29:10.163" v="2874"/>
        <pc:sldMkLst>
          <pc:docMk/>
          <pc:sldMk cId="2710777208" sldId="303"/>
        </pc:sldMkLst>
      </pc:sldChg>
      <pc:sldChg chg="modSp add mod">
        <pc:chgData name="Don Syme" userId="dd9123c1e35c60ae" providerId="LiveId" clId="{558C6075-CD96-49CC-AC4E-EEE051D025B9}" dt="2026-03-30T11:36:11.244" v="1890" actId="20577"/>
        <pc:sldMkLst>
          <pc:docMk/>
          <pc:sldMk cId="4132336916" sldId="305"/>
        </pc:sldMkLst>
        <pc:spChg chg="mod">
          <ac:chgData name="Don Syme" userId="dd9123c1e35c60ae" providerId="LiveId" clId="{558C6075-CD96-49CC-AC4E-EEE051D025B9}" dt="2026-03-30T11:33:40.341" v="1849" actId="20577"/>
          <ac:spMkLst>
            <pc:docMk/>
            <pc:sldMk cId="4132336916" sldId="305"/>
            <ac:spMk id="2" creationId="{3AAEBE24-4E50-9B74-1F91-DF7533EDC364}"/>
          </ac:spMkLst>
        </pc:spChg>
        <pc:spChg chg="mod">
          <ac:chgData name="Don Syme" userId="dd9123c1e35c60ae" providerId="LiveId" clId="{558C6075-CD96-49CC-AC4E-EEE051D025B9}" dt="2026-03-30T11:36:11.244" v="1890" actId="20577"/>
          <ac:spMkLst>
            <pc:docMk/>
            <pc:sldMk cId="4132336916" sldId="305"/>
            <ac:spMk id="81" creationId="{12164140-4317-C2FF-AB40-8CAF825BC93F}"/>
          </ac:spMkLst>
        </pc:spChg>
        <pc:spChg chg="mod">
          <ac:chgData name="Don Syme" userId="dd9123c1e35c60ae" providerId="LiveId" clId="{558C6075-CD96-49CC-AC4E-EEE051D025B9}" dt="2026-03-30T11:32:30.353" v="1753" actId="20577"/>
          <ac:spMkLst>
            <pc:docMk/>
            <pc:sldMk cId="4132336916" sldId="305"/>
            <ac:spMk id="82" creationId="{4838CF09-D24E-C0F0-29D5-9AC087A5A50B}"/>
          </ac:spMkLst>
        </pc:spChg>
        <pc:spChg chg="mod">
          <ac:chgData name="Don Syme" userId="dd9123c1e35c60ae" providerId="LiveId" clId="{558C6075-CD96-49CC-AC4E-EEE051D025B9}" dt="2026-03-30T11:35:39.589" v="1877" actId="20577"/>
          <ac:spMkLst>
            <pc:docMk/>
            <pc:sldMk cId="4132336916" sldId="305"/>
            <ac:spMk id="83" creationId="{C1EDD42C-BCCB-25E9-24C8-74A1C2D1B6A7}"/>
          </ac:spMkLst>
        </pc:spChg>
        <pc:spChg chg="mod">
          <ac:chgData name="Don Syme" userId="dd9123c1e35c60ae" providerId="LiveId" clId="{558C6075-CD96-49CC-AC4E-EEE051D025B9}" dt="2026-03-30T11:33:42.858" v="1852" actId="20577"/>
          <ac:spMkLst>
            <pc:docMk/>
            <pc:sldMk cId="4132336916" sldId="305"/>
            <ac:spMk id="84" creationId="{BC59575A-01D9-8E4A-D731-5E1836964FAC}"/>
          </ac:spMkLst>
        </pc:spChg>
      </pc:sldChg>
      <pc:sldChg chg="add">
        <pc:chgData name="Don Syme" userId="dd9123c1e35c60ae" providerId="LiveId" clId="{558C6075-CD96-49CC-AC4E-EEE051D025B9}" dt="2026-03-30T11:40:53.597" v="2032"/>
        <pc:sldMkLst>
          <pc:docMk/>
          <pc:sldMk cId="0" sldId="306"/>
        </pc:sldMkLst>
      </pc:sldChg>
      <pc:sldChg chg="add">
        <pc:chgData name="Don Syme" userId="dd9123c1e35c60ae" providerId="LiveId" clId="{558C6075-CD96-49CC-AC4E-EEE051D025B9}" dt="2026-03-30T11:40:53.597" v="2032"/>
        <pc:sldMkLst>
          <pc:docMk/>
          <pc:sldMk cId="0" sldId="307"/>
        </pc:sldMkLst>
      </pc:sldChg>
      <pc:sldChg chg="add">
        <pc:chgData name="Don Syme" userId="dd9123c1e35c60ae" providerId="LiveId" clId="{558C6075-CD96-49CC-AC4E-EEE051D025B9}" dt="2026-03-30T11:43:42.734" v="2172"/>
        <pc:sldMkLst>
          <pc:docMk/>
          <pc:sldMk cId="0" sldId="308"/>
        </pc:sldMkLst>
      </pc:sldChg>
      <pc:sldChg chg="modSp add mod ord">
        <pc:chgData name="Don Syme" userId="dd9123c1e35c60ae" providerId="LiveId" clId="{558C6075-CD96-49CC-AC4E-EEE051D025B9}" dt="2026-03-30T12:33:51.754" v="3099"/>
        <pc:sldMkLst>
          <pc:docMk/>
          <pc:sldMk cId="0" sldId="309"/>
        </pc:sldMkLst>
        <pc:spChg chg="mod">
          <ac:chgData name="Don Syme" userId="dd9123c1e35c60ae" providerId="LiveId" clId="{558C6075-CD96-49CC-AC4E-EEE051D025B9}" dt="2026-03-30T11:44:06.734" v="2174" actId="20577"/>
          <ac:spMkLst>
            <pc:docMk/>
            <pc:sldMk cId="0" sldId="309"/>
            <ac:spMk id="165" creationId="{00000000-0000-0000-0000-000000000000}"/>
          </ac:spMkLst>
        </pc:spChg>
      </pc:sldChg>
      <pc:sldChg chg="addSp delSp modSp add mod">
        <pc:chgData name="Don Syme" userId="dd9123c1e35c60ae" providerId="LiveId" clId="{558C6075-CD96-49CC-AC4E-EEE051D025B9}" dt="2026-03-30T12:24:43.820" v="2678" actId="1076"/>
        <pc:sldMkLst>
          <pc:docMk/>
          <pc:sldMk cId="3734570926" sldId="310"/>
        </pc:sldMkLst>
        <pc:spChg chg="add mod">
          <ac:chgData name="Don Syme" userId="dd9123c1e35c60ae" providerId="LiveId" clId="{558C6075-CD96-49CC-AC4E-EEE051D025B9}" dt="2026-03-30T12:24:43.820" v="2678" actId="1076"/>
          <ac:spMkLst>
            <pc:docMk/>
            <pc:sldMk cId="3734570926" sldId="310"/>
            <ac:spMk id="5" creationId="{E9E00411-84C1-79D7-9CF3-E2DFC87C055E}"/>
          </ac:spMkLst>
        </pc:spChg>
        <pc:spChg chg="mod">
          <ac:chgData name="Don Syme" userId="dd9123c1e35c60ae" providerId="LiveId" clId="{558C6075-CD96-49CC-AC4E-EEE051D025B9}" dt="2026-03-30T12:24:03.095" v="2669" actId="20577"/>
          <ac:spMkLst>
            <pc:docMk/>
            <pc:sldMk cId="3734570926" sldId="310"/>
            <ac:spMk id="177" creationId="{1320D07F-3475-6EED-6E2D-B739FC71160D}"/>
          </ac:spMkLst>
        </pc:spChg>
        <pc:spChg chg="mod">
          <ac:chgData name="Don Syme" userId="dd9123c1e35c60ae" providerId="LiveId" clId="{558C6075-CD96-49CC-AC4E-EEE051D025B9}" dt="2026-03-30T12:24:11.781" v="2673" actId="14100"/>
          <ac:spMkLst>
            <pc:docMk/>
            <pc:sldMk cId="3734570926" sldId="310"/>
            <ac:spMk id="178" creationId="{99BCABFC-847A-8EED-C35A-2A32F5ED981A}"/>
          </ac:spMkLst>
        </pc:spChg>
      </pc:sldChg>
      <pc:sldChg chg="add ord">
        <pc:chgData name="Don Syme" userId="dd9123c1e35c60ae" providerId="LiveId" clId="{558C6075-CD96-49CC-AC4E-EEE051D025B9}" dt="2026-03-30T12:29:10.163" v="2874"/>
        <pc:sldMkLst>
          <pc:docMk/>
          <pc:sldMk cId="1340320545" sldId="311"/>
        </pc:sldMkLst>
      </pc:sldChg>
      <pc:sldChg chg="modSp add mod">
        <pc:chgData name="Don Syme" userId="dd9123c1e35c60ae" providerId="LiveId" clId="{558C6075-CD96-49CC-AC4E-EEE051D025B9}" dt="2026-03-30T12:40:03.161" v="3903" actId="20577"/>
        <pc:sldMkLst>
          <pc:docMk/>
          <pc:sldMk cId="4065558725" sldId="312"/>
        </pc:sldMkLst>
        <pc:spChg chg="mod">
          <ac:chgData name="Don Syme" userId="dd9123c1e35c60ae" providerId="LiveId" clId="{558C6075-CD96-49CC-AC4E-EEE051D025B9}" dt="2026-03-30T12:40:03.161" v="3903" actId="20577"/>
          <ac:spMkLst>
            <pc:docMk/>
            <pc:sldMk cId="4065558725" sldId="312"/>
            <ac:spMk id="3" creationId="{5C3573F4-2876-3B9F-C655-2BEE052EFBF2}"/>
          </ac:spMkLst>
        </pc:spChg>
        <pc:spChg chg="mod">
          <ac:chgData name="Don Syme" userId="dd9123c1e35c60ae" providerId="LiveId" clId="{558C6075-CD96-49CC-AC4E-EEE051D025B9}" dt="2026-03-30T12:34:50.926" v="3146" actId="20577"/>
          <ac:spMkLst>
            <pc:docMk/>
            <pc:sldMk cId="4065558725" sldId="312"/>
            <ac:spMk id="177" creationId="{5489898B-D663-7938-82E2-8E45818570F8}"/>
          </ac:spMkLst>
        </pc:spChg>
      </pc:sldChg>
      <pc:sldChg chg="modSp add mod">
        <pc:chgData name="Don Syme" userId="dd9123c1e35c60ae" providerId="LiveId" clId="{558C6075-CD96-49CC-AC4E-EEE051D025B9}" dt="2026-03-30T12:38:41.048" v="3786" actId="20577"/>
        <pc:sldMkLst>
          <pc:docMk/>
          <pc:sldMk cId="881573985" sldId="313"/>
        </pc:sldMkLst>
        <pc:spChg chg="mod">
          <ac:chgData name="Don Syme" userId="dd9123c1e35c60ae" providerId="LiveId" clId="{558C6075-CD96-49CC-AC4E-EEE051D025B9}" dt="2026-03-30T12:38:41.048" v="3786" actId="20577"/>
          <ac:spMkLst>
            <pc:docMk/>
            <pc:sldMk cId="881573985" sldId="313"/>
            <ac:spMk id="207" creationId="{3D384A93-D7A1-10AA-961C-CD66FDD420CB}"/>
          </ac:spMkLst>
        </pc:spChg>
      </pc:sldChg>
      <pc:sldChg chg="delSp modSp add del mod">
        <pc:chgData name="Don Syme" userId="dd9123c1e35c60ae" providerId="LiveId" clId="{558C6075-CD96-49CC-AC4E-EEE051D025B9}" dt="2026-04-23T03:45:31.087" v="4000" actId="47"/>
        <pc:sldMkLst>
          <pc:docMk/>
          <pc:sldMk cId="1198584406" sldId="314"/>
        </pc:sldMkLst>
        <pc:spChg chg="mod">
          <ac:chgData name="Don Syme" userId="dd9123c1e35c60ae" providerId="LiveId" clId="{558C6075-CD96-49CC-AC4E-EEE051D025B9}" dt="2026-04-23T03:30:54.535" v="3982" actId="20577"/>
          <ac:spMkLst>
            <pc:docMk/>
            <pc:sldMk cId="1198584406" sldId="314"/>
            <ac:spMk id="177" creationId="{4AED31AF-6080-40A1-5660-57CF79BBCF3D}"/>
          </ac:spMkLst>
        </pc:spChg>
        <pc:picChg chg="del">
          <ac:chgData name="Don Syme" userId="dd9123c1e35c60ae" providerId="LiveId" clId="{558C6075-CD96-49CC-AC4E-EEE051D025B9}" dt="2026-04-23T03:30:57.591" v="3983" actId="478"/>
          <ac:picMkLst>
            <pc:docMk/>
            <pc:sldMk cId="1198584406" sldId="314"/>
            <ac:picMk id="4" creationId="{1C28A393-070C-283E-8A2A-90C78ECA84FE}"/>
          </ac:picMkLst>
        </pc:picChg>
      </pc:sldChg>
      <pc:sldChg chg="add del">
        <pc:chgData name="Don Syme" userId="dd9123c1e35c60ae" providerId="LiveId" clId="{558C6075-CD96-49CC-AC4E-EEE051D025B9}" dt="2026-04-23T03:41:32.425" v="3992" actId="47"/>
        <pc:sldMkLst>
          <pc:docMk/>
          <pc:sldMk cId="0" sldId="315"/>
        </pc:sldMkLst>
      </pc:sldChg>
      <pc:sldChg chg="addSp delSp add mod">
        <pc:chgData name="Don Syme" userId="dd9123c1e35c60ae" providerId="LiveId" clId="{558C6075-CD96-49CC-AC4E-EEE051D025B9}" dt="2026-04-23T03:41:28.905" v="3991" actId="22"/>
        <pc:sldMkLst>
          <pc:docMk/>
          <pc:sldMk cId="921963229" sldId="316"/>
        </pc:sldMkLst>
        <pc:picChg chg="add">
          <ac:chgData name="Don Syme" userId="dd9123c1e35c60ae" providerId="LiveId" clId="{558C6075-CD96-49CC-AC4E-EEE051D025B9}" dt="2026-04-23T03:41:28.905" v="3991" actId="22"/>
          <ac:picMkLst>
            <pc:docMk/>
            <pc:sldMk cId="921963229" sldId="316"/>
            <ac:picMk id="4" creationId="{0E38BA66-0535-9052-4737-7714CC809586}"/>
          </ac:picMkLst>
        </pc:picChg>
        <pc:picChg chg="del">
          <ac:chgData name="Don Syme" userId="dd9123c1e35c60ae" providerId="LiveId" clId="{558C6075-CD96-49CC-AC4E-EEE051D025B9}" dt="2026-04-23T03:41:28.596" v="3990" actId="478"/>
          <ac:picMkLst>
            <pc:docMk/>
            <pc:sldMk cId="921963229" sldId="316"/>
            <ac:picMk id="68" creationId="{D2BFAA7E-93C3-B184-A7F4-63CB341D8C7C}"/>
          </ac:picMkLst>
        </pc:picChg>
      </pc:sldChg>
      <pc:sldChg chg="add">
        <pc:chgData name="Don Syme" userId="dd9123c1e35c60ae" providerId="LiveId" clId="{558C6075-CD96-49CC-AC4E-EEE051D025B9}" dt="2026-04-23T03:42:45.840" v="3994"/>
        <pc:sldMkLst>
          <pc:docMk/>
          <pc:sldMk cId="0" sldId="317"/>
        </pc:sldMkLst>
      </pc:sldChg>
      <pc:sldChg chg="add">
        <pc:chgData name="Don Syme" userId="dd9123c1e35c60ae" providerId="LiveId" clId="{558C6075-CD96-49CC-AC4E-EEE051D025B9}" dt="2026-04-23T03:42:58.289" v="3995"/>
        <pc:sldMkLst>
          <pc:docMk/>
          <pc:sldMk cId="0" sldId="318"/>
        </pc:sldMkLst>
      </pc:sldChg>
      <pc:sldChg chg="modSp add mod">
        <pc:chgData name="Don Syme" userId="dd9123c1e35c60ae" providerId="LiveId" clId="{558C6075-CD96-49CC-AC4E-EEE051D025B9}" dt="2026-04-23T04:51:28.944" v="4018" actId="20577"/>
        <pc:sldMkLst>
          <pc:docMk/>
          <pc:sldMk cId="0" sldId="319"/>
        </pc:sldMkLst>
        <pc:spChg chg="mod">
          <ac:chgData name="Don Syme" userId="dd9123c1e35c60ae" providerId="LiveId" clId="{558C6075-CD96-49CC-AC4E-EEE051D025B9}" dt="2026-04-23T04:51:28.944" v="4018" actId="20577"/>
          <ac:spMkLst>
            <pc:docMk/>
            <pc:sldMk cId="0" sldId="319"/>
            <ac:spMk id="169" creationId="{00000000-0000-0000-0000-000000000000}"/>
          </ac:spMkLst>
        </pc:spChg>
      </pc:sldChg>
      <pc:sldChg chg="add">
        <pc:chgData name="Don Syme" userId="dd9123c1e35c60ae" providerId="LiveId" clId="{558C6075-CD96-49CC-AC4E-EEE051D025B9}" dt="2026-04-23T03:44:08.581" v="3997"/>
        <pc:sldMkLst>
          <pc:docMk/>
          <pc:sldMk cId="0" sldId="320"/>
        </pc:sldMkLst>
      </pc:sldChg>
      <pc:sldChg chg="modSp add mod">
        <pc:chgData name="Don Syme" userId="dd9123c1e35c60ae" providerId="LiveId" clId="{558C6075-CD96-49CC-AC4E-EEE051D025B9}" dt="2026-04-23T03:44:27.490" v="3999" actId="20577"/>
        <pc:sldMkLst>
          <pc:docMk/>
          <pc:sldMk cId="1374179278" sldId="321"/>
        </pc:sldMkLst>
        <pc:spChg chg="mod">
          <ac:chgData name="Don Syme" userId="dd9123c1e35c60ae" providerId="LiveId" clId="{558C6075-CD96-49CC-AC4E-EEE051D025B9}" dt="2026-04-23T03:44:27.490" v="3999" actId="20577"/>
          <ac:spMkLst>
            <pc:docMk/>
            <pc:sldMk cId="1374179278" sldId="321"/>
            <ac:spMk id="150" creationId="{A24E8526-5B4D-B351-65D0-3119034FE25B}"/>
          </ac:spMkLst>
        </pc:spChg>
      </pc:sldChg>
      <pc:sldChg chg="modSp add mod">
        <pc:chgData name="Don Syme" userId="dd9123c1e35c60ae" providerId="LiveId" clId="{558C6075-CD96-49CC-AC4E-EEE051D025B9}" dt="2026-04-23T03:45:32.261" v="4002" actId="27636"/>
        <pc:sldMkLst>
          <pc:docMk/>
          <pc:sldMk cId="0" sldId="322"/>
        </pc:sldMkLst>
        <pc:spChg chg="mod">
          <ac:chgData name="Don Syme" userId="dd9123c1e35c60ae" providerId="LiveId" clId="{558C6075-CD96-49CC-AC4E-EEE051D025B9}" dt="2026-04-23T03:45:32.261" v="4002" actId="27636"/>
          <ac:spMkLst>
            <pc:docMk/>
            <pc:sldMk cId="0" sldId="322"/>
            <ac:spMk id="297" creationId="{00000000-0000-0000-0000-000000000000}"/>
          </ac:spMkLst>
        </pc:spChg>
      </pc:sldChg>
      <pc:sldMasterChg chg="modSldLayout">
        <pc:chgData name="Don Syme" userId="dd9123c1e35c60ae" providerId="LiveId" clId="{558C6075-CD96-49CC-AC4E-EEE051D025B9}" dt="2026-03-30T11:34:29.904" v="1869" actId="12"/>
        <pc:sldMasterMkLst>
          <pc:docMk/>
          <pc:sldMasterMk cId="0" sldId="2147483656"/>
        </pc:sldMasterMkLst>
        <pc:sldLayoutChg chg="modSp mod">
          <pc:chgData name="Don Syme" userId="dd9123c1e35c60ae" providerId="LiveId" clId="{558C6075-CD96-49CC-AC4E-EEE051D025B9}" dt="2026-03-30T11:34:29.904" v="1869" actId="12"/>
          <pc:sldLayoutMkLst>
            <pc:docMk/>
            <pc:sldMasterMk cId="0" sldId="2147483656"/>
            <pc:sldLayoutMk cId="0" sldId="2147483650"/>
          </pc:sldLayoutMkLst>
          <pc:spChg chg="mod">
            <ac:chgData name="Don Syme" userId="dd9123c1e35c60ae" providerId="LiveId" clId="{558C6075-CD96-49CC-AC4E-EEE051D025B9}" dt="2026-03-30T11:34:29.904" v="1869" actId="12"/>
            <ac:spMkLst>
              <pc:docMk/>
              <pc:sldMasterMk cId="0" sldId="2147483656"/>
              <pc:sldLayoutMk cId="0" sldId="2147483650"/>
              <ac:spMk id="1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Put phone on do not disturb, Slack to not notify, Teams closed</a:t>
            </a:r>
            <a:endParaRPr/>
          </a:p>
          <a:p>
            <a:pPr marL="0" lvl="0" indent="0" algn="l" rtl="0">
              <a:spcBef>
                <a:spcPts val="0"/>
              </a:spcBef>
              <a:spcAft>
                <a:spcPts val="0"/>
              </a:spcAft>
              <a:buNone/>
            </a:pPr>
            <a:endParaRPr/>
          </a:p>
          <a:p>
            <a:pPr marL="0" lvl="0" indent="0" algn="l" rtl="0">
              <a:spcBef>
                <a:spcPts val="0"/>
              </a:spcBef>
              <a:spcAft>
                <a:spcPts val="0"/>
              </a:spcAft>
              <a:buNone/>
            </a:pPr>
            <a:r>
              <a:rPr lang="en"/>
              <a:t>Thank you for the introduction, Rahul.  Again, my name is Eddie Aftandilian.  I’m a principal researcher in GitHub Next, and today I’ll be sharing some lessons that we have learned from building GitHub Copilots.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342cfc7a1e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342cfc7a1e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03d9a84375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 name="Google Shape;51;g303d9a84375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 representing the work of an amazing team</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Currently 18 people</a:t>
            </a:r>
            <a:endParaRPr/>
          </a:p>
          <a:p>
            <a:pPr marL="457200" lvl="0" indent="-298450" algn="l" rtl="0">
              <a:spcBef>
                <a:spcPts val="0"/>
              </a:spcBef>
              <a:spcAft>
                <a:spcPts val="0"/>
              </a:spcAft>
              <a:buSzPts val="1100"/>
              <a:buChar char="●"/>
            </a:pPr>
            <a:r>
              <a:rPr lang="en"/>
              <a:t>Mix of backgrounds and skillsets</a:t>
            </a:r>
            <a:endParaRPr/>
          </a:p>
          <a:p>
            <a:pPr marL="457200" lvl="0" indent="-298450" algn="l" rtl="0">
              <a:spcBef>
                <a:spcPts val="0"/>
              </a:spcBef>
              <a:spcAft>
                <a:spcPts val="0"/>
              </a:spcAft>
              <a:buSzPts val="1100"/>
              <a:buChar char="●"/>
            </a:pPr>
            <a:r>
              <a:rPr lang="en"/>
              <a:t>Frontend, backend, ML, programming languages, user research, etc.</a:t>
            </a:r>
            <a:endParaRPr/>
          </a:p>
          <a:p>
            <a:pPr marL="0" lvl="0" indent="0" algn="l" rtl="0">
              <a:spcBef>
                <a:spcPts val="0"/>
              </a:spcBef>
              <a:spcAft>
                <a:spcPts val="0"/>
              </a:spcAft>
              <a:buNone/>
            </a:pPr>
            <a:endParaRPr/>
          </a:p>
          <a:p>
            <a:pPr marL="0" lvl="0" indent="0" algn="l" rtl="0">
              <a:spcBef>
                <a:spcPts val="0"/>
              </a:spcBef>
              <a:spcAft>
                <a:spcPts val="0"/>
              </a:spcAft>
              <a:buNone/>
            </a:pPr>
            <a:r>
              <a:rPr lang="en"/>
              <a:t>It takes this diverse mix of skillsets to build new AI developer tools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2cfc7a1ec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2cfc7a1ec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3d9a8437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3d9a8437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926F5BAC-DCD2-26AE-9238-BD4561EDB194}"/>
            </a:ext>
          </a:extLst>
        </p:cNvPr>
        <p:cNvGrpSpPr/>
        <p:nvPr/>
      </p:nvGrpSpPr>
      <p:grpSpPr>
        <a:xfrm>
          <a:off x="0" y="0"/>
          <a:ext cx="0" cy="0"/>
          <a:chOff x="0" y="0"/>
          <a:chExt cx="0" cy="0"/>
        </a:xfrm>
      </p:grpSpPr>
      <p:sp>
        <p:nvSpPr>
          <p:cNvPr id="63" name="Google Shape;63;g303d9a84375_1_0:notes">
            <a:extLst>
              <a:ext uri="{FF2B5EF4-FFF2-40B4-BE49-F238E27FC236}">
                <a16:creationId xmlns:a16="http://schemas.microsoft.com/office/drawing/2014/main" id="{63891EBF-FDFC-8CD6-51F3-827E0BA43A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3d9a84375_1_0:notes">
            <a:extLst>
              <a:ext uri="{FF2B5EF4-FFF2-40B4-BE49-F238E27FC236}">
                <a16:creationId xmlns:a16="http://schemas.microsoft.com/office/drawing/2014/main" id="{18A1965C-845B-FD7C-5F2D-1FDD50BBF5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extLst>
      <p:ext uri="{BB962C8B-B14F-4D97-AF65-F5344CB8AC3E}">
        <p14:creationId xmlns:p14="http://schemas.microsoft.com/office/powerpoint/2010/main" val="4276388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42cfc7a1e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42cfc7a1e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2cfc7a1ec_0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2cfc7a1ec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F97A7222-3311-15FC-C2A1-23651F793779}"/>
            </a:ext>
          </a:extLst>
        </p:cNvPr>
        <p:cNvGrpSpPr/>
        <p:nvPr/>
      </p:nvGrpSpPr>
      <p:grpSpPr>
        <a:xfrm>
          <a:off x="0" y="0"/>
          <a:ext cx="0" cy="0"/>
          <a:chOff x="0" y="0"/>
          <a:chExt cx="0" cy="0"/>
        </a:xfrm>
      </p:grpSpPr>
      <p:sp>
        <p:nvSpPr>
          <p:cNvPr id="76" name="Google Shape;76;g342cfc7a1ec_0_852:notes">
            <a:extLst>
              <a:ext uri="{FF2B5EF4-FFF2-40B4-BE49-F238E27FC236}">
                <a16:creationId xmlns:a16="http://schemas.microsoft.com/office/drawing/2014/main" id="{9CE9AB26-6928-FF45-D37D-4A7E04C997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2cfc7a1ec_0_852:notes">
            <a:extLst>
              <a:ext uri="{FF2B5EF4-FFF2-40B4-BE49-F238E27FC236}">
                <a16:creationId xmlns:a16="http://schemas.microsoft.com/office/drawing/2014/main" id="{3AC8B2E5-2060-2038-EEB5-F14F254E83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590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2cfc7a1ec_0_7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2cfc7a1ec_0_7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2cfc7a1ec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42cfc7a1ec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2cfc7a1ec_0_8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42cfc7a1ec_0_8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42cfc7a1ec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42cfc7a1ec_0_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42cfc7a1ec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42cfc7a1ec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2cfc7a1ec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42cfc7a1ec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42cfc7a1ec_0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42cfc7a1ec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2cfc7a1ec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2cfc7a1ec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42cfc7a1ec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42cfc7a1ec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42cfc7a1ec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42cfc7a1ec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2cfc7a1ec_0_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42cfc7a1ec_0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42cfc7a1ec_0_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42cfc7a1ec_0_7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42cfc7a1ec_0_8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42cfc7a1ec_0_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2cfc7a1ec_0_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42cfc7a1ec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42cfc7a1ec_0_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42cfc7a1ec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bb85db9d5_0_5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9bb85db9d5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225E095-0694-5A95-CA8C-CA8205CE6D32}"/>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21252522-249D-3A5F-228B-FF25D4AD82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696BF18E-D78B-D31D-65EB-71653972ED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2725971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9bb85db9d5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9bb85db9d5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They are automatable: They can be performed by AI with a high degree of reliability and accuracy.</a:t>
            </a:r>
            <a:endParaRPr/>
          </a:p>
          <a:p>
            <a:pPr marL="0" lvl="0" indent="0" algn="l" rtl="0">
              <a:spcBef>
                <a:spcPts val="0"/>
              </a:spcBef>
              <a:spcAft>
                <a:spcPts val="0"/>
              </a:spcAft>
              <a:buNone/>
            </a:pPr>
            <a:r>
              <a:rPr lang="en"/>
              <a:t>They are repetitive: They involve ongoing tasks that benefit from automation, such as updating documentation or managing issues.</a:t>
            </a:r>
            <a:endParaRPr/>
          </a:p>
          <a:p>
            <a:pPr marL="0" lvl="0" indent="0" algn="l" rtl="0">
              <a:spcBef>
                <a:spcPts val="0"/>
              </a:spcBef>
              <a:spcAft>
                <a:spcPts val="0"/>
              </a:spcAft>
              <a:buNone/>
            </a:pPr>
            <a:r>
              <a:rPr lang="en"/>
              <a:t>They are collaborative: They enhance team workflows and improve the overall software development process.</a:t>
            </a:r>
            <a:endParaRPr/>
          </a:p>
          <a:p>
            <a:pPr marL="0" lvl="0" indent="0" algn="l" rtl="0">
              <a:spcBef>
                <a:spcPts val="0"/>
              </a:spcBef>
              <a:spcAft>
                <a:spcPts val="0"/>
              </a:spcAft>
              <a:buNone/>
            </a:pPr>
            <a:r>
              <a:rPr lang="en"/>
              <a:t>They are integrated: They can be seamlessly integrated into existing workflows and platforms, such as GitHub.</a:t>
            </a:r>
            <a:endParaRPr/>
          </a:p>
          <a:p>
            <a:pPr marL="0" lvl="0" indent="0" algn="l" rtl="0">
              <a:spcBef>
                <a:spcPts val="0"/>
              </a:spcBef>
              <a:spcAft>
                <a:spcPts val="0"/>
              </a:spcAft>
              <a:buNone/>
            </a:pPr>
            <a:r>
              <a:rPr lang="en"/>
              <a:t>They are auditable: They can be monitored and controlled by teams and organizations, ensuring transparency, accountability and utility.</a:t>
            </a:r>
            <a:endParaRPr/>
          </a:p>
          <a:p>
            <a:pPr marL="0" lvl="0" indent="0" algn="l" rtl="0">
              <a:spcBef>
                <a:spcPts val="0"/>
              </a:spcBef>
              <a:spcAft>
                <a:spcPts val="0"/>
              </a:spcAft>
              <a:buNone/>
            </a:pPr>
            <a:r>
              <a:rPr lang="en"/>
              <a:t>They can be organization-specific: There are many different ways to implement these tasks, depending on the specific needs of the team or organization.</a:t>
            </a:r>
            <a:endParaRPr/>
          </a:p>
          <a:p>
            <a:pPr marL="0" lvl="0" indent="0" algn="l" rtl="0">
              <a:spcBef>
                <a:spcPts val="0"/>
              </a:spcBef>
              <a:spcAft>
                <a:spcPts val="0"/>
              </a:spcAft>
              <a:buNone/>
            </a:pPr>
            <a:r>
              <a:rPr lang="en"/>
              <a:t>They are event-triggered: They can be triggered by events in the software development process, such as code changes, issue creation, or pull requests, and care must be taken to balance rate of triggering with other goals.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0DC1C992-B9A8-2D01-15D6-5339A93A989E}"/>
            </a:ext>
          </a:extLst>
        </p:cNvPr>
        <p:cNvGrpSpPr/>
        <p:nvPr/>
      </p:nvGrpSpPr>
      <p:grpSpPr>
        <a:xfrm>
          <a:off x="0" y="0"/>
          <a:ext cx="0" cy="0"/>
          <a:chOff x="0" y="0"/>
          <a:chExt cx="0" cy="0"/>
        </a:xfrm>
      </p:grpSpPr>
      <p:sp>
        <p:nvSpPr>
          <p:cNvPr id="147" name="Google Shape;147;g39bb85db9d5_0_509:notes">
            <a:extLst>
              <a:ext uri="{FF2B5EF4-FFF2-40B4-BE49-F238E27FC236}">
                <a16:creationId xmlns:a16="http://schemas.microsoft.com/office/drawing/2014/main" id="{FAED2A2E-5918-08A0-656A-B43C88BC67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bb85db9d5_0_509:notes">
            <a:extLst>
              <a:ext uri="{FF2B5EF4-FFF2-40B4-BE49-F238E27FC236}">
                <a16:creationId xmlns:a16="http://schemas.microsoft.com/office/drawing/2014/main" id="{CA4065A4-F502-569A-90E2-6E8CC3642F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8844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075397ff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075397ff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7075397ff0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7075397ff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9bb85db9d5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9bb85db9d5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bb85db9d5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9bb85db9d5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9bb85db9d5_0_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bb85db9d5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bb85db9d5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bb85db9d5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d362e5433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3795696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8399C2A-A30D-0D97-1B5E-18D128040FE4}"/>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1E71F165-6A99-126D-93C3-74FC45E8CD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C268046E-C1F2-A147-C6EE-7D77A1B120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186787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E1F6299C-F66B-B620-087F-02A2EACF6999}"/>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7054DB42-87A4-8297-19F2-293B49A8A7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99F04286-1907-353B-F424-34432BDFDD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The original GitHub Copilot completes code in your editor</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accept small bits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move your cursor around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still have to type quite a lot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Copilot has to infer what you are trying to do</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Can we switch POV to whole task, whole change, whole repository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While keeping the key learning of Copilot: repeated AI-user alignment </a:t>
            </a:r>
            <a:endParaRPr dirty="0">
              <a:solidFill>
                <a:schemeClr val="dk1"/>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91318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9bb85db9d5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9bb85db9d5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41E5CD1F-73CE-8976-835D-BB0AD4AC1F02}"/>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3094CD8F-1D50-2ABB-E9A5-85CF619B11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122321DF-FAE7-CD1C-3A35-B7057C3815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910752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C35223C0-A9CA-A449-2FBE-CA594D9D3784}"/>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58D1A4E6-B9FF-6C04-ABB8-6DBF497BA5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3F34CE81-A552-5EAB-13A0-783B363A59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76982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2B3ECD29-3090-C220-9F2D-71258726ADD4}"/>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9F1C971B-0DB9-FADC-3C82-CEE70A698E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BE7F80E3-8B3F-E0B6-25AA-7EF40EFA1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99647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42cfc7a1ec_0_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42cfc7a1ec_0_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21988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42cfc7a1ec_0_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42cfc7a1ec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7246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42cfc7a1ec_0_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42cfc7a1ec_0_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7739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42cfc7a1ec_0_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42cfc7a1ec_0_8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extLst>
      <p:ext uri="{BB962C8B-B14F-4D97-AF65-F5344CB8AC3E}">
        <p14:creationId xmlns:p14="http://schemas.microsoft.com/office/powerpoint/2010/main" val="41616985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42cfc7a1ec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2cfc7a1ec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34647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42cfc7a1ec_0_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42cfc7a1ec_0_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f92cd41c3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f92cd41c3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wanted to share the example of original Copilot.  </a:t>
            </a:r>
            <a:endParaRPr/>
          </a:p>
          <a:p>
            <a:pPr marL="0" lvl="0" indent="0" algn="l" rtl="0">
              <a:spcBef>
                <a:spcPts val="0"/>
              </a:spcBef>
              <a:spcAft>
                <a:spcPts val="0"/>
              </a:spcAft>
              <a:buNone/>
            </a:pPr>
            <a:endParaRPr/>
          </a:p>
          <a:p>
            <a:pPr marL="0" lvl="0" indent="0" algn="l" rtl="0">
              <a:spcBef>
                <a:spcPts val="0"/>
              </a:spcBef>
              <a:spcAft>
                <a:spcPts val="0"/>
              </a:spcAft>
              <a:buNone/>
            </a:pPr>
            <a:r>
              <a:rPr lang="en"/>
              <a:t>When original Copilot was introduced in June 2021, there were fewer than 10 people on the team.  One of the great things about software is that a small team of great people can build something with huge impact.  And this is what I meant by “asymmetric value” on the previous slide.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03d9a84375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03d9a84375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a:solidFill>
                  <a:schemeClr val="dk1"/>
                </a:solidFill>
              </a:rPr>
              <a:t>In the PL and SWE communities, we have a long history of building really cool, innovative, useful tools that no one uses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Refactoring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Static analysis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Program verification or formal verification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Debugging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 The list goes on and 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is because we haven’t found the right UX to make these usable by real developers.  And usually the people building the tools don’t have UX expertise to find the right UX.</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Getting the UX right is the difference between success and failure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061205bb1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061205bb1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Copilot Workspace aims to help a developer solve an entire development task, such as a feature request or bug report.  It takes in a development task as input, finds the right places in a repo to address it, and then modifies the code.  </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This is what the first prototype of Copilot Workspace looked like.  It was an experiment by one of our team members, Don Syme.  He had been inspired by SpecLang, but where SpecLang wanted the NL to be the source of truth, Don wanted to explore keeping code as the source of truth, but enabling the user to modify it by editing a generated natural language specification.</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He called it “Extract, Edit, Apply.” The user would first extract a specification of the code in a repo with respect to some topic (here it’s called the “pivot”), then edit that specification, then apply that edit to the code to update it in the way desired by the user.</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Don is brilliant, but he’s not a front-end developer, and so you can see that this is rough, but it gets the idea across.  And we’re kept the core flow of extracting a specification (and now a plan), and letting the user edit those and then apply or implement the changes in the code.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61205bb1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61205bb1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This is the first publicly shown version of CW.  It was demoed at GitHub Universe in October 2023.  At this point we had brought on our first front end developer, Cole Bemis, and he totally revamped CW, and it looked amazing. Cole previously worked on GitHub’s design system, Primer, and you can see his fingerprints on this – it’s now consistent with GitHub’s design language, and looks like a real product.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061205bb1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061205bb1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After Universe, we brought on a second frontend developer, Terkel Gjervik, and he revised the left hand side with a timeline view.  This makes it clear how you are supposed to progress through the flow – start with the issue, proceed to spec, then generate a plan, then implement the code changes.  This version has lasted the longest, from around March 2024 until very recently.</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061205bb1a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061205bb1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latest UI revamp, which is an “experiment” that our users can opt into.  We heard feedback from our users they wanted help from Copilot Workspace </a:t>
            </a:r>
            <a:r>
              <a:rPr lang="en" i="1"/>
              <a:t>before</a:t>
            </a:r>
            <a:r>
              <a:rPr lang="en"/>
              <a:t> starting to implement.  Often you might have an issue where you don’t actually know how to solve it, and users want to brainstorm possible approaches with the AI in the context of that issue and that repo.  And so this version focuses on the brainstorming side of using CW.  </a:t>
            </a:r>
            <a:endParaRPr/>
          </a:p>
          <a:p>
            <a:pPr marL="0" lvl="0" indent="0" algn="l" rtl="0">
              <a:spcBef>
                <a:spcPts val="0"/>
              </a:spcBef>
              <a:spcAft>
                <a:spcPts val="0"/>
              </a:spcAft>
              <a:buNone/>
            </a:pPr>
            <a:endParaRPr/>
          </a:p>
          <a:p>
            <a:pPr marL="0" lvl="0" indent="0" algn="l" rtl="0">
              <a:spcBef>
                <a:spcPts val="0"/>
              </a:spcBef>
              <a:spcAft>
                <a:spcPts val="0"/>
              </a:spcAft>
              <a:buNone/>
            </a:pPr>
            <a:r>
              <a:rPr lang="en"/>
              <a:t>You’ll note that it removes the spec and plan.  This is a big change, and we want to see how users receive it before making it the default.  But early feedback is very positive.</a:t>
            </a:r>
            <a:endParaRPr/>
          </a:p>
          <a:p>
            <a:pPr marL="0" lvl="0" indent="0" algn="l" rtl="0">
              <a:spcBef>
                <a:spcPts val="0"/>
              </a:spcBef>
              <a:spcAft>
                <a:spcPts val="0"/>
              </a:spcAft>
              <a:buNone/>
            </a:pPr>
            <a:endParaRPr/>
          </a:p>
          <a:p>
            <a:pPr marL="0" lvl="0" indent="0" algn="l" rtl="0">
              <a:spcBef>
                <a:spcPts val="0"/>
              </a:spcBef>
              <a:spcAft>
                <a:spcPts val="0"/>
              </a:spcAft>
              <a:buNone/>
            </a:pPr>
            <a:r>
              <a:rPr lang="en"/>
              <a:t>We’ve spent a lot of time and effort on the UX of Copilot Workspace, and we believe that having a well-designed and polished UX is critical to making it something our users love to use.</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a:bodyPr>
          <a:lstStyle>
            <a:lvl1pPr lvl="0">
              <a:spcBef>
                <a:spcPts val="0"/>
              </a:spcBef>
              <a:spcAft>
                <a:spcPts val="0"/>
              </a:spcAft>
              <a:buSzPts val="3600"/>
              <a:buFont typeface="Inter"/>
              <a:buNone/>
              <a:defRPr sz="3600" b="1">
                <a:latin typeface="Inter"/>
                <a:ea typeface="Inter"/>
                <a:cs typeface="Inter"/>
                <a:sym typeface="Inter"/>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142400" y="3101275"/>
            <a:ext cx="6492600" cy="792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pic>
        <p:nvPicPr>
          <p:cNvPr id="12" name="Google Shape;12;p2"/>
          <p:cNvPicPr preferRelativeResize="0"/>
          <p:nvPr/>
        </p:nvPicPr>
        <p:blipFill>
          <a:blip r:embed="rId2">
            <a:alphaModFix/>
          </a:blip>
          <a:stretch>
            <a:fillRect/>
          </a:stretch>
        </p:blipFill>
        <p:spPr>
          <a:xfrm>
            <a:off x="669377" y="728025"/>
            <a:ext cx="1932700" cy="193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p:cSld name="TITLE_2">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756750" y="2256050"/>
            <a:ext cx="6594300" cy="656400"/>
          </a:xfrm>
          <a:prstGeom prst="rect">
            <a:avLst/>
          </a:prstGeom>
        </p:spPr>
        <p:txBody>
          <a:bodyPr spcFirstLastPara="1" wrap="square" lIns="0" tIns="0" rIns="0" bIns="0" anchor="t" anchorCtr="0">
            <a:normAutofit/>
          </a:bodyPr>
          <a:lstStyle>
            <a:lvl1pPr lvl="0" rtl="0">
              <a:spcBef>
                <a:spcPts val="0"/>
              </a:spcBef>
              <a:spcAft>
                <a:spcPts val="0"/>
              </a:spcAft>
              <a:buSzPts val="3600"/>
              <a:buFont typeface="Inter"/>
              <a:buNone/>
              <a:defRPr sz="3600" b="1">
                <a:latin typeface="Inter"/>
                <a:ea typeface="Inter"/>
                <a:cs typeface="Inter"/>
                <a:sym typeface="Inter"/>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5" name="Google Shape;15;p3"/>
          <p:cNvSpPr txBox="1">
            <a:spLocks noGrp="1"/>
          </p:cNvSpPr>
          <p:nvPr>
            <p:ph type="subTitle" idx="1"/>
          </p:nvPr>
        </p:nvSpPr>
        <p:spPr>
          <a:xfrm>
            <a:off x="756750" y="2912450"/>
            <a:ext cx="64926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B0CCC7"/>
              </a:buClr>
              <a:buSzPts val="1800"/>
              <a:buFont typeface="Arial" panose="020B0604020202020204" pitchFamily="34" charset="0"/>
              <a:buChar char="•"/>
              <a:defRPr>
                <a:solidFill>
                  <a:srgbClr val="B0CCC7"/>
                </a:solidFill>
              </a:defRPr>
            </a:lvl1pPr>
            <a:lvl2pPr marL="914400" lvl="1" indent="-317500">
              <a:spcBef>
                <a:spcPts val="0"/>
              </a:spcBef>
              <a:spcAft>
                <a:spcPts val="0"/>
              </a:spcAft>
              <a:buClr>
                <a:srgbClr val="B0CCC7"/>
              </a:buClr>
              <a:buSzPts val="1400"/>
              <a:buChar char="○"/>
              <a:defRPr>
                <a:solidFill>
                  <a:srgbClr val="B0CCC7"/>
                </a:solidFill>
              </a:defRPr>
            </a:lvl2pPr>
            <a:lvl3pPr marL="1371600" lvl="2" indent="-317500">
              <a:spcBef>
                <a:spcPts val="0"/>
              </a:spcBef>
              <a:spcAft>
                <a:spcPts val="0"/>
              </a:spcAft>
              <a:buClr>
                <a:srgbClr val="B0CCC7"/>
              </a:buClr>
              <a:buSzPts val="1400"/>
              <a:buChar char="■"/>
              <a:defRPr>
                <a:solidFill>
                  <a:srgbClr val="B0CCC7"/>
                </a:solidFill>
              </a:defRPr>
            </a:lvl3pPr>
            <a:lvl4pPr marL="1828800" lvl="3" indent="-317500">
              <a:spcBef>
                <a:spcPts val="0"/>
              </a:spcBef>
              <a:spcAft>
                <a:spcPts val="0"/>
              </a:spcAft>
              <a:buClr>
                <a:srgbClr val="B0CCC7"/>
              </a:buClr>
              <a:buSzPts val="1400"/>
              <a:buChar char="●"/>
              <a:defRPr>
                <a:solidFill>
                  <a:srgbClr val="B0CCC7"/>
                </a:solidFill>
              </a:defRPr>
            </a:lvl4pPr>
            <a:lvl5pPr marL="2286000" lvl="4" indent="-317500">
              <a:spcBef>
                <a:spcPts val="0"/>
              </a:spcBef>
              <a:spcAft>
                <a:spcPts val="0"/>
              </a:spcAft>
              <a:buClr>
                <a:srgbClr val="B0CCC7"/>
              </a:buClr>
              <a:buSzPts val="1400"/>
              <a:buChar char="○"/>
              <a:defRPr>
                <a:solidFill>
                  <a:srgbClr val="B0CCC7"/>
                </a:solidFill>
              </a:defRPr>
            </a:lvl5pPr>
            <a:lvl6pPr marL="2743200" lvl="5" indent="-317500">
              <a:spcBef>
                <a:spcPts val="0"/>
              </a:spcBef>
              <a:spcAft>
                <a:spcPts val="0"/>
              </a:spcAft>
              <a:buClr>
                <a:srgbClr val="B0CCC7"/>
              </a:buClr>
              <a:buSzPts val="1400"/>
              <a:buChar char="■"/>
              <a:defRPr>
                <a:solidFill>
                  <a:srgbClr val="B0CCC7"/>
                </a:solidFill>
              </a:defRPr>
            </a:lvl6pPr>
            <a:lvl7pPr marL="3200400" lvl="6" indent="-317500">
              <a:spcBef>
                <a:spcPts val="0"/>
              </a:spcBef>
              <a:spcAft>
                <a:spcPts val="0"/>
              </a:spcAft>
              <a:buClr>
                <a:srgbClr val="B0CCC7"/>
              </a:buClr>
              <a:buSzPts val="1400"/>
              <a:buChar char="●"/>
              <a:defRPr>
                <a:solidFill>
                  <a:srgbClr val="B0CCC7"/>
                </a:solidFill>
              </a:defRPr>
            </a:lvl7pPr>
            <a:lvl8pPr marL="3657600" lvl="7" indent="-317500">
              <a:spcBef>
                <a:spcPts val="0"/>
              </a:spcBef>
              <a:spcAft>
                <a:spcPts val="0"/>
              </a:spcAft>
              <a:buClr>
                <a:srgbClr val="B0CCC7"/>
              </a:buClr>
              <a:buSzPts val="1400"/>
              <a:buChar char="○"/>
              <a:defRPr>
                <a:solidFill>
                  <a:srgbClr val="B0CCC7"/>
                </a:solidFill>
              </a:defRPr>
            </a:lvl8pPr>
            <a:lvl9pPr marL="4114800" lvl="8" indent="-317500">
              <a:spcBef>
                <a:spcPts val="0"/>
              </a:spcBef>
              <a:spcAft>
                <a:spcPts val="0"/>
              </a:spcAft>
              <a:buClr>
                <a:srgbClr val="B0CCC7"/>
              </a:buClr>
              <a:buSzPts val="1400"/>
              <a:buChar char="■"/>
              <a:defRPr>
                <a:solidFill>
                  <a:srgbClr val="B0CCC7"/>
                </a:solidFill>
              </a:defRPr>
            </a:lvl9pPr>
          </a:lstStyle>
          <a:p>
            <a:endParaRPr dirty="0"/>
          </a:p>
        </p:txBody>
      </p:sp>
      <p:sp>
        <p:nvSpPr>
          <p:cNvPr id="19" name="Google Shape;19;p4"/>
          <p:cNvSpPr txBox="1">
            <a:spLocks noGrp="1"/>
          </p:cNvSpPr>
          <p:nvPr>
            <p:ph type="sldNum" idx="12"/>
          </p:nvPr>
        </p:nvSpPr>
        <p:spPr>
          <a:xfrm>
            <a:off x="8080783" y="4484042"/>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90250" y="450150"/>
            <a:ext cx="67389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b="1"/>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7"/>
          <p:cNvSpPr/>
          <p:nvPr/>
        </p:nvSpPr>
        <p:spPr>
          <a:xfrm>
            <a:off x="4572000" y="25"/>
            <a:ext cx="4572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3600"/>
              <a:buNone/>
              <a:defRPr sz="3600" b="1"/>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0" name="Google Shape;30;p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rgbClr val="B0CCC7"/>
              </a:buClr>
              <a:buSzPts val="2100"/>
              <a:buNone/>
              <a:defRPr sz="2100">
                <a:solidFill>
                  <a:srgbClr val="B0CCC7"/>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1" name="Google Shape;31;p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rgbClr val="1B1F24"/>
              </a:buClr>
              <a:buSzPts val="1800"/>
              <a:buChar char="●"/>
              <a:defRPr>
                <a:solidFill>
                  <a:srgbClr val="1B1F24"/>
                </a:solidFill>
              </a:defRPr>
            </a:lvl1pPr>
            <a:lvl2pPr marL="914400" lvl="1" indent="-317500" rtl="0">
              <a:spcBef>
                <a:spcPts val="0"/>
              </a:spcBef>
              <a:spcAft>
                <a:spcPts val="0"/>
              </a:spcAft>
              <a:buClr>
                <a:srgbClr val="1B1F24"/>
              </a:buClr>
              <a:buSzPts val="1400"/>
              <a:buChar char="○"/>
              <a:defRPr>
                <a:solidFill>
                  <a:srgbClr val="1B1F24"/>
                </a:solidFill>
              </a:defRPr>
            </a:lvl2pPr>
            <a:lvl3pPr marL="1371600" lvl="2" indent="-317500" rtl="0">
              <a:spcBef>
                <a:spcPts val="0"/>
              </a:spcBef>
              <a:spcAft>
                <a:spcPts val="0"/>
              </a:spcAft>
              <a:buClr>
                <a:srgbClr val="1B1F24"/>
              </a:buClr>
              <a:buSzPts val="1400"/>
              <a:buChar char="■"/>
              <a:defRPr>
                <a:solidFill>
                  <a:srgbClr val="1B1F24"/>
                </a:solidFill>
              </a:defRPr>
            </a:lvl3pPr>
            <a:lvl4pPr marL="1828800" lvl="3" indent="-317500" rtl="0">
              <a:spcBef>
                <a:spcPts val="0"/>
              </a:spcBef>
              <a:spcAft>
                <a:spcPts val="0"/>
              </a:spcAft>
              <a:buClr>
                <a:srgbClr val="1B1F24"/>
              </a:buClr>
              <a:buSzPts val="1400"/>
              <a:buChar char="●"/>
              <a:defRPr>
                <a:solidFill>
                  <a:srgbClr val="1B1F24"/>
                </a:solidFill>
              </a:defRPr>
            </a:lvl4pPr>
            <a:lvl5pPr marL="2286000" lvl="4" indent="-317500" rtl="0">
              <a:spcBef>
                <a:spcPts val="0"/>
              </a:spcBef>
              <a:spcAft>
                <a:spcPts val="0"/>
              </a:spcAft>
              <a:buClr>
                <a:srgbClr val="1B1F24"/>
              </a:buClr>
              <a:buSzPts val="1400"/>
              <a:buChar char="○"/>
              <a:defRPr>
                <a:solidFill>
                  <a:srgbClr val="1B1F24"/>
                </a:solidFill>
              </a:defRPr>
            </a:lvl5pPr>
            <a:lvl6pPr marL="2743200" lvl="5" indent="-317500" rtl="0">
              <a:spcBef>
                <a:spcPts val="0"/>
              </a:spcBef>
              <a:spcAft>
                <a:spcPts val="0"/>
              </a:spcAft>
              <a:buClr>
                <a:srgbClr val="1B1F24"/>
              </a:buClr>
              <a:buSzPts val="1400"/>
              <a:buChar char="■"/>
              <a:defRPr>
                <a:solidFill>
                  <a:srgbClr val="1B1F24"/>
                </a:solidFill>
              </a:defRPr>
            </a:lvl6pPr>
            <a:lvl7pPr marL="3200400" lvl="6" indent="-317500" rtl="0">
              <a:spcBef>
                <a:spcPts val="0"/>
              </a:spcBef>
              <a:spcAft>
                <a:spcPts val="0"/>
              </a:spcAft>
              <a:buClr>
                <a:srgbClr val="1B1F24"/>
              </a:buClr>
              <a:buSzPts val="1400"/>
              <a:buChar char="●"/>
              <a:defRPr>
                <a:solidFill>
                  <a:srgbClr val="1B1F24"/>
                </a:solidFill>
              </a:defRPr>
            </a:lvl7pPr>
            <a:lvl8pPr marL="3657600" lvl="7" indent="-317500" rtl="0">
              <a:spcBef>
                <a:spcPts val="0"/>
              </a:spcBef>
              <a:spcAft>
                <a:spcPts val="0"/>
              </a:spcAft>
              <a:buClr>
                <a:srgbClr val="1B1F24"/>
              </a:buClr>
              <a:buSzPts val="1400"/>
              <a:buChar char="○"/>
              <a:defRPr>
                <a:solidFill>
                  <a:srgbClr val="1B1F24"/>
                </a:solidFill>
              </a:defRPr>
            </a:lvl8pPr>
            <a:lvl9pPr marL="4114800" lvl="8" indent="-317500" rtl="0">
              <a:spcBef>
                <a:spcPts val="0"/>
              </a:spcBef>
              <a:spcAft>
                <a:spcPts val="0"/>
              </a:spcAft>
              <a:buClr>
                <a:srgbClr val="1B1F24"/>
              </a:buClr>
              <a:buSzPts val="1400"/>
              <a:buChar char="■"/>
              <a:defRPr>
                <a:solidFill>
                  <a:srgbClr val="1B1F24"/>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
        <p:cNvGrpSpPr/>
        <p:nvPr/>
      </p:nvGrpSpPr>
      <p:grpSpPr>
        <a:xfrm>
          <a:off x="0" y="0"/>
          <a:ext cx="0" cy="0"/>
          <a:chOff x="0" y="0"/>
          <a:chExt cx="0" cy="0"/>
        </a:xfrm>
      </p:grpSpPr>
      <p:sp>
        <p:nvSpPr>
          <p:cNvPr id="33" name="Google Shape;33;p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Inter Black"/>
              <a:buNone/>
              <a:defRPr sz="12000">
                <a:latin typeface="Inter Black"/>
                <a:ea typeface="Inter Black"/>
                <a:cs typeface="Inter Black"/>
                <a:sym typeface="Inter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8"/>
          <p:cNvSpPr txBox="1">
            <a:spLocks noGrp="1"/>
          </p:cNvSpPr>
          <p:nvPr>
            <p:ph type="subTitle" idx="1"/>
          </p:nvPr>
        </p:nvSpPr>
        <p:spPr>
          <a:xfrm>
            <a:off x="1325700" y="2922700"/>
            <a:ext cx="6492600" cy="792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106649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rgbClr val="1B1F2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marL="914400" lvl="1"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marL="1371600" lvl="2"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marL="1828800" lvl="3"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marL="2286000" lvl="4"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marL="2743200" lvl="5"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marL="3200400" lvl="6"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marL="3657600" lvl="7"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marL="4114800" lvl="8"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a:endParaRPr/>
          </a:p>
        </p:txBody>
      </p:sp>
      <p:pic>
        <p:nvPicPr>
          <p:cNvPr id="8" name="Google Shape;8;p1"/>
          <p:cNvPicPr preferRelativeResize="0"/>
          <p:nvPr/>
        </p:nvPicPr>
        <p:blipFill>
          <a:blip r:embed="rId11">
            <a:alphaModFix/>
          </a:blip>
          <a:stretch>
            <a:fillRect/>
          </a:stretch>
        </p:blipFill>
        <p:spPr>
          <a:xfrm>
            <a:off x="-35839" y="4427100"/>
            <a:ext cx="792600" cy="792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next.com/projects/continuous-ai/"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githubnext/agentics"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mailto:dsyme@github.com"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hyperlink" Target="https://bsky.app/profile/dsyme.bsky.social"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githubnext.com/"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0"/>
          <p:cNvSpPr txBox="1">
            <a:spLocks noGrp="1"/>
          </p:cNvSpPr>
          <p:nvPr>
            <p:ph type="ctrTitle"/>
          </p:nvPr>
        </p:nvSpPr>
        <p:spPr>
          <a:xfrm>
            <a:off x="1142400" y="2294700"/>
            <a:ext cx="7812900" cy="113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3400" dirty="0"/>
              <a:t>AI-assisted Software Development</a:t>
            </a:r>
            <a:br>
              <a:rPr lang="en" sz="3400" dirty="0"/>
            </a:br>
            <a:r>
              <a:rPr lang="en" sz="2377" b="0" dirty="0"/>
              <a:t>Trends and Themes</a:t>
            </a:r>
            <a:endParaRPr sz="2377" b="0" dirty="0"/>
          </a:p>
        </p:txBody>
      </p:sp>
      <p:sp>
        <p:nvSpPr>
          <p:cNvPr id="42" name="Google Shape;42;p10"/>
          <p:cNvSpPr txBox="1">
            <a:spLocks noGrp="1"/>
          </p:cNvSpPr>
          <p:nvPr>
            <p:ph type="subTitle" idx="1"/>
          </p:nvPr>
        </p:nvSpPr>
        <p:spPr>
          <a:xfrm>
            <a:off x="1142400" y="3518950"/>
            <a:ext cx="6492600" cy="1113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dirty="0"/>
              <a:t>Don Syme</a:t>
            </a:r>
            <a:endParaRPr dirty="0"/>
          </a:p>
          <a:p>
            <a:pPr marL="0" lvl="0" indent="0" algn="l" rtl="0">
              <a:spcBef>
                <a:spcPts val="0"/>
              </a:spcBef>
              <a:spcAft>
                <a:spcPts val="0"/>
              </a:spcAft>
              <a:buNone/>
            </a:pPr>
            <a:r>
              <a:rPr lang="en" dirty="0"/>
              <a:t>Principal Researcher, GitHub Next</a:t>
            </a:r>
            <a:endParaRPr dirty="0"/>
          </a:p>
          <a:p>
            <a:pPr marL="0" lvl="0" indent="0" algn="l" rtl="0">
              <a:spcBef>
                <a:spcPts val="0"/>
              </a:spcBef>
              <a:spcAft>
                <a:spcPts val="0"/>
              </a:spcAft>
              <a:buNone/>
            </a:pPr>
            <a:r>
              <a:rPr lang="en" dirty="0"/>
              <a:t>QUT, April 2026</a:t>
            </a: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fontScale="90000"/>
          </a:bodyPr>
          <a:lstStyle/>
          <a:p>
            <a:pPr marL="0" lvl="0" indent="0" algn="l" rtl="0">
              <a:spcBef>
                <a:spcPts val="0"/>
              </a:spcBef>
              <a:spcAft>
                <a:spcPts val="0"/>
              </a:spcAft>
              <a:buNone/>
            </a:pPr>
            <a:r>
              <a:rPr lang="en"/>
              <a:t>GitHub Next</a:t>
            </a:r>
            <a:endParaRPr/>
          </a:p>
          <a:p>
            <a:pPr marL="0" lvl="0" indent="0" algn="l" rtl="0">
              <a:lnSpc>
                <a:spcPct val="120000"/>
              </a:lnSpc>
              <a:spcBef>
                <a:spcPts val="2400"/>
              </a:spcBef>
              <a:spcAft>
                <a:spcPts val="0"/>
              </a:spcAft>
              <a:buNone/>
            </a:pPr>
            <a:r>
              <a:rPr lang="en" sz="2300" b="0" i="1">
                <a:latin typeface="Roboto"/>
                <a:ea typeface="Roboto"/>
                <a:cs typeface="Roboto"/>
                <a:sym typeface="Roboto"/>
              </a:rPr>
              <a:t>Research, Build, Balance, Ship, Learn</a:t>
            </a:r>
            <a:endParaRPr sz="2300" b="0" i="1">
              <a:latin typeface="Roboto"/>
              <a:ea typeface="Roboto"/>
              <a:cs typeface="Roboto"/>
              <a:sym typeface="Roboto"/>
            </a:endParaRPr>
          </a:p>
          <a:p>
            <a:pPr marL="0" lvl="0" indent="0" algn="l" rtl="0">
              <a:spcBef>
                <a:spcPts val="0"/>
              </a:spcBef>
              <a:spcAft>
                <a:spcPts val="0"/>
              </a:spcAft>
              <a:buNone/>
            </a:pPr>
            <a:endParaRPr/>
          </a:p>
        </p:txBody>
      </p:sp>
      <p:pic>
        <p:nvPicPr>
          <p:cNvPr id="48" name="Google Shape;48;p11"/>
          <p:cNvPicPr preferRelativeResize="0"/>
          <p:nvPr/>
        </p:nvPicPr>
        <p:blipFill>
          <a:blip r:embed="rId3">
            <a:alphaModFix/>
          </a:blip>
          <a:stretch>
            <a:fillRect/>
          </a:stretch>
        </p:blipFill>
        <p:spPr>
          <a:xfrm>
            <a:off x="4267798" y="347975"/>
            <a:ext cx="4675575" cy="182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2820"/>
          </a:p>
        </p:txBody>
      </p:sp>
      <p:sp>
        <p:nvSpPr>
          <p:cNvPr id="55" name="Google Shape;55;p12"/>
          <p:cNvSpPr txBox="1">
            <a:spLocks noGrp="1"/>
          </p:cNvSpPr>
          <p:nvPr>
            <p:ph type="body" idx="1"/>
          </p:nvPr>
        </p:nvSpPr>
        <p:spPr>
          <a:xfrm>
            <a:off x="514525" y="973300"/>
            <a:ext cx="36213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rgbClr val="000000"/>
              </a:buClr>
              <a:buSzPts val="990"/>
              <a:buFont typeface="Arial"/>
              <a:buNone/>
            </a:pPr>
            <a:endParaRPr sz="2820" b="1">
              <a:solidFill>
                <a:schemeClr val="dk1"/>
              </a:solidFill>
            </a:endParaRPr>
          </a:p>
          <a:p>
            <a:pPr marL="0" lvl="0" indent="0" algn="l" rtl="0">
              <a:lnSpc>
                <a:spcPct val="100000"/>
              </a:lnSpc>
              <a:spcBef>
                <a:spcPts val="0"/>
              </a:spcBef>
              <a:spcAft>
                <a:spcPts val="0"/>
              </a:spcAft>
              <a:buClr>
                <a:srgbClr val="000000"/>
              </a:buClr>
              <a:buSzPts val="990"/>
              <a:buFont typeface="Arial"/>
              <a:buNone/>
            </a:pPr>
            <a:r>
              <a:rPr lang="en" sz="2820" b="1">
                <a:solidFill>
                  <a:schemeClr val="dk1"/>
                </a:solidFill>
              </a:rPr>
              <a:t>The GitHub Next Team</a:t>
            </a:r>
            <a:endParaRPr sz="2820" b="1">
              <a:solidFill>
                <a:schemeClr val="dk1"/>
              </a:solidFill>
            </a:endParaRPr>
          </a:p>
          <a:p>
            <a:pPr marL="0" lvl="0" indent="0" algn="l" rtl="0">
              <a:spcBef>
                <a:spcPts val="0"/>
              </a:spcBef>
              <a:spcAft>
                <a:spcPts val="1200"/>
              </a:spcAft>
              <a:buNone/>
            </a:pPr>
            <a:endParaRPr sz="2820" b="1">
              <a:solidFill>
                <a:schemeClr val="dk1"/>
              </a:solidFill>
            </a:endParaRPr>
          </a:p>
        </p:txBody>
      </p:sp>
      <p:pic>
        <p:nvPicPr>
          <p:cNvPr id="3" name="Picture 2">
            <a:extLst>
              <a:ext uri="{FF2B5EF4-FFF2-40B4-BE49-F238E27FC236}">
                <a16:creationId xmlns:a16="http://schemas.microsoft.com/office/drawing/2014/main" id="{59F8F2E1-A919-C058-3319-C733D3F1ABE0}"/>
              </a:ext>
            </a:extLst>
          </p:cNvPr>
          <p:cNvPicPr>
            <a:picLocks noChangeAspect="1"/>
          </p:cNvPicPr>
          <p:nvPr/>
        </p:nvPicPr>
        <p:blipFill>
          <a:blip r:embed="rId3"/>
          <a:stretch>
            <a:fillRect/>
          </a:stretch>
        </p:blipFill>
        <p:spPr>
          <a:xfrm>
            <a:off x="3822493" y="642890"/>
            <a:ext cx="4973687" cy="3746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Your Big Questions!</a:t>
            </a:r>
            <a:endParaRPr/>
          </a:p>
        </p:txBody>
      </p:sp>
      <p:sp>
        <p:nvSpPr>
          <p:cNvPr id="61" name="Google Shape;61;p1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200"/>
              <a:t>“What will coding with AI look like in the future?”</a:t>
            </a:r>
            <a:endParaRPr sz="2200"/>
          </a:p>
          <a:p>
            <a:pPr marL="457200" lvl="0" indent="0" algn="ctr" rtl="0">
              <a:spcBef>
                <a:spcPts val="1200"/>
              </a:spcBef>
              <a:spcAft>
                <a:spcPts val="0"/>
              </a:spcAft>
              <a:buNone/>
            </a:pPr>
            <a:endParaRPr sz="2200"/>
          </a:p>
          <a:p>
            <a:pPr marL="0" lvl="0" indent="0" algn="ctr" rtl="0">
              <a:spcBef>
                <a:spcPts val="1200"/>
              </a:spcBef>
              <a:spcAft>
                <a:spcPts val="0"/>
              </a:spcAft>
              <a:buNone/>
            </a:pPr>
            <a:r>
              <a:rPr lang="en" sz="2200"/>
              <a:t>“Does AI mean that code will be obsolete soon?”</a:t>
            </a:r>
            <a:endParaRPr sz="2200"/>
          </a:p>
          <a:p>
            <a:pPr marL="457200" lvl="0" indent="0" algn="ctr" rtl="0">
              <a:spcBef>
                <a:spcPts val="1200"/>
              </a:spcBef>
              <a:spcAft>
                <a:spcPts val="0"/>
              </a:spcAft>
              <a:buNone/>
            </a:pPr>
            <a:endParaRPr sz="2200"/>
          </a:p>
          <a:p>
            <a:pPr marL="0" lvl="0" indent="0" algn="ctr" rtl="0">
              <a:spcBef>
                <a:spcPts val="1200"/>
              </a:spcBef>
              <a:spcAft>
                <a:spcPts val="0"/>
              </a:spcAft>
              <a:buNone/>
            </a:pPr>
            <a:r>
              <a:rPr lang="en" sz="2200"/>
              <a:t>“How should I use AI tools in software development?”</a:t>
            </a:r>
            <a:endParaRPr sz="2200"/>
          </a:p>
          <a:p>
            <a:pPr marL="0" lvl="0" indent="0" algn="ctr" rtl="0">
              <a:spcBef>
                <a:spcPts val="1200"/>
              </a:spcBef>
              <a:spcAft>
                <a:spcPts val="1200"/>
              </a:spcAft>
              <a:buNone/>
            </a:pP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sp>
        <p:nvSpPr>
          <p:cNvPr id="67" name="Google Shape;67;p14"/>
          <p:cNvSpPr txBox="1">
            <a:spLocks noGrp="1"/>
          </p:cNvSpPr>
          <p:nvPr>
            <p:ph type="body" idx="1"/>
          </p:nvPr>
        </p:nvSpPr>
        <p:spPr>
          <a:xfrm>
            <a:off x="514525" y="973300"/>
            <a:ext cx="4392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dirty="0"/>
              <a:t>AI </a:t>
            </a:r>
            <a:r>
              <a:rPr lang="en" dirty="0"/>
              <a:t>and </a:t>
            </a:r>
            <a:r>
              <a:rPr lang="en" b="1" dirty="0"/>
              <a:t>traditional dev tools </a:t>
            </a:r>
            <a:r>
              <a:rPr lang="en" dirty="0"/>
              <a:t>make us all magicians when it comes to code</a:t>
            </a:r>
            <a:br>
              <a:rPr lang="en" dirty="0"/>
            </a:br>
            <a:endParaRPr lang="en" dirty="0"/>
          </a:p>
          <a:p>
            <a:pPr marL="457200" lvl="0" indent="-342900" algn="l" rtl="0">
              <a:spcBef>
                <a:spcPts val="0"/>
              </a:spcBef>
              <a:spcAft>
                <a:spcPts val="0"/>
              </a:spcAft>
              <a:buSzPts val="1800"/>
              <a:buChar char="●"/>
            </a:pPr>
            <a:r>
              <a:rPr lang="en" dirty="0"/>
              <a:t>Everything is changing, yet continuity is there too</a:t>
            </a:r>
            <a:endParaRPr dirty="0"/>
          </a:p>
        </p:txBody>
      </p:sp>
      <p:pic>
        <p:nvPicPr>
          <p:cNvPr id="68" name="Google Shape;68;p14"/>
          <p:cNvPicPr preferRelativeResize="0"/>
          <p:nvPr/>
        </p:nvPicPr>
        <p:blipFill>
          <a:blip r:embed="rId3">
            <a:alphaModFix/>
          </a:blip>
          <a:stretch>
            <a:fillRect/>
          </a:stretch>
        </p:blipFill>
        <p:spPr>
          <a:xfrm>
            <a:off x="5366925" y="1017725"/>
            <a:ext cx="3465275" cy="3762625"/>
          </a:xfrm>
          <a:prstGeom prst="rect">
            <a:avLst/>
          </a:prstGeom>
          <a:noFill/>
          <a:ln>
            <a:noFill/>
          </a:ln>
        </p:spPr>
      </p:pic>
      <p:sp>
        <p:nvSpPr>
          <p:cNvPr id="3" name="TextBox 2">
            <a:extLst>
              <a:ext uri="{FF2B5EF4-FFF2-40B4-BE49-F238E27FC236}">
                <a16:creationId xmlns:a16="http://schemas.microsoft.com/office/drawing/2014/main" id="{1B40BBAA-2C38-45A1-752A-8F2E58843C22}"/>
              </a:ext>
            </a:extLst>
          </p:cNvPr>
          <p:cNvSpPr txBox="1"/>
          <p:nvPr/>
        </p:nvSpPr>
        <p:spPr>
          <a:xfrm>
            <a:off x="2258122" y="2455497"/>
            <a:ext cx="4590584" cy="307777"/>
          </a:xfrm>
          <a:prstGeom prst="rect">
            <a:avLst/>
          </a:prstGeom>
          <a:noFill/>
        </p:spPr>
        <p:txBody>
          <a:bodyPr wrap="square">
            <a:spAutoFit/>
          </a:bodyPr>
          <a:lstStyle/>
          <a:p>
            <a:r>
              <a:rPr lang="en-GB" b="0" dirty="0">
                <a:effectLst/>
              </a:rPr>
              <a:t> </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DA83AA85-5BDE-4341-2265-D3F5501128DD}"/>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BCA07C87-228C-19B5-BD4A-1C121CAD3F9F}"/>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sp>
        <p:nvSpPr>
          <p:cNvPr id="67" name="Google Shape;67;p14">
            <a:extLst>
              <a:ext uri="{FF2B5EF4-FFF2-40B4-BE49-F238E27FC236}">
                <a16:creationId xmlns:a16="http://schemas.microsoft.com/office/drawing/2014/main" id="{D63575D5-EC18-779C-73AF-F2BCCA57FF02}"/>
              </a:ext>
            </a:extLst>
          </p:cNvPr>
          <p:cNvSpPr txBox="1">
            <a:spLocks noGrp="1"/>
          </p:cNvSpPr>
          <p:nvPr>
            <p:ph type="body" idx="1"/>
          </p:nvPr>
        </p:nvSpPr>
        <p:spPr>
          <a:xfrm>
            <a:off x="514525" y="973300"/>
            <a:ext cx="4392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dirty="0"/>
              <a:t>AI </a:t>
            </a:r>
            <a:r>
              <a:rPr lang="en" dirty="0"/>
              <a:t>and </a:t>
            </a:r>
            <a:r>
              <a:rPr lang="en" b="1" dirty="0"/>
              <a:t>traditional dev tools </a:t>
            </a:r>
            <a:r>
              <a:rPr lang="en" dirty="0"/>
              <a:t>make us all magicians when it comes to code</a:t>
            </a:r>
            <a:br>
              <a:rPr lang="en" dirty="0"/>
            </a:br>
            <a:endParaRPr lang="en" dirty="0"/>
          </a:p>
          <a:p>
            <a:pPr marL="457200" lvl="0" indent="-342900" algn="l" rtl="0">
              <a:spcBef>
                <a:spcPts val="0"/>
              </a:spcBef>
              <a:spcAft>
                <a:spcPts val="0"/>
              </a:spcAft>
              <a:buSzPts val="1800"/>
              <a:buChar char="●"/>
            </a:pPr>
            <a:r>
              <a:rPr lang="en" dirty="0"/>
              <a:t>Everything is changing, yet continuity is there too</a:t>
            </a:r>
            <a:endParaRPr dirty="0"/>
          </a:p>
        </p:txBody>
      </p:sp>
      <p:sp>
        <p:nvSpPr>
          <p:cNvPr id="3" name="TextBox 2">
            <a:extLst>
              <a:ext uri="{FF2B5EF4-FFF2-40B4-BE49-F238E27FC236}">
                <a16:creationId xmlns:a16="http://schemas.microsoft.com/office/drawing/2014/main" id="{1F8C9F94-1EE3-2EC3-8C4B-34CF035F63D2}"/>
              </a:ext>
            </a:extLst>
          </p:cNvPr>
          <p:cNvSpPr txBox="1"/>
          <p:nvPr/>
        </p:nvSpPr>
        <p:spPr>
          <a:xfrm>
            <a:off x="2258122" y="2455497"/>
            <a:ext cx="4590584" cy="307777"/>
          </a:xfrm>
          <a:prstGeom prst="rect">
            <a:avLst/>
          </a:prstGeom>
          <a:noFill/>
        </p:spPr>
        <p:txBody>
          <a:bodyPr wrap="square">
            <a:spAutoFit/>
          </a:bodyPr>
          <a:lstStyle/>
          <a:p>
            <a:r>
              <a:rPr lang="en-GB" b="0" dirty="0">
                <a:effectLst/>
              </a:rPr>
              <a:t> </a:t>
            </a:r>
            <a:endParaRPr lang="en-GB" dirty="0"/>
          </a:p>
        </p:txBody>
      </p:sp>
      <p:pic>
        <p:nvPicPr>
          <p:cNvPr id="4" name="Google Shape;75;p16">
            <a:extLst>
              <a:ext uri="{FF2B5EF4-FFF2-40B4-BE49-F238E27FC236}">
                <a16:creationId xmlns:a16="http://schemas.microsoft.com/office/drawing/2014/main" id="{0E38BA66-0535-9052-4737-7714CC809586}"/>
              </a:ext>
            </a:extLst>
          </p:cNvPr>
          <p:cNvPicPr preferRelativeResize="0"/>
          <p:nvPr/>
        </p:nvPicPr>
        <p:blipFill>
          <a:blip r:embed="rId3">
            <a:alphaModFix/>
          </a:blip>
          <a:stretch>
            <a:fillRect/>
          </a:stretch>
        </p:blipFill>
        <p:spPr>
          <a:xfrm>
            <a:off x="5059825" y="990950"/>
            <a:ext cx="3931775" cy="2622494"/>
          </a:xfrm>
          <a:prstGeom prst="rect">
            <a:avLst/>
          </a:prstGeom>
          <a:noFill/>
          <a:ln>
            <a:noFill/>
          </a:ln>
        </p:spPr>
      </p:pic>
    </p:spTree>
    <p:extLst>
      <p:ext uri="{BB962C8B-B14F-4D97-AF65-F5344CB8AC3E}">
        <p14:creationId xmlns:p14="http://schemas.microsoft.com/office/powerpoint/2010/main" val="921963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Dev Tools are changing fast</a:t>
            </a:r>
            <a:endParaRPr/>
          </a:p>
        </p:txBody>
      </p:sp>
      <p:sp>
        <p:nvSpPr>
          <p:cNvPr id="74" name="Google Shape;74;p15"/>
          <p:cNvSpPr txBox="1">
            <a:spLocks noGrp="1"/>
          </p:cNvSpPr>
          <p:nvPr>
            <p:ph type="body" idx="1"/>
          </p:nvPr>
        </p:nvSpPr>
        <p:spPr>
          <a:xfrm>
            <a:off x="514525" y="838551"/>
            <a:ext cx="8272636" cy="4491732"/>
          </a:xfrm>
          <a:prstGeom prst="rect">
            <a:avLst/>
          </a:prstGeom>
        </p:spPr>
        <p:txBody>
          <a:bodyPr spcFirstLastPara="1" wrap="square" lIns="91425" tIns="91425" rIns="91425" bIns="91425" anchor="t" anchorCtr="0">
            <a:normAutofit/>
          </a:bodyPr>
          <a:lstStyle/>
          <a:p>
            <a:pPr marL="457200" lvl="0" indent="-308610" algn="l" rtl="0">
              <a:spcBef>
                <a:spcPts val="0"/>
              </a:spcBef>
              <a:spcAft>
                <a:spcPts val="0"/>
              </a:spcAft>
              <a:buSzPct val="100000"/>
              <a:buChar char="●"/>
            </a:pPr>
            <a:r>
              <a:rPr lang="en" sz="1600" dirty="0"/>
              <a:t>2022: </a:t>
            </a:r>
            <a:r>
              <a:rPr lang="en" sz="1600" b="1" dirty="0"/>
              <a:t>GitHub Copilot Code Completions </a:t>
            </a:r>
            <a:r>
              <a:rPr lang="en" sz="1600" dirty="0"/>
              <a:t>launched. </a:t>
            </a:r>
            <a:endParaRPr sz="1600" dirty="0"/>
          </a:p>
          <a:p>
            <a:pPr marL="914400" lvl="1" indent="-290830" algn="l" rtl="0">
              <a:spcBef>
                <a:spcPts val="0"/>
              </a:spcBef>
              <a:spcAft>
                <a:spcPts val="0"/>
              </a:spcAft>
              <a:buSzPct val="100000"/>
              <a:buChar char="○"/>
            </a:pPr>
            <a:r>
              <a:rPr lang="en" sz="1100" dirty="0"/>
              <a:t>1.8M+ paying users, 50%+ of users’ code is written by Copilot</a:t>
            </a:r>
            <a:br>
              <a:rPr lang="en" sz="1100" dirty="0"/>
            </a:br>
            <a:endParaRPr sz="1100" dirty="0"/>
          </a:p>
          <a:p>
            <a:pPr marL="457200" lvl="0" indent="-308610" algn="l" rtl="0">
              <a:spcBef>
                <a:spcPts val="0"/>
              </a:spcBef>
              <a:spcAft>
                <a:spcPts val="0"/>
              </a:spcAft>
              <a:buSzPct val="100000"/>
              <a:buChar char="●"/>
            </a:pPr>
            <a:r>
              <a:rPr lang="en" sz="1600" dirty="0"/>
              <a:t>2023: </a:t>
            </a:r>
            <a:r>
              <a:rPr lang="en" sz="1600" b="1" dirty="0"/>
              <a:t>AI Assists expand in traditional Developer Environments</a:t>
            </a:r>
            <a:endParaRPr sz="1600" b="1" dirty="0"/>
          </a:p>
          <a:p>
            <a:pPr marL="914400" lvl="1" indent="-290830" algn="l" rtl="0">
              <a:spcBef>
                <a:spcPts val="0"/>
              </a:spcBef>
              <a:spcAft>
                <a:spcPts val="0"/>
              </a:spcAft>
              <a:buSzPct val="100000"/>
              <a:buChar char="○"/>
            </a:pPr>
            <a:r>
              <a:rPr lang="en" sz="1100" dirty="0"/>
              <a:t>Summarization, advice, code review, e.g. Cody and others</a:t>
            </a:r>
            <a:br>
              <a:rPr lang="en" sz="1100" dirty="0"/>
            </a:br>
            <a:endParaRPr sz="1100" dirty="0"/>
          </a:p>
          <a:p>
            <a:pPr marL="457200" lvl="0" indent="-308610" algn="l" rtl="0">
              <a:spcBef>
                <a:spcPts val="0"/>
              </a:spcBef>
              <a:spcAft>
                <a:spcPts val="0"/>
              </a:spcAft>
              <a:buSzPct val="100000"/>
              <a:buChar char="●"/>
            </a:pPr>
            <a:r>
              <a:rPr lang="en" sz="1600" dirty="0"/>
              <a:t>2024: </a:t>
            </a:r>
            <a:r>
              <a:rPr lang="en" sz="1600" b="1" dirty="0"/>
              <a:t>Shift to Task-orientation</a:t>
            </a:r>
            <a:endParaRPr sz="1600" b="1" dirty="0"/>
          </a:p>
          <a:p>
            <a:pPr lvl="1" indent="-290830">
              <a:buSzPct val="100000"/>
            </a:pPr>
            <a:r>
              <a:rPr lang="en" sz="1100" b="1" dirty="0"/>
              <a:t>GitHub Copilot Workspace,</a:t>
            </a:r>
            <a:r>
              <a:rPr lang="en" sz="1100" dirty="0"/>
              <a:t> </a:t>
            </a:r>
            <a:r>
              <a:rPr lang="en" sz="1100" b="1" dirty="0"/>
              <a:t>Cursor Composer, Devin</a:t>
            </a:r>
            <a:r>
              <a:rPr lang="en" sz="1100" dirty="0"/>
              <a:t> bring task-orientation to the IDE </a:t>
            </a:r>
            <a:br>
              <a:rPr lang="en" sz="1100" dirty="0"/>
            </a:br>
            <a:endParaRPr sz="1100" dirty="0"/>
          </a:p>
          <a:p>
            <a:pPr marL="457200" lvl="0" indent="-308610" algn="l" rtl="0">
              <a:spcBef>
                <a:spcPts val="0"/>
              </a:spcBef>
              <a:spcAft>
                <a:spcPts val="0"/>
              </a:spcAft>
              <a:buSzPct val="100000"/>
              <a:buChar char="●"/>
            </a:pPr>
            <a:r>
              <a:rPr lang="en" sz="1600" dirty="0"/>
              <a:t>2025: </a:t>
            </a:r>
            <a:r>
              <a:rPr lang="en" sz="1600" b="1" dirty="0"/>
              <a:t>Coding Agents developed to explore and use tools</a:t>
            </a:r>
            <a:endParaRPr lang="en-GB" sz="1100" dirty="0"/>
          </a:p>
          <a:p>
            <a:pPr lvl="1" indent="-290830">
              <a:buSzPct val="100000"/>
            </a:pPr>
            <a:r>
              <a:rPr lang="en" sz="1100" dirty="0"/>
              <a:t>Cursor/VS Code </a:t>
            </a:r>
            <a:r>
              <a:rPr lang="en" sz="1100" b="1" dirty="0"/>
              <a:t>Agent-Mode</a:t>
            </a:r>
            <a:r>
              <a:rPr lang="en" sz="1100" dirty="0"/>
              <a:t>, </a:t>
            </a:r>
            <a:r>
              <a:rPr lang="en" sz="1100" b="1" dirty="0"/>
              <a:t>Claude Code</a:t>
            </a:r>
            <a:r>
              <a:rPr lang="en" sz="1100" dirty="0"/>
              <a:t> and others launched </a:t>
            </a:r>
            <a:br>
              <a:rPr lang="en-GB" sz="1100" dirty="0"/>
            </a:br>
            <a:endParaRPr lang="en-GB" sz="1100" dirty="0"/>
          </a:p>
          <a:p>
            <a:pPr marL="457200" lvl="0" indent="-308610" algn="l" rtl="0">
              <a:spcBef>
                <a:spcPts val="0"/>
              </a:spcBef>
              <a:spcAft>
                <a:spcPts val="0"/>
              </a:spcAft>
              <a:buSzPct val="100000"/>
              <a:buChar char="●"/>
            </a:pPr>
            <a:r>
              <a:rPr lang="en" sz="1600" dirty="0"/>
              <a:t>2025: </a:t>
            </a:r>
            <a:r>
              <a:rPr lang="en" sz="1600" b="1" dirty="0"/>
              <a:t>AI-assisted app development</a:t>
            </a:r>
            <a:r>
              <a:rPr lang="en" sz="1600" dirty="0"/>
              <a:t> introduced</a:t>
            </a:r>
            <a:endParaRPr sz="1600" dirty="0"/>
          </a:p>
          <a:p>
            <a:pPr marL="914400" lvl="1" indent="-290830" algn="l" rtl="0">
              <a:spcBef>
                <a:spcPts val="0"/>
              </a:spcBef>
              <a:spcAft>
                <a:spcPts val="0"/>
              </a:spcAft>
              <a:buSzPct val="100000"/>
              <a:buChar char="○"/>
            </a:pPr>
            <a:r>
              <a:rPr lang="en" sz="1100" dirty="0"/>
              <a:t>GitHub Spark, Bolt, Gemini, Lovable, Cogna, …</a:t>
            </a:r>
            <a:br>
              <a:rPr lang="en" sz="1100" dirty="0"/>
            </a:br>
            <a:endParaRPr sz="1100" dirty="0"/>
          </a:p>
          <a:p>
            <a:pPr marL="457200" lvl="0" indent="-308610" algn="l" rtl="0">
              <a:spcBef>
                <a:spcPts val="0"/>
              </a:spcBef>
              <a:spcAft>
                <a:spcPts val="0"/>
              </a:spcAft>
              <a:buSzPct val="100000"/>
              <a:buChar char="●"/>
            </a:pPr>
            <a:r>
              <a:rPr lang="en" sz="1600" dirty="0"/>
              <a:t>2025: </a:t>
            </a:r>
            <a:r>
              <a:rPr lang="en" sz="1600" b="1" dirty="0"/>
              <a:t>Continuous AI </a:t>
            </a:r>
            <a:r>
              <a:rPr lang="en" sz="1600" dirty="0"/>
              <a:t>introduced </a:t>
            </a:r>
            <a:endParaRPr sz="1600" dirty="0"/>
          </a:p>
          <a:p>
            <a:pPr lvl="1" indent="-290830">
              <a:buSzPct val="100000"/>
            </a:pPr>
            <a:r>
              <a:rPr lang="en-GB" sz="1100" dirty="0"/>
              <a:t>GitHub Agentic Workflows, Google Jules, Curor Automations</a:t>
            </a:r>
          </a:p>
          <a:p>
            <a:pPr marL="914400" lvl="1" indent="-290830" algn="l" rtl="0">
              <a:spcBef>
                <a:spcPts val="0"/>
              </a:spcBef>
              <a:spcAft>
                <a:spcPts val="0"/>
              </a:spcAft>
              <a:buSzPct val="100000"/>
              <a:buChar char="○"/>
            </a:pPr>
            <a:r>
              <a:rPr lang="en-GB" sz="1100" dirty="0"/>
              <a:t>Proactive, automated use of AI</a:t>
            </a:r>
            <a:endParaRPr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0" name="Google Shape;80;p1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1900" b="1" dirty="0"/>
          </a:p>
        </p:txBody>
      </p:sp>
      <p:sp>
        <p:nvSpPr>
          <p:cNvPr id="81" name="Google Shape;81;p16"/>
          <p:cNvSpPr/>
          <p:nvPr/>
        </p:nvSpPr>
        <p:spPr>
          <a:xfrm>
            <a:off x="2173600" y="38138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latin typeface="Inter"/>
                <a:ea typeface="Inter"/>
                <a:cs typeface="Inter"/>
                <a:sym typeface="Inter"/>
              </a:rPr>
              <a:t>MODELS</a:t>
            </a:r>
            <a:endParaRPr sz="1500" b="1">
              <a:latin typeface="Inter"/>
              <a:ea typeface="Inter"/>
              <a:cs typeface="Inter"/>
              <a:sym typeface="Inter"/>
            </a:endParaRPr>
          </a:p>
        </p:txBody>
      </p:sp>
      <p:sp>
        <p:nvSpPr>
          <p:cNvPr id="82" name="Google Shape;82;p16"/>
          <p:cNvSpPr/>
          <p:nvPr/>
        </p:nvSpPr>
        <p:spPr>
          <a:xfrm>
            <a:off x="2173600" y="30496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FINE TUNING &amp; INFERENCE &amp; GPUS &amp; HOSTING &amp; ….</a:t>
            </a:r>
            <a:endParaRPr sz="1500" b="1" dirty="0">
              <a:latin typeface="Inter"/>
              <a:ea typeface="Inter"/>
              <a:cs typeface="Inter"/>
              <a:sym typeface="Inter"/>
            </a:endParaRPr>
          </a:p>
        </p:txBody>
      </p:sp>
      <p:sp>
        <p:nvSpPr>
          <p:cNvPr id="83" name="Google Shape;83;p16"/>
          <p:cNvSpPr/>
          <p:nvPr/>
        </p:nvSpPr>
        <p:spPr>
          <a:xfrm>
            <a:off x="2173600" y="228540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ENRICHED SERVICES</a:t>
            </a:r>
            <a:r>
              <a:rPr lang="en" sz="1500" dirty="0">
                <a:latin typeface="Inter"/>
                <a:ea typeface="Inter"/>
                <a:cs typeface="Inter"/>
                <a:sym typeface="Inter"/>
              </a:rPr>
              <a:t> (e.g. indexing, summaries)</a:t>
            </a:r>
            <a:endParaRPr sz="1500" dirty="0">
              <a:latin typeface="Inter"/>
              <a:ea typeface="Inter"/>
              <a:cs typeface="Inter"/>
              <a:sym typeface="Inter"/>
            </a:endParaRPr>
          </a:p>
        </p:txBody>
      </p:sp>
      <p:sp>
        <p:nvSpPr>
          <p:cNvPr id="84" name="Google Shape;84;p16"/>
          <p:cNvSpPr/>
          <p:nvPr/>
        </p:nvSpPr>
        <p:spPr>
          <a:xfrm>
            <a:off x="2173600" y="153805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CODING AGENTS, PLANNING, TOOL USE</a:t>
            </a:r>
            <a:endParaRPr sz="1500" b="1" dirty="0">
              <a:latin typeface="Inter"/>
              <a:ea typeface="Inter"/>
              <a:cs typeface="Inter"/>
              <a:sym typeface="Inter"/>
            </a:endParaRPr>
          </a:p>
        </p:txBody>
      </p:sp>
      <p:sp>
        <p:nvSpPr>
          <p:cNvPr id="2" name="Google Shape;84;p16">
            <a:extLst>
              <a:ext uri="{FF2B5EF4-FFF2-40B4-BE49-F238E27FC236}">
                <a16:creationId xmlns:a16="http://schemas.microsoft.com/office/drawing/2014/main" id="{C5054669-758D-ADB1-6E8E-7310ECDD8356}"/>
              </a:ext>
            </a:extLst>
          </p:cNvPr>
          <p:cNvSpPr/>
          <p:nvPr/>
        </p:nvSpPr>
        <p:spPr>
          <a:xfrm>
            <a:off x="2173600" y="801251"/>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DEV TOOLS</a:t>
            </a:r>
            <a:endParaRPr sz="1500" b="1" dirty="0">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42C1A4F5-4D56-2089-52C9-CD970FA1673F}"/>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C4E98F08-B275-5F84-D9C9-37324580F510}"/>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BAB16AE7-2B10-EBDC-2821-3164C690B503}"/>
              </a:ext>
            </a:extLst>
          </p:cNvPr>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1900" b="1" dirty="0"/>
          </a:p>
        </p:txBody>
      </p:sp>
      <p:sp>
        <p:nvSpPr>
          <p:cNvPr id="81" name="Google Shape;81;p16">
            <a:extLst>
              <a:ext uri="{FF2B5EF4-FFF2-40B4-BE49-F238E27FC236}">
                <a16:creationId xmlns:a16="http://schemas.microsoft.com/office/drawing/2014/main" id="{12164140-4317-C2FF-AB40-8CAF825BC93F}"/>
              </a:ext>
            </a:extLst>
          </p:cNvPr>
          <p:cNvSpPr/>
          <p:nvPr/>
        </p:nvSpPr>
        <p:spPr>
          <a:xfrm>
            <a:off x="2173600" y="38138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b="1" dirty="0">
                <a:latin typeface="Inter"/>
                <a:ea typeface="Inter"/>
                <a:cs typeface="Inter"/>
                <a:sym typeface="Inter"/>
              </a:rPr>
              <a:t>Model(s): Claude Opus 4.6</a:t>
            </a:r>
            <a:endParaRPr sz="1500" b="1" dirty="0">
              <a:latin typeface="Inter"/>
              <a:ea typeface="Inter"/>
              <a:cs typeface="Inter"/>
              <a:sym typeface="Inter"/>
            </a:endParaRPr>
          </a:p>
        </p:txBody>
      </p:sp>
      <p:sp>
        <p:nvSpPr>
          <p:cNvPr id="82" name="Google Shape;82;p16">
            <a:extLst>
              <a:ext uri="{FF2B5EF4-FFF2-40B4-BE49-F238E27FC236}">
                <a16:creationId xmlns:a16="http://schemas.microsoft.com/office/drawing/2014/main" id="{4838CF09-D24E-C0F0-29D5-9AC087A5A50B}"/>
              </a:ext>
            </a:extLst>
          </p:cNvPr>
          <p:cNvSpPr/>
          <p:nvPr/>
        </p:nvSpPr>
        <p:spPr>
          <a:xfrm>
            <a:off x="2173600" y="30496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b="1" dirty="0">
                <a:latin typeface="Inter"/>
                <a:ea typeface="Inter"/>
                <a:cs typeface="Inter"/>
                <a:sym typeface="Inter"/>
              </a:rPr>
              <a:t>Hosted by: Amazon Web Services</a:t>
            </a:r>
            <a:endParaRPr sz="1500" b="1" dirty="0">
              <a:latin typeface="Inter"/>
              <a:ea typeface="Inter"/>
              <a:cs typeface="Inter"/>
              <a:sym typeface="Inter"/>
            </a:endParaRPr>
          </a:p>
        </p:txBody>
      </p:sp>
      <p:sp>
        <p:nvSpPr>
          <p:cNvPr id="83" name="Google Shape;83;p16">
            <a:extLst>
              <a:ext uri="{FF2B5EF4-FFF2-40B4-BE49-F238E27FC236}">
                <a16:creationId xmlns:a16="http://schemas.microsoft.com/office/drawing/2014/main" id="{C1EDD42C-BCCB-25E9-24C8-74A1C2D1B6A7}"/>
              </a:ext>
            </a:extLst>
          </p:cNvPr>
          <p:cNvSpPr/>
          <p:nvPr/>
        </p:nvSpPr>
        <p:spPr>
          <a:xfrm>
            <a:off x="2173600" y="228540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Code Indexed by: GitHub, Augment</a:t>
            </a:r>
            <a:endParaRPr sz="1500" dirty="0">
              <a:latin typeface="Inter"/>
              <a:ea typeface="Inter"/>
              <a:cs typeface="Inter"/>
              <a:sym typeface="Inter"/>
            </a:endParaRPr>
          </a:p>
        </p:txBody>
      </p:sp>
      <p:sp>
        <p:nvSpPr>
          <p:cNvPr id="84" name="Google Shape;84;p16">
            <a:extLst>
              <a:ext uri="{FF2B5EF4-FFF2-40B4-BE49-F238E27FC236}">
                <a16:creationId xmlns:a16="http://schemas.microsoft.com/office/drawing/2014/main" id="{BC59575A-01D9-8E4A-D731-5E1836964FAC}"/>
              </a:ext>
            </a:extLst>
          </p:cNvPr>
          <p:cNvSpPr/>
          <p:nvPr/>
        </p:nvSpPr>
        <p:spPr>
          <a:xfrm>
            <a:off x="2173600" y="153805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Coding Agent: Mistral Vibe</a:t>
            </a:r>
            <a:endParaRPr sz="1500" b="1" dirty="0">
              <a:latin typeface="Inter"/>
              <a:ea typeface="Inter"/>
              <a:cs typeface="Inter"/>
              <a:sym typeface="Inter"/>
            </a:endParaRPr>
          </a:p>
        </p:txBody>
      </p:sp>
      <p:sp>
        <p:nvSpPr>
          <p:cNvPr id="2" name="Google Shape;84;p16">
            <a:extLst>
              <a:ext uri="{FF2B5EF4-FFF2-40B4-BE49-F238E27FC236}">
                <a16:creationId xmlns:a16="http://schemas.microsoft.com/office/drawing/2014/main" id="{3AAEBE24-4E50-9B74-1F91-DF7533EDC364}"/>
              </a:ext>
            </a:extLst>
          </p:cNvPr>
          <p:cNvSpPr/>
          <p:nvPr/>
        </p:nvSpPr>
        <p:spPr>
          <a:xfrm>
            <a:off x="2173600" y="801251"/>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Dev Tool: Super AI Coding Factory</a:t>
            </a:r>
            <a:endParaRPr sz="1500" b="1" dirty="0">
              <a:latin typeface="Inter"/>
              <a:ea typeface="Inter"/>
              <a:cs typeface="Inter"/>
              <a:sym typeface="Inter"/>
            </a:endParaRPr>
          </a:p>
        </p:txBody>
      </p:sp>
    </p:spTree>
    <p:extLst>
      <p:ext uri="{BB962C8B-B14F-4D97-AF65-F5344CB8AC3E}">
        <p14:creationId xmlns:p14="http://schemas.microsoft.com/office/powerpoint/2010/main" val="4132336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92500" lnSpcReduction="20000"/>
          </a:bodyPr>
          <a:lstStyle/>
          <a:p>
            <a:pPr marL="457200" lvl="0" indent="-387350" algn="l" rtl="0">
              <a:spcBef>
                <a:spcPts val="0"/>
              </a:spcBef>
              <a:spcAft>
                <a:spcPts val="0"/>
              </a:spcAft>
              <a:buSzPts val="2500"/>
              <a:buChar char="●"/>
            </a:pPr>
            <a:r>
              <a:rPr lang="en" sz="2500" dirty="0"/>
              <a:t>AI-assisted Pinpoint Surgery</a:t>
            </a:r>
            <a:br>
              <a:rPr lang="en" sz="2500" dirty="0"/>
            </a:br>
            <a:endParaRPr sz="2500" dirty="0"/>
          </a:p>
          <a:p>
            <a:pPr marL="457200" lvl="0" indent="-387350" algn="l" rtl="0">
              <a:spcBef>
                <a:spcPts val="0"/>
              </a:spcBef>
              <a:spcAft>
                <a:spcPts val="0"/>
              </a:spcAft>
              <a:buSzPts val="2500"/>
              <a:buChar char="●"/>
            </a:pPr>
            <a:r>
              <a:rPr lang="en" sz="2500" dirty="0"/>
              <a:t>AI-assisted Task Oriented Surgery</a:t>
            </a:r>
            <a:br>
              <a:rPr lang="en" sz="2500" dirty="0"/>
            </a:br>
            <a:endParaRPr sz="2500" dirty="0"/>
          </a:p>
          <a:p>
            <a:pPr marL="457200" lvl="0" indent="-387350" algn="l" rtl="0">
              <a:spcBef>
                <a:spcPts val="0"/>
              </a:spcBef>
              <a:spcAft>
                <a:spcPts val="0"/>
              </a:spcAft>
              <a:buSzPts val="2500"/>
              <a:buChar char="●"/>
            </a:pPr>
            <a:r>
              <a:rPr lang="en" sz="2500" dirty="0"/>
              <a:t>AI-assisted App Development</a:t>
            </a:r>
            <a:br>
              <a:rPr lang="en" sz="2500" dirty="0"/>
            </a:br>
            <a:endParaRPr sz="2500" dirty="0"/>
          </a:p>
          <a:p>
            <a:pPr marL="457200" lvl="0" indent="-387350" algn="l" rtl="0">
              <a:spcBef>
                <a:spcPts val="0"/>
              </a:spcBef>
              <a:spcAft>
                <a:spcPts val="0"/>
              </a:spcAft>
              <a:buSzPts val="2500"/>
              <a:buChar char="●"/>
            </a:pPr>
            <a:r>
              <a:rPr lang="en" sz="2500" dirty="0"/>
              <a:t>Continuous AI</a:t>
            </a:r>
          </a:p>
          <a:p>
            <a:pPr marL="457200" lvl="0" indent="-387350" algn="l" rtl="0">
              <a:spcBef>
                <a:spcPts val="0"/>
              </a:spcBef>
              <a:spcAft>
                <a:spcPts val="0"/>
              </a:spcAft>
              <a:buSzPts val="2500"/>
              <a:buChar char="●"/>
            </a:pPr>
            <a:endParaRPr lang="en" sz="2500" dirty="0"/>
          </a:p>
          <a:p>
            <a:pPr marL="457200" lvl="0" indent="-387350" algn="l" rtl="0">
              <a:spcBef>
                <a:spcPts val="0"/>
              </a:spcBef>
              <a:spcAft>
                <a:spcPts val="0"/>
              </a:spcAft>
              <a:buSzPts val="2500"/>
              <a:buChar char="●"/>
            </a:pPr>
            <a:r>
              <a:rPr lang="en" sz="2500" dirty="0"/>
              <a:t>Major changes to teamwork and methodology</a:t>
            </a:r>
            <a:endParaRPr sz="2500" dirty="0"/>
          </a:p>
        </p:txBody>
      </p:sp>
      <p:sp>
        <p:nvSpPr>
          <p:cNvPr id="90" name="Google Shape;90;p17"/>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Big Trends I’m seeing in AI Dev Tooling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1: Pinpoint Surgery</a:t>
            </a:r>
            <a:endParaRPr/>
          </a:p>
        </p:txBody>
      </p:sp>
      <p:sp>
        <p:nvSpPr>
          <p:cNvPr id="96" name="Google Shape;96;p18"/>
          <p:cNvSpPr txBox="1">
            <a:spLocks noGrp="1"/>
          </p:cNvSpPr>
          <p:nvPr>
            <p:ph type="body" idx="1"/>
          </p:nvPr>
        </p:nvSpPr>
        <p:spPr>
          <a:xfrm>
            <a:off x="514525" y="973300"/>
            <a:ext cx="4688100" cy="3416400"/>
          </a:xfrm>
          <a:prstGeom prst="rect">
            <a:avLst/>
          </a:prstGeom>
        </p:spPr>
        <p:txBody>
          <a:bodyPr spcFirstLastPara="1" wrap="square" lIns="91425" tIns="91425" rIns="91425" bIns="91425" anchor="t" anchorCtr="0">
            <a:normAutofit lnSpcReduction="10000"/>
          </a:bodyPr>
          <a:lstStyle/>
          <a:p>
            <a:pPr marL="0" lvl="0" indent="0" algn="l" rtl="0">
              <a:lnSpc>
                <a:spcPct val="105000"/>
              </a:lnSpc>
              <a:spcBef>
                <a:spcPts val="0"/>
              </a:spcBef>
              <a:spcAft>
                <a:spcPts val="0"/>
              </a:spcAft>
              <a:buNone/>
            </a:pPr>
            <a:r>
              <a:rPr lang="en" sz="2200"/>
              <a:t>The OG GitHub Copilot completes code in your editor</a:t>
            </a:r>
            <a:endParaRPr sz="2200"/>
          </a:p>
          <a:p>
            <a:pPr marL="457200" lvl="0" indent="-342900" algn="l" rtl="0">
              <a:lnSpc>
                <a:spcPct val="105000"/>
              </a:lnSpc>
              <a:spcBef>
                <a:spcPts val="1200"/>
              </a:spcBef>
              <a:spcAft>
                <a:spcPts val="0"/>
              </a:spcAft>
              <a:buSzPts val="1800"/>
              <a:buChar char="●"/>
            </a:pPr>
            <a:r>
              <a:rPr lang="en"/>
              <a:t>You are already located at a pinpoint of change</a:t>
            </a:r>
            <a:endParaRPr/>
          </a:p>
          <a:p>
            <a:pPr marL="457200" lvl="0" indent="-342900" algn="l" rtl="0">
              <a:lnSpc>
                <a:spcPct val="105000"/>
              </a:lnSpc>
              <a:spcBef>
                <a:spcPts val="0"/>
              </a:spcBef>
              <a:spcAft>
                <a:spcPts val="0"/>
              </a:spcAft>
              <a:buSzPts val="1800"/>
              <a:buChar char="●"/>
            </a:pPr>
            <a:r>
              <a:rPr lang="en"/>
              <a:t>You accept/reject small bits</a:t>
            </a:r>
            <a:endParaRPr/>
          </a:p>
          <a:p>
            <a:pPr marL="457200" lvl="0" indent="-342900" algn="l" rtl="0">
              <a:lnSpc>
                <a:spcPct val="105000"/>
              </a:lnSpc>
              <a:spcBef>
                <a:spcPts val="0"/>
              </a:spcBef>
              <a:spcAft>
                <a:spcPts val="0"/>
              </a:spcAft>
              <a:buSzPts val="1800"/>
              <a:buChar char="●"/>
            </a:pPr>
            <a:r>
              <a:rPr lang="en"/>
              <a:t>You have to type quite a lot </a:t>
            </a:r>
            <a:endParaRPr/>
          </a:p>
          <a:p>
            <a:pPr marL="457200" lvl="0" indent="-342900" algn="l" rtl="0">
              <a:lnSpc>
                <a:spcPct val="105000"/>
              </a:lnSpc>
              <a:spcBef>
                <a:spcPts val="0"/>
              </a:spcBef>
              <a:spcAft>
                <a:spcPts val="0"/>
              </a:spcAft>
              <a:buSzPts val="1800"/>
              <a:buChar char="●"/>
            </a:pPr>
            <a:r>
              <a:rPr lang="en"/>
              <a:t>Copilot sort of infers what you are trying to do</a:t>
            </a:r>
            <a:endParaRPr/>
          </a:p>
          <a:p>
            <a:pPr marL="0" lvl="0" indent="0" algn="l" rtl="0">
              <a:lnSpc>
                <a:spcPct val="105000"/>
              </a:lnSpc>
              <a:spcBef>
                <a:spcPts val="1200"/>
              </a:spcBef>
              <a:spcAft>
                <a:spcPts val="1200"/>
              </a:spcAft>
              <a:buNone/>
            </a:pPr>
            <a:r>
              <a:rPr lang="en"/>
              <a:t>This is magical: a finely honed surgical assistant</a:t>
            </a:r>
            <a:endParaRPr/>
          </a:p>
        </p:txBody>
      </p:sp>
      <p:pic>
        <p:nvPicPr>
          <p:cNvPr id="97" name="Google Shape;97;p18"/>
          <p:cNvPicPr preferRelativeResize="0"/>
          <p:nvPr/>
        </p:nvPicPr>
        <p:blipFill>
          <a:blip r:embed="rId3">
            <a:alphaModFix/>
          </a:blip>
          <a:stretch>
            <a:fillRect/>
          </a:stretch>
        </p:blipFill>
        <p:spPr>
          <a:xfrm>
            <a:off x="5353050" y="1340572"/>
            <a:ext cx="3574400" cy="238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Char char="●"/>
            </a:pPr>
            <a:r>
              <a:rPr lang="en" sz="2300"/>
              <a:t>Type-checking</a:t>
            </a:r>
            <a:endParaRPr sz="2300"/>
          </a:p>
          <a:p>
            <a:pPr marL="457200" lvl="0" indent="-374650" algn="l" rtl="0">
              <a:spcBef>
                <a:spcPts val="0"/>
              </a:spcBef>
              <a:spcAft>
                <a:spcPts val="0"/>
              </a:spcAft>
              <a:buSzPts val="2300"/>
              <a:buChar char="●"/>
            </a:pPr>
            <a:r>
              <a:rPr lang="en" sz="2300"/>
              <a:t>Intellisense</a:t>
            </a:r>
            <a:endParaRPr sz="2300"/>
          </a:p>
          <a:p>
            <a:pPr marL="457200" lvl="0" indent="-374650" algn="l" rtl="0">
              <a:spcBef>
                <a:spcPts val="0"/>
              </a:spcBef>
              <a:spcAft>
                <a:spcPts val="0"/>
              </a:spcAft>
              <a:buSzPts val="2300"/>
              <a:buChar char="●"/>
            </a:pPr>
            <a:r>
              <a:rPr lang="en" sz="2300"/>
              <a:t>Code navigation</a:t>
            </a:r>
            <a:endParaRPr sz="2300"/>
          </a:p>
          <a:p>
            <a:pPr marL="457200" lvl="0" indent="-374650" algn="l" rtl="0">
              <a:spcBef>
                <a:spcPts val="0"/>
              </a:spcBef>
              <a:spcAft>
                <a:spcPts val="0"/>
              </a:spcAft>
              <a:buSzPts val="2300"/>
              <a:buChar char="●"/>
            </a:pPr>
            <a:r>
              <a:rPr lang="en" sz="2300"/>
              <a:t>Code search</a:t>
            </a:r>
            <a:endParaRPr sz="2300"/>
          </a:p>
          <a:p>
            <a:pPr marL="457200" lvl="0" indent="-374650" algn="l" rtl="0">
              <a:spcBef>
                <a:spcPts val="0"/>
              </a:spcBef>
              <a:spcAft>
                <a:spcPts val="0"/>
              </a:spcAft>
              <a:buSzPts val="2300"/>
              <a:buChar char="●"/>
            </a:pPr>
            <a:r>
              <a:rPr lang="en" sz="2300"/>
              <a:t>Security checking</a:t>
            </a:r>
            <a:endParaRPr sz="2300"/>
          </a:p>
          <a:p>
            <a:pPr marL="457200" lvl="0" indent="0" algn="l" rtl="0">
              <a:spcBef>
                <a:spcPts val="1200"/>
              </a:spcBef>
              <a:spcAft>
                <a:spcPts val="1200"/>
              </a:spcAft>
              <a:buNone/>
            </a:pPr>
            <a:endParaRPr sz="2300" b="1"/>
          </a:p>
        </p:txBody>
      </p:sp>
      <p:sp>
        <p:nvSpPr>
          <p:cNvPr id="103" name="Google Shape;103;p19"/>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Other pinpoint tools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77500" lnSpcReduction="20000"/>
          </a:bodyPr>
          <a:lstStyle/>
          <a:p>
            <a:pPr marL="457200" lvl="0" indent="-351631" algn="l" rtl="0">
              <a:spcBef>
                <a:spcPts val="0"/>
              </a:spcBef>
              <a:spcAft>
                <a:spcPts val="0"/>
              </a:spcAft>
              <a:buClr>
                <a:srgbClr val="666666"/>
              </a:buClr>
              <a:buSzPct val="100000"/>
              <a:buChar char="●"/>
            </a:pPr>
            <a:r>
              <a:rPr lang="en" sz="2500" dirty="0">
                <a:solidFill>
                  <a:srgbClr val="666666"/>
                </a:solidFill>
              </a:rPr>
              <a:t>Type-checking</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Intellisense</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Code navigation</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Code search</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Security checking</a:t>
            </a:r>
            <a:endParaRPr sz="2500" dirty="0">
              <a:solidFill>
                <a:srgbClr val="666666"/>
              </a:solidFill>
            </a:endParaRPr>
          </a:p>
          <a:p>
            <a:pPr marL="457200" lvl="0" indent="-351631" algn="l" rtl="0">
              <a:spcBef>
                <a:spcPts val="0"/>
              </a:spcBef>
              <a:spcAft>
                <a:spcPts val="0"/>
              </a:spcAft>
              <a:buSzPct val="100000"/>
              <a:buChar char="●"/>
            </a:pPr>
            <a:r>
              <a:rPr lang="en" sz="2500" b="1" dirty="0"/>
              <a:t>AI Code completion</a:t>
            </a:r>
            <a:endParaRPr sz="2500" b="1" dirty="0"/>
          </a:p>
          <a:p>
            <a:pPr marL="457200" lvl="0" indent="-351631" algn="l" rtl="0">
              <a:spcBef>
                <a:spcPts val="0"/>
              </a:spcBef>
              <a:spcAft>
                <a:spcPts val="0"/>
              </a:spcAft>
              <a:buSzPct val="100000"/>
              <a:buChar char="●"/>
            </a:pPr>
            <a:r>
              <a:rPr lang="en" sz="2500" b="1" dirty="0"/>
              <a:t>AI Code summarization</a:t>
            </a:r>
            <a:endParaRPr sz="2500" b="1" dirty="0"/>
          </a:p>
          <a:p>
            <a:pPr marL="457200" lvl="0" indent="-351631" algn="l" rtl="0">
              <a:spcBef>
                <a:spcPts val="0"/>
              </a:spcBef>
              <a:spcAft>
                <a:spcPts val="0"/>
              </a:spcAft>
              <a:buSzPct val="100000"/>
              <a:buChar char="●"/>
            </a:pPr>
            <a:r>
              <a:rPr lang="en" sz="2500" b="1" dirty="0"/>
              <a:t>AI Code chat</a:t>
            </a:r>
            <a:endParaRPr sz="2500" b="1" dirty="0"/>
          </a:p>
          <a:p>
            <a:pPr marL="457200" lvl="0" indent="-351631" algn="l" rtl="0">
              <a:spcBef>
                <a:spcPts val="0"/>
              </a:spcBef>
              <a:spcAft>
                <a:spcPts val="0"/>
              </a:spcAft>
              <a:buSzPct val="100000"/>
              <a:buChar char="●"/>
            </a:pPr>
            <a:r>
              <a:rPr lang="en" sz="2500" b="1" dirty="0"/>
              <a:t>AI Code review</a:t>
            </a:r>
            <a:endParaRPr sz="2500" b="1" dirty="0"/>
          </a:p>
          <a:p>
            <a:pPr marL="457200" lvl="0" indent="-351631" algn="l" rtl="0">
              <a:spcBef>
                <a:spcPts val="0"/>
              </a:spcBef>
              <a:spcAft>
                <a:spcPts val="0"/>
              </a:spcAft>
              <a:buSzPct val="100000"/>
              <a:buChar char="●"/>
            </a:pPr>
            <a:r>
              <a:rPr lang="en" sz="2500" b="1" dirty="0"/>
              <a:t>AI Code fix suggestions</a:t>
            </a:r>
            <a:endParaRPr sz="2500" b="1" dirty="0"/>
          </a:p>
          <a:p>
            <a:pPr marL="457200" lvl="0" indent="-351631" algn="l" rtl="0">
              <a:spcBef>
                <a:spcPts val="0"/>
              </a:spcBef>
              <a:spcAft>
                <a:spcPts val="0"/>
              </a:spcAft>
              <a:buSzPct val="100000"/>
              <a:buChar char="●"/>
            </a:pPr>
            <a:r>
              <a:rPr lang="en" sz="2500" b="1" dirty="0"/>
              <a:t>AI Test generation</a:t>
            </a:r>
            <a:endParaRPr sz="2500" b="1" dirty="0"/>
          </a:p>
        </p:txBody>
      </p:sp>
      <p:sp>
        <p:nvSpPr>
          <p:cNvPr id="109" name="Google Shape;109;p20"/>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Other pinpoint tools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p:txBody>
      </p:sp>
      <p:sp>
        <p:nvSpPr>
          <p:cNvPr id="115" name="Google Shape;115;p21"/>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br>
              <a:rPr lang="en" sz="2500"/>
            </a:br>
            <a:r>
              <a:rPr lang="en" sz="2500" i="1"/>
              <a:t>Software activity begins with words and intent</a:t>
            </a:r>
            <a:br>
              <a:rPr lang="en" sz="2500" i="1"/>
            </a:br>
            <a:br>
              <a:rPr lang="en" sz="2500"/>
            </a:br>
            <a:r>
              <a:rPr lang="en" sz="2500"/>
              <a:t>Before a code change, before a pull request, there are words - a discussion, a bug report, a feature request, an engineering task, a meeting, a design document, an idea.</a:t>
            </a:r>
            <a:endParaRPr sz="2500"/>
          </a:p>
          <a:p>
            <a:pPr marL="0" lvl="0" indent="0" algn="l" rtl="0">
              <a:spcBef>
                <a:spcPts val="1200"/>
              </a:spcBef>
              <a:spcAft>
                <a:spcPts val="0"/>
              </a:spcAft>
              <a:buNone/>
            </a:pPr>
            <a:endParaRPr sz="2500"/>
          </a:p>
          <a:p>
            <a:pPr marL="0" lvl="0" indent="0" algn="l" rtl="0">
              <a:spcBef>
                <a:spcPts val="1200"/>
              </a:spcBef>
              <a:spcAft>
                <a:spcPts val="1200"/>
              </a:spcAft>
              <a:buNone/>
            </a:pPr>
            <a:endParaRPr sz="2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21" name="Google Shape;121;p22"/>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22" name="Google Shape;122;p22"/>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23" name="Google Shape;123;p2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29" name="Google Shape;129;p23"/>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30" name="Google Shape;130;p23"/>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31" name="Google Shape;131;p2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32" name="Google Shape;132;p23"/>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Idea</a:t>
            </a:r>
            <a:endParaRPr sz="1800"/>
          </a:p>
        </p:txBody>
      </p:sp>
      <p:sp>
        <p:nvSpPr>
          <p:cNvPr id="133" name="Google Shape;133;p23"/>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Code</a:t>
            </a:r>
            <a:br>
              <a:rPr lang="en" sz="1800"/>
            </a:br>
            <a:r>
              <a:rPr lang="en" sz="1800"/>
              <a:t>🏆🏆🏆</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39" name="Google Shape;139;p24"/>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40" name="Google Shape;140;p24"/>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41" name="Google Shape;141;p2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42" name="Google Shape;142;p24"/>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Change Intent</a:t>
            </a:r>
            <a:endParaRPr sz="1800"/>
          </a:p>
        </p:txBody>
      </p:sp>
      <p:sp>
        <p:nvSpPr>
          <p:cNvPr id="143" name="Google Shape;143;p24"/>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Change</a:t>
            </a:r>
            <a:br>
              <a:rPr lang="en" sz="1800"/>
            </a:br>
            <a:r>
              <a:rPr lang="en" sz="1800"/>
              <a:t>🏆🏆🏆</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49" name="Google Shape;149;p25"/>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50" name="Google Shape;150;p25"/>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51" name="Google Shape;151;p2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52" name="Google Shape;152;p25"/>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GitHub Issue</a:t>
            </a:r>
            <a:endParaRPr sz="1800"/>
          </a:p>
        </p:txBody>
      </p:sp>
      <p:sp>
        <p:nvSpPr>
          <p:cNvPr id="153" name="Google Shape;153;p25"/>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GitHub Pull Request</a:t>
            </a:r>
            <a:br>
              <a:rPr lang="en" sz="1800"/>
            </a:br>
            <a:r>
              <a:rPr lang="en" sz="1800"/>
              <a:t>🏆🏆🏆</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sp>
        <p:nvSpPr>
          <p:cNvPr id="159" name="Google Shape;159;p2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sz="2500" dirty="0"/>
              <a:t>Changing perspective</a:t>
            </a:r>
            <a:br>
              <a:rPr lang="en" sz="2500" dirty="0"/>
            </a:br>
            <a:endParaRPr sz="2500" dirty="0"/>
          </a:p>
          <a:p>
            <a:pPr marL="0" lvl="0" indent="457200" algn="l" rtl="0">
              <a:spcBef>
                <a:spcPts val="1200"/>
              </a:spcBef>
              <a:spcAft>
                <a:spcPts val="1200"/>
              </a:spcAft>
              <a:buNone/>
            </a:pPr>
            <a:r>
              <a:rPr lang="en" sz="2500" dirty="0"/>
              <a:t>	Pinpoint Surgery    		→	Whole Operation </a:t>
            </a:r>
            <a:br>
              <a:rPr lang="en" sz="2500" dirty="0"/>
            </a:br>
            <a:br>
              <a:rPr lang="en" sz="2500" dirty="0"/>
            </a:br>
            <a:r>
              <a:rPr lang="en" sz="2500" dirty="0"/>
              <a:t>	Single Point of Change 	→	Whole Repository</a:t>
            </a:r>
            <a:br>
              <a:rPr lang="en" sz="2500" dirty="0"/>
            </a:br>
            <a:br>
              <a:rPr lang="en" sz="2500" dirty="0"/>
            </a:br>
            <a:r>
              <a:rPr lang="en" sz="2500" dirty="0"/>
              <a:t>	Implicit Task 			→	Explicit Task</a:t>
            </a:r>
            <a:endParaRPr sz="2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sp>
        <p:nvSpPr>
          <p:cNvPr id="165" name="Google Shape;165;p27"/>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br>
              <a:rPr lang="en" sz="2100"/>
            </a:br>
            <a:r>
              <a:rPr lang="en" sz="2100"/>
              <a:t>“Add a refresh button to the main page”</a:t>
            </a:r>
            <a:endParaRPr sz="2100"/>
          </a:p>
          <a:p>
            <a:pPr marL="0" lvl="0" indent="0" algn="ctr" rtl="0">
              <a:spcBef>
                <a:spcPts val="1200"/>
              </a:spcBef>
              <a:spcAft>
                <a:spcPts val="0"/>
              </a:spcAft>
              <a:buNone/>
            </a:pPr>
            <a:r>
              <a:rPr lang="en" sz="2100"/>
              <a:t>“Create end-to-end tests using Playwright”</a:t>
            </a:r>
            <a:endParaRPr sz="2100"/>
          </a:p>
          <a:p>
            <a:pPr marL="0" lvl="0" indent="0" algn="ctr" rtl="0">
              <a:spcBef>
                <a:spcPts val="1200"/>
              </a:spcBef>
              <a:spcAft>
                <a:spcPts val="0"/>
              </a:spcAft>
              <a:buNone/>
            </a:pPr>
            <a:r>
              <a:rPr lang="en" sz="2100"/>
              <a:t>“Set up continuous integration using GitHub Actions”</a:t>
            </a:r>
            <a:endParaRPr sz="2100"/>
          </a:p>
          <a:p>
            <a:pPr marL="0" lvl="0" indent="0" algn="ctr" rtl="0">
              <a:spcBef>
                <a:spcPts val="1200"/>
              </a:spcBef>
              <a:spcAft>
                <a:spcPts val="0"/>
              </a:spcAft>
              <a:buNone/>
            </a:pPr>
            <a:r>
              <a:rPr lang="en" sz="2100"/>
              <a:t>“Set up production resources in Azure using Terraform”</a:t>
            </a:r>
            <a:endParaRPr sz="2100"/>
          </a:p>
          <a:p>
            <a:pPr marL="0" lvl="0" indent="0" algn="ctr" rtl="0">
              <a:spcBef>
                <a:spcPts val="1200"/>
              </a:spcBef>
              <a:spcAft>
                <a:spcPts val="0"/>
              </a:spcAft>
              <a:buNone/>
            </a:pPr>
            <a:r>
              <a:rPr lang="en" sz="2100"/>
              <a:t>“Read coverage report and add unit tests to repo”</a:t>
            </a:r>
            <a:endParaRPr sz="2100"/>
          </a:p>
          <a:p>
            <a:pPr marL="0" lvl="0" indent="0" algn="ctr" rtl="0">
              <a:spcBef>
                <a:spcPts val="1200"/>
              </a:spcBef>
              <a:spcAft>
                <a:spcPts val="1200"/>
              </a:spcAft>
              <a:buNone/>
            </a:pPr>
            <a:r>
              <a:rPr lang="en" sz="2100"/>
              <a:t>“Create a website for UK house prices”</a:t>
            </a:r>
            <a:endParaRPr sz="2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3: Automation with SWE-Agents</a:t>
            </a:r>
            <a:endParaRPr/>
          </a:p>
        </p:txBody>
      </p:sp>
      <p:sp>
        <p:nvSpPr>
          <p:cNvPr id="171" name="Google Shape;171;p28"/>
          <p:cNvSpPr txBox="1">
            <a:spLocks noGrp="1"/>
          </p:cNvSpPr>
          <p:nvPr>
            <p:ph type="body" idx="1"/>
          </p:nvPr>
        </p:nvSpPr>
        <p:spPr>
          <a:xfrm>
            <a:off x="514525" y="973300"/>
            <a:ext cx="4497600" cy="3416400"/>
          </a:xfrm>
          <a:prstGeom prst="rect">
            <a:avLst/>
          </a:prstGeom>
        </p:spPr>
        <p:txBody>
          <a:bodyPr spcFirstLastPara="1" wrap="square" lIns="91425" tIns="91425" rIns="91425" bIns="91425" anchor="t" anchorCtr="0">
            <a:normAutofit fontScale="85000" lnSpcReduction="20000"/>
          </a:bodyPr>
          <a:lstStyle/>
          <a:p>
            <a:pPr marL="0" lvl="0" indent="0" algn="l" rtl="0">
              <a:lnSpc>
                <a:spcPct val="105000"/>
              </a:lnSpc>
              <a:spcBef>
                <a:spcPts val="0"/>
              </a:spcBef>
              <a:spcAft>
                <a:spcPts val="0"/>
              </a:spcAft>
              <a:buNone/>
            </a:pPr>
            <a:r>
              <a:rPr lang="en" sz="2200" dirty="0"/>
              <a:t>SWE-Agents are AI robots that have multiple tools to operate on your code.</a:t>
            </a:r>
            <a:endParaRPr sz="2200" dirty="0"/>
          </a:p>
          <a:p>
            <a:pPr marL="0" lvl="0" indent="0" algn="l" rtl="0">
              <a:lnSpc>
                <a:spcPct val="105000"/>
              </a:lnSpc>
              <a:spcBef>
                <a:spcPts val="1200"/>
              </a:spcBef>
              <a:spcAft>
                <a:spcPts val="0"/>
              </a:spcAft>
              <a:buNone/>
            </a:pPr>
            <a:r>
              <a:rPr lang="en" sz="2200" dirty="0"/>
              <a:t>Can be unreliable, the “sweet zone” requires skill to find.</a:t>
            </a:r>
            <a:br>
              <a:rPr lang="en" sz="2200" dirty="0"/>
            </a:br>
            <a:br>
              <a:rPr lang="en" sz="2200" dirty="0"/>
            </a:br>
            <a:r>
              <a:rPr lang="en" sz="2200" dirty="0"/>
              <a:t>But improving all the time and competent at some things.</a:t>
            </a:r>
            <a:endParaRPr sz="2200" dirty="0"/>
          </a:p>
          <a:p>
            <a:pPr marL="0" lvl="0" indent="0" algn="l" rtl="0">
              <a:lnSpc>
                <a:spcPct val="105000"/>
              </a:lnSpc>
              <a:spcBef>
                <a:spcPts val="1200"/>
              </a:spcBef>
              <a:spcAft>
                <a:spcPts val="1200"/>
              </a:spcAft>
              <a:buNone/>
            </a:pPr>
            <a:r>
              <a:rPr lang="en" sz="2200" dirty="0"/>
              <a:t>Learn and use them! </a:t>
            </a:r>
            <a:br>
              <a:rPr lang="en" sz="2200" dirty="0"/>
            </a:br>
            <a:br>
              <a:rPr lang="en" sz="2200" dirty="0"/>
            </a:br>
            <a:r>
              <a:rPr lang="en" sz="2200" dirty="0"/>
              <a:t>Check results carefully!</a:t>
            </a:r>
            <a:endParaRPr sz="2200" dirty="0"/>
          </a:p>
        </p:txBody>
      </p:sp>
      <p:pic>
        <p:nvPicPr>
          <p:cNvPr id="172" name="Google Shape;172;p28"/>
          <p:cNvPicPr preferRelativeResize="0"/>
          <p:nvPr/>
        </p:nvPicPr>
        <p:blipFill>
          <a:blip r:embed="rId3">
            <a:alphaModFix/>
          </a:blip>
          <a:stretch>
            <a:fillRect/>
          </a:stretch>
        </p:blipFill>
        <p:spPr>
          <a:xfrm>
            <a:off x="5257700" y="1238250"/>
            <a:ext cx="3814751" cy="2543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Demo - Repo Tasks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4: AI-Assisted App Development</a:t>
            </a:r>
            <a:endParaRPr/>
          </a:p>
        </p:txBody>
      </p:sp>
      <p:sp>
        <p:nvSpPr>
          <p:cNvPr id="191" name="Google Shape;191;p31"/>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1200"/>
              </a:spcAft>
              <a:buNone/>
            </a:pPr>
            <a:r>
              <a:rPr lang="en" sz="2200"/>
              <a:t>“Create me a multiplayer online TicTacToe game”</a:t>
            </a:r>
            <a:endParaRPr sz="2200"/>
          </a:p>
        </p:txBody>
      </p:sp>
      <p:pic>
        <p:nvPicPr>
          <p:cNvPr id="192" name="Google Shape;192;p31"/>
          <p:cNvPicPr preferRelativeResize="0"/>
          <p:nvPr/>
        </p:nvPicPr>
        <p:blipFill>
          <a:blip r:embed="rId3">
            <a:alphaModFix/>
          </a:blip>
          <a:stretch>
            <a:fillRect/>
          </a:stretch>
        </p:blipFill>
        <p:spPr>
          <a:xfrm>
            <a:off x="474000" y="2135090"/>
            <a:ext cx="2360301" cy="873322"/>
          </a:xfrm>
          <a:prstGeom prst="rect">
            <a:avLst/>
          </a:prstGeom>
          <a:noFill/>
          <a:ln>
            <a:noFill/>
          </a:ln>
        </p:spPr>
      </p:pic>
      <p:pic>
        <p:nvPicPr>
          <p:cNvPr id="193" name="Google Shape;193;p31"/>
          <p:cNvPicPr preferRelativeResize="0"/>
          <p:nvPr/>
        </p:nvPicPr>
        <p:blipFill>
          <a:blip r:embed="rId4">
            <a:alphaModFix/>
          </a:blip>
          <a:stretch>
            <a:fillRect/>
          </a:stretch>
        </p:blipFill>
        <p:spPr>
          <a:xfrm>
            <a:off x="6076775" y="2838450"/>
            <a:ext cx="2928927" cy="1952624"/>
          </a:xfrm>
          <a:prstGeom prst="rect">
            <a:avLst/>
          </a:prstGeom>
          <a:noFill/>
          <a:ln>
            <a:noFill/>
          </a:ln>
        </p:spPr>
      </p:pic>
      <p:pic>
        <p:nvPicPr>
          <p:cNvPr id="194" name="Google Shape;194;p31"/>
          <p:cNvPicPr preferRelativeResize="0"/>
          <p:nvPr/>
        </p:nvPicPr>
        <p:blipFill>
          <a:blip r:embed="rId5">
            <a:alphaModFix/>
          </a:blip>
          <a:stretch>
            <a:fillRect/>
          </a:stretch>
        </p:blipFill>
        <p:spPr>
          <a:xfrm>
            <a:off x="621025" y="3366125"/>
            <a:ext cx="2360301" cy="1573526"/>
          </a:xfrm>
          <a:prstGeom prst="rect">
            <a:avLst/>
          </a:prstGeom>
          <a:noFill/>
          <a:ln>
            <a:noFill/>
          </a:ln>
        </p:spPr>
      </p:pic>
      <p:pic>
        <p:nvPicPr>
          <p:cNvPr id="195" name="Google Shape;195;p31"/>
          <p:cNvPicPr preferRelativeResize="0"/>
          <p:nvPr/>
        </p:nvPicPr>
        <p:blipFill>
          <a:blip r:embed="rId6">
            <a:alphaModFix/>
          </a:blip>
          <a:stretch>
            <a:fillRect/>
          </a:stretch>
        </p:blipFill>
        <p:spPr>
          <a:xfrm>
            <a:off x="3223857" y="2838450"/>
            <a:ext cx="3081693" cy="1733450"/>
          </a:xfrm>
          <a:prstGeom prst="rect">
            <a:avLst/>
          </a:prstGeom>
          <a:noFill/>
          <a:ln>
            <a:noFill/>
          </a:ln>
        </p:spPr>
      </p:pic>
      <p:pic>
        <p:nvPicPr>
          <p:cNvPr id="196" name="Google Shape;196;p31"/>
          <p:cNvPicPr preferRelativeResize="0"/>
          <p:nvPr/>
        </p:nvPicPr>
        <p:blipFill>
          <a:blip r:embed="rId7">
            <a:alphaModFix/>
          </a:blip>
          <a:stretch>
            <a:fillRect/>
          </a:stretch>
        </p:blipFill>
        <p:spPr>
          <a:xfrm>
            <a:off x="5909402" y="1810350"/>
            <a:ext cx="2360299" cy="13752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4: AI-Assisted App Development</a:t>
            </a:r>
            <a:endParaRPr/>
          </a:p>
        </p:txBody>
      </p:sp>
      <p:sp>
        <p:nvSpPr>
          <p:cNvPr id="202" name="Google Shape;202;p3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Narrows the scope to </a:t>
            </a:r>
            <a:r>
              <a:rPr lang="en" b="1"/>
              <a:t>app development</a:t>
            </a:r>
            <a:endParaRPr b="1"/>
          </a:p>
          <a:p>
            <a:pPr marL="457200" lvl="0" indent="-342900" algn="l" rtl="0">
              <a:spcBef>
                <a:spcPts val="0"/>
              </a:spcBef>
              <a:spcAft>
                <a:spcPts val="0"/>
              </a:spcAft>
              <a:buSzPts val="1800"/>
              <a:buChar char="●"/>
            </a:pPr>
            <a:r>
              <a:rPr lang="en"/>
              <a:t>Usually narrows to particular </a:t>
            </a:r>
            <a:r>
              <a:rPr lang="en" b="1"/>
              <a:t>design theme</a:t>
            </a:r>
            <a:r>
              <a:rPr lang="en"/>
              <a:t> and </a:t>
            </a:r>
            <a:r>
              <a:rPr lang="en" b="1"/>
              <a:t>backend services</a:t>
            </a:r>
            <a:endParaRPr b="1"/>
          </a:p>
          <a:p>
            <a:pPr marL="457200" lvl="0" indent="-342900" algn="l" rtl="0">
              <a:spcBef>
                <a:spcPts val="0"/>
              </a:spcBef>
              <a:spcAft>
                <a:spcPts val="0"/>
              </a:spcAft>
              <a:buSzPts val="1800"/>
              <a:buChar char="●"/>
            </a:pPr>
            <a:r>
              <a:rPr lang="en"/>
              <a:t>The user can </a:t>
            </a:r>
            <a:r>
              <a:rPr lang="en" b="1"/>
              <a:t>run app </a:t>
            </a:r>
            <a:r>
              <a:rPr lang="en"/>
              <a:t>and </a:t>
            </a:r>
            <a:r>
              <a:rPr lang="en" b="1"/>
              <a:t>validate directly</a:t>
            </a:r>
            <a:endParaRPr b="1"/>
          </a:p>
          <a:p>
            <a:pPr marL="457200" lvl="0" indent="-342900" algn="l" rtl="0">
              <a:spcBef>
                <a:spcPts val="0"/>
              </a:spcBef>
              <a:spcAft>
                <a:spcPts val="0"/>
              </a:spcAft>
              <a:buSzPts val="1800"/>
              <a:buChar char="●"/>
            </a:pPr>
            <a:r>
              <a:rPr lang="en"/>
              <a:t>Sometimes </a:t>
            </a:r>
            <a:r>
              <a:rPr lang="en" b="1"/>
              <a:t>little need to look at the code at all </a:t>
            </a:r>
            <a:r>
              <a:rPr lang="en"/>
              <a:t>(vibe coding)</a:t>
            </a:r>
            <a:endParaRPr/>
          </a:p>
          <a:p>
            <a:pPr marL="0" lvl="0" indent="0" algn="l" rtl="0">
              <a:spcBef>
                <a:spcPts val="1200"/>
              </a:spcBef>
              <a:spcAft>
                <a:spcPts val="0"/>
              </a:spcAft>
              <a:buNone/>
            </a:pPr>
            <a:r>
              <a:rPr lang="en"/>
              <a:t>Huge caveats</a:t>
            </a:r>
            <a:endParaRPr/>
          </a:p>
          <a:p>
            <a:pPr marL="457200" lvl="0" indent="-342900" algn="l" rtl="0">
              <a:spcBef>
                <a:spcPts val="1200"/>
              </a:spcBef>
              <a:spcAft>
                <a:spcPts val="0"/>
              </a:spcAft>
              <a:buSzPts val="1800"/>
              <a:buChar char="●"/>
            </a:pPr>
            <a:r>
              <a:rPr lang="en" b="1"/>
              <a:t>App coding </a:t>
            </a:r>
            <a:r>
              <a:rPr lang="en"/>
              <a:t>is replaced by </a:t>
            </a:r>
            <a:r>
              <a:rPr lang="en" b="1"/>
              <a:t>app description</a:t>
            </a:r>
            <a:endParaRPr b="1"/>
          </a:p>
          <a:p>
            <a:pPr marL="457200" lvl="0" indent="-342900" algn="l" rtl="0">
              <a:spcBef>
                <a:spcPts val="0"/>
              </a:spcBef>
              <a:spcAft>
                <a:spcPts val="0"/>
              </a:spcAft>
              <a:buSzPts val="1800"/>
              <a:buChar char="●"/>
            </a:pPr>
            <a:r>
              <a:rPr lang="en"/>
              <a:t>This is a small but important slice of the software industry</a:t>
            </a:r>
            <a:endParaRPr/>
          </a:p>
          <a:p>
            <a:pPr marL="457200" lvl="0" indent="-342900" algn="l" rtl="0">
              <a:spcBef>
                <a:spcPts val="0"/>
              </a:spcBef>
              <a:spcAft>
                <a:spcPts val="0"/>
              </a:spcAft>
              <a:buSzPts val="1800"/>
              <a:buChar char="●"/>
            </a:pPr>
            <a:r>
              <a:rPr lang="en"/>
              <a:t>Good </a:t>
            </a:r>
            <a:r>
              <a:rPr lang="en" b="1"/>
              <a:t>UX design </a:t>
            </a:r>
            <a:r>
              <a:rPr lang="en"/>
              <a:t>is </a:t>
            </a:r>
            <a:r>
              <a:rPr lang="en" b="1"/>
              <a:t>subjective</a:t>
            </a:r>
            <a:r>
              <a:rPr lang="en"/>
              <a:t>, impossible to describe with words</a:t>
            </a:r>
            <a:endParaRPr/>
          </a:p>
          <a:p>
            <a:pPr marL="457200" lvl="0" indent="-342900" algn="l" rtl="0">
              <a:spcBef>
                <a:spcPts val="0"/>
              </a:spcBef>
              <a:spcAft>
                <a:spcPts val="0"/>
              </a:spcAft>
              <a:buSzPts val="1800"/>
              <a:buChar char="●"/>
            </a:pPr>
            <a:r>
              <a:rPr lang="en"/>
              <a:t>Beware security disasters!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Continuous AI</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15E4EF5-105A-B8CD-DAA3-E83FB7CD58E3}"/>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1320D07F-3475-6EED-6E2D-B739FC71160D}"/>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5: Continuous AI</a:t>
            </a:r>
            <a:endParaRPr dirty="0"/>
          </a:p>
        </p:txBody>
      </p:sp>
      <p:sp>
        <p:nvSpPr>
          <p:cNvPr id="178" name="Google Shape;178;p29">
            <a:extLst>
              <a:ext uri="{FF2B5EF4-FFF2-40B4-BE49-F238E27FC236}">
                <a16:creationId xmlns:a16="http://schemas.microsoft.com/office/drawing/2014/main" id="{99BCABFC-847A-8EED-C35A-2A32F5ED981A}"/>
              </a:ext>
            </a:extLst>
          </p:cNvPr>
          <p:cNvSpPr txBox="1">
            <a:spLocks noGrp="1"/>
          </p:cNvSpPr>
          <p:nvPr>
            <p:ph type="body" idx="1"/>
          </p:nvPr>
        </p:nvSpPr>
        <p:spPr>
          <a:xfrm>
            <a:off x="514524" y="1219200"/>
            <a:ext cx="6882451"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Continuous Integration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Continuous Deployment</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b="1" dirty="0"/>
              <a:t>Continuous AI</a:t>
            </a:r>
          </a:p>
          <a:p>
            <a:pPr marL="0" indent="0">
              <a:lnSpc>
                <a:spcPct val="105000"/>
              </a:lnSpc>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sp>
        <p:nvSpPr>
          <p:cNvPr id="5" name="TextBox 4">
            <a:extLst>
              <a:ext uri="{FF2B5EF4-FFF2-40B4-BE49-F238E27FC236}">
                <a16:creationId xmlns:a16="http://schemas.microsoft.com/office/drawing/2014/main" id="{E9E00411-84C1-79D7-9CF3-E2DFC87C055E}"/>
              </a:ext>
            </a:extLst>
          </p:cNvPr>
          <p:cNvSpPr txBox="1"/>
          <p:nvPr/>
        </p:nvSpPr>
        <p:spPr>
          <a:xfrm>
            <a:off x="4637049" y="3823380"/>
            <a:ext cx="4590584" cy="307777"/>
          </a:xfrm>
          <a:prstGeom prst="rect">
            <a:avLst/>
          </a:prstGeom>
          <a:noFill/>
        </p:spPr>
        <p:txBody>
          <a:bodyPr wrap="square">
            <a:spAutoFit/>
          </a:bodyPr>
          <a:lstStyle/>
          <a:p>
            <a:r>
              <a:rPr lang="en-GB" dirty="0">
                <a:solidFill>
                  <a:schemeClr val="tx1"/>
                </a:solidFill>
              </a:rPr>
              <a:t>https://githubnext.com/projects/continuous-ai/</a:t>
            </a:r>
          </a:p>
        </p:txBody>
      </p:sp>
    </p:spTree>
    <p:extLst>
      <p:ext uri="{BB962C8B-B14F-4D97-AF65-F5344CB8AC3E}">
        <p14:creationId xmlns:p14="http://schemas.microsoft.com/office/powerpoint/2010/main" val="373457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Inner Loop, Outer Loop</a:t>
            </a:r>
            <a:endParaRPr/>
          </a:p>
        </p:txBody>
      </p:sp>
      <p:sp>
        <p:nvSpPr>
          <p:cNvPr id="97" name="Google Shape;97;p20"/>
          <p:cNvSpPr txBox="1">
            <a:spLocks noGrp="1"/>
          </p:cNvSpPr>
          <p:nvPr>
            <p:ph type="body" idx="1"/>
          </p:nvPr>
        </p:nvSpPr>
        <p:spPr>
          <a:xfrm>
            <a:off x="311700" y="1152475"/>
            <a:ext cx="81336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Char char="●"/>
            </a:pPr>
            <a:r>
              <a:rPr lang="en" sz="2300"/>
              <a:t>Continuous AI is any automated use of AI to facilitate software engineering, on any platform, anywhere</a:t>
            </a:r>
            <a:br>
              <a:rPr lang="en" sz="2300"/>
            </a:br>
            <a:endParaRPr sz="2300"/>
          </a:p>
          <a:p>
            <a:pPr marL="457200" lvl="0" indent="-374650" algn="l" rtl="0">
              <a:spcBef>
                <a:spcPts val="0"/>
              </a:spcBef>
              <a:spcAft>
                <a:spcPts val="0"/>
              </a:spcAft>
              <a:buSzPts val="2300"/>
              <a:buChar char="●"/>
            </a:pPr>
            <a:r>
              <a:rPr lang="en" sz="2300" u="sng">
                <a:solidFill>
                  <a:schemeClr val="hlink"/>
                </a:solidFill>
                <a:hlinkClick r:id="rId3"/>
              </a:rPr>
              <a:t>https://githubnext.com/projects/continuous-ai/</a:t>
            </a:r>
            <a:r>
              <a:rPr lang="en" sz="2300"/>
              <a:t> </a:t>
            </a:r>
            <a:endParaRPr sz="2300"/>
          </a:p>
          <a:p>
            <a:pPr marL="457200" lvl="0" indent="0" algn="l" rtl="0">
              <a:spcBef>
                <a:spcPts val="1200"/>
              </a:spcBef>
              <a:spcAft>
                <a:spcPts val="1200"/>
              </a:spcAft>
              <a:buNone/>
            </a:pPr>
            <a:endParaRPr sz="23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05AB05AF-267A-E959-5AAA-B31B0E93A24C}"/>
            </a:ext>
          </a:extLst>
        </p:cNvPr>
        <p:cNvGrpSpPr/>
        <p:nvPr/>
      </p:nvGrpSpPr>
      <p:grpSpPr>
        <a:xfrm>
          <a:off x="0" y="0"/>
          <a:ext cx="0" cy="0"/>
          <a:chOff x="0" y="0"/>
          <a:chExt cx="0" cy="0"/>
        </a:xfrm>
      </p:grpSpPr>
      <p:sp>
        <p:nvSpPr>
          <p:cNvPr id="150" name="Google Shape;150;p28">
            <a:extLst>
              <a:ext uri="{FF2B5EF4-FFF2-40B4-BE49-F238E27FC236}">
                <a16:creationId xmlns:a16="http://schemas.microsoft.com/office/drawing/2014/main" id="{A24E8526-5B4D-B351-65D0-3119034FE25B}"/>
              </a:ext>
            </a:extLst>
          </p:cNvPr>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endParaRPr dirty="0"/>
          </a:p>
        </p:txBody>
      </p:sp>
    </p:spTree>
    <p:extLst>
      <p:ext uri="{BB962C8B-B14F-4D97-AF65-F5344CB8AC3E}">
        <p14:creationId xmlns:p14="http://schemas.microsoft.com/office/powerpoint/2010/main" val="1374179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Weekly Researcher</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schedule: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 cron: "0 9 * * 1"     # Every week, 9AM UTC, Monday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workflow_dispatch:</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create-issue: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tools:</a:t>
            </a: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  web-search:</a:t>
            </a:r>
            <a:br>
              <a:rPr lang="en" sz="947" b="1">
                <a:solidFill>
                  <a:schemeClr val="accent5"/>
                </a:solidFill>
                <a:latin typeface="Courier New"/>
                <a:ea typeface="Courier New"/>
                <a:cs typeface="Courier New"/>
                <a:sym typeface="Courier New"/>
              </a:rPr>
            </a:b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Agentic Weekly Researcher (Ruby)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Do a deep research investigation in ${{ github.repository }} repository, and the related industry in general.</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selections of the latest code, issues and PRs for this repo.</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latest trends and news from the software industry news source on the Web.</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Create a new GitHub issue containing a markdown report with interesting news about the area related to this software project, related products and competitive analysis, related research papers, new ideas, market opportunities, business analysis, enjoyable anecdotes.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NOTE: Include a link like this at the end of the report: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r>
              <a:rPr lang="en" sz="947" b="1">
                <a:solidFill>
                  <a:schemeClr val="accent5"/>
                </a:solidFill>
                <a:latin typeface="Courier New"/>
                <a:ea typeface="Courier New"/>
                <a:cs typeface="Courier New"/>
                <a:sym typeface="Courier New"/>
              </a:rPr>
              <a:t>```</a:t>
            </a:r>
            <a:endParaRPr sz="947" b="1">
              <a:solidFill>
                <a:schemeClr val="accent5"/>
              </a:solidFill>
            </a:endParaRPr>
          </a:p>
        </p:txBody>
      </p:sp>
      <p:sp>
        <p:nvSpPr>
          <p:cNvPr id="103" name="Google Shape;103;p21"/>
          <p:cNvSpPr/>
          <p:nvPr/>
        </p:nvSpPr>
        <p:spPr>
          <a:xfrm>
            <a:off x="4376075" y="2587625"/>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Actions-familiar</a:t>
            </a:r>
            <a:endParaRPr/>
          </a:p>
        </p:txBody>
      </p:sp>
      <p:sp>
        <p:nvSpPr>
          <p:cNvPr id="104" name="Google Shape;104;p21"/>
          <p:cNvSpPr/>
          <p:nvPr/>
        </p:nvSpPr>
        <p:spPr>
          <a:xfrm>
            <a:off x="2860300" y="12714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Triggers</a:t>
            </a:r>
            <a:endParaRPr/>
          </a:p>
        </p:txBody>
      </p:sp>
      <p:sp>
        <p:nvSpPr>
          <p:cNvPr id="105" name="Google Shape;105;p21"/>
          <p:cNvSpPr/>
          <p:nvPr/>
        </p:nvSpPr>
        <p:spPr>
          <a:xfrm>
            <a:off x="3126450" y="19295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Safe output specs</a:t>
            </a:r>
            <a:endParaRPr/>
          </a:p>
        </p:txBody>
      </p:sp>
      <p:sp>
        <p:nvSpPr>
          <p:cNvPr id="106" name="Google Shape;106;p21"/>
          <p:cNvSpPr/>
          <p:nvPr/>
        </p:nvSpPr>
        <p:spPr>
          <a:xfrm>
            <a:off x="3126450" y="2473700"/>
            <a:ext cx="1072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107" name="Google Shape;107;p21"/>
          <p:cNvSpPr/>
          <p:nvPr/>
        </p:nvSpPr>
        <p:spPr>
          <a:xfrm>
            <a:off x="5123250" y="3927950"/>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Self-reporting</a:t>
            </a:r>
            <a:endParaRPr/>
          </a:p>
        </p:txBody>
      </p:sp>
      <p:sp>
        <p:nvSpPr>
          <p:cNvPr id="108" name="Google Shape;108;p21"/>
          <p:cNvSpPr/>
          <p:nvPr/>
        </p:nvSpPr>
        <p:spPr>
          <a:xfrm>
            <a:off x="764050" y="3170425"/>
            <a:ext cx="1996800" cy="404400"/>
          </a:xfrm>
          <a:prstGeom prst="wedgeRectCallout">
            <a:avLst>
              <a:gd name="adj1" fmla="val -22903"/>
              <a:gd name="adj2" fmla="val 1333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Assumes GitHub</a:t>
            </a:r>
            <a:endParaRPr/>
          </a:p>
        </p:txBody>
      </p:sp>
      <p:sp>
        <p:nvSpPr>
          <p:cNvPr id="109" name="Google Shape;109;p21"/>
          <p:cNvSpPr/>
          <p:nvPr/>
        </p:nvSpPr>
        <p:spPr>
          <a:xfrm>
            <a:off x="6835500" y="2078100"/>
            <a:ext cx="1996800" cy="987300"/>
          </a:xfrm>
          <a:prstGeom prst="wedgeRectCallout">
            <a:avLst>
              <a:gd name="adj1" fmla="val -87729"/>
              <a:gd name="adj2" fmla="val 730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NL programming = </a:t>
            </a:r>
            <a:br>
              <a:rPr lang="en"/>
            </a:br>
            <a:r>
              <a:rPr lang="en"/>
              <a:t>deliberate ambiguity =</a:t>
            </a:r>
            <a:br>
              <a:rPr lang="en"/>
            </a:br>
            <a:r>
              <a:rPr lang="en"/>
              <a:t>genuinely useful ambiguity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Issue Triage</a:t>
            </a:r>
            <a:endParaRPr/>
          </a:p>
        </p:txBody>
      </p:sp>
      <p:sp>
        <p:nvSpPr>
          <p:cNvPr id="115" name="Google Shape;11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issues: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types: [opened, reopened]</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add-comment: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Agentic Issue Triage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Your task is to analyze issue #${{ github.event.issue.number }} and perform some initial triage tasks related to that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Analyze the issue content. Write notes, ideas, nudges, resource links, debugging strategies and/or reproduction steps for the team to consider relevant to the issue. Select appropriate labels already used in the repository and apply them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Finalize an output report with your analysis and add it as an issue comment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NOTE: Include a link like this at the end of your issue 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```markdown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endParaRPr sz="947" b="1">
              <a:solidFill>
                <a:schemeClr val="accent5"/>
              </a:solidFill>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Workflows - Getting Started</a:t>
            </a:r>
            <a:endParaRPr/>
          </a:p>
        </p:txBody>
      </p:sp>
      <p:sp>
        <p:nvSpPr>
          <p:cNvPr id="169" name="Google Shape;16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300" u="sng" dirty="0">
                <a:solidFill>
                  <a:schemeClr val="hlink"/>
                </a:solidFill>
                <a:hlinkClick r:id="rId3"/>
              </a:rPr>
              <a:t>Samples</a:t>
            </a:r>
            <a:endParaRPr sz="2300" dirty="0"/>
          </a:p>
          <a:p>
            <a:pPr marL="914400" lvl="0" indent="0" algn="l" rtl="0">
              <a:spcBef>
                <a:spcPts val="1200"/>
              </a:spcBef>
              <a:spcAft>
                <a:spcPts val="1200"/>
              </a:spcAft>
              <a:buNone/>
            </a:pPr>
            <a:r>
              <a:rPr lang="en" sz="1854" b="1" dirty="0">
                <a:latin typeface="Courier New"/>
                <a:ea typeface="Courier New"/>
                <a:cs typeface="Courier New"/>
                <a:sym typeface="Courier New"/>
              </a:rPr>
              <a:t>gh extension install github/gh-aw</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gh aw add githubnext/agentics/daily-test-improver</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&lt;secret+commit+push&gt;</a:t>
            </a:r>
            <a:br>
              <a:rPr lang="en" sz="1854" b="1" dirty="0">
                <a:latin typeface="Courier New"/>
                <a:ea typeface="Courier New"/>
                <a:cs typeface="Courier New"/>
                <a:sym typeface="Courier New"/>
              </a:rPr>
            </a:br>
            <a:br>
              <a:rPr lang="en" sz="1854" b="1" dirty="0">
                <a:latin typeface="Courier New"/>
                <a:ea typeface="Courier New"/>
                <a:cs typeface="Courier New"/>
                <a:sym typeface="Courier New"/>
              </a:rPr>
            </a:br>
            <a:r>
              <a:rPr lang="en" sz="1854" b="1" dirty="0">
                <a:latin typeface="Courier New"/>
                <a:ea typeface="Courier New"/>
                <a:cs typeface="Courier New"/>
                <a:sym typeface="Courier New"/>
              </a:rPr>
              <a:t>gh aw run daily-test-improver --repeat 30</a:t>
            </a:r>
            <a:endParaRPr sz="27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Agentic Workflows - Safety, Safety, Safety</a:t>
            </a:r>
            <a:endParaRPr/>
          </a:p>
        </p:txBody>
      </p:sp>
      <p:sp>
        <p:nvSpPr>
          <p:cNvPr id="181" name="Google Shape;181;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AutoNum type="arabicPeriod"/>
            </a:pPr>
            <a:r>
              <a:rPr lang="en" sz="2300"/>
              <a:t>Execution is VM-sandboxed (GitHub Actions VMs)</a:t>
            </a:r>
            <a:endParaRPr sz="2300"/>
          </a:p>
          <a:p>
            <a:pPr marL="457200" lvl="0" indent="-374650" algn="l" rtl="0">
              <a:spcBef>
                <a:spcPts val="0"/>
              </a:spcBef>
              <a:spcAft>
                <a:spcPts val="0"/>
              </a:spcAft>
              <a:buSzPts val="2300"/>
              <a:buAutoNum type="arabicPeriod"/>
            </a:pPr>
            <a:r>
              <a:rPr lang="en" sz="2300"/>
              <a:t>Overall permissions are minimized</a:t>
            </a:r>
            <a:endParaRPr sz="2300"/>
          </a:p>
          <a:p>
            <a:pPr marL="457200" lvl="0" indent="-374650" algn="l" rtl="0">
              <a:spcBef>
                <a:spcPts val="0"/>
              </a:spcBef>
              <a:spcAft>
                <a:spcPts val="0"/>
              </a:spcAft>
              <a:buSzPts val="2300"/>
              <a:buAutoNum type="arabicPeriod"/>
            </a:pPr>
            <a:r>
              <a:rPr lang="en" sz="2300"/>
              <a:t>Agentic steps run essentially read-only</a:t>
            </a:r>
            <a:endParaRPr sz="2300"/>
          </a:p>
          <a:p>
            <a:pPr marL="457200" lvl="0" indent="-374650" algn="l" rtl="0">
              <a:spcBef>
                <a:spcPts val="0"/>
              </a:spcBef>
              <a:spcAft>
                <a:spcPts val="0"/>
              </a:spcAft>
              <a:buSzPts val="2300"/>
              <a:buAutoNum type="arabicPeriod"/>
            </a:pPr>
            <a:r>
              <a:rPr lang="en" sz="2300"/>
              <a:t>All outputs are “in the intended channel” (“safe outputs”)</a:t>
            </a:r>
            <a:endParaRPr sz="2300"/>
          </a:p>
          <a:p>
            <a:pPr marL="914400" lvl="1" indent="-374650" algn="l" rtl="0">
              <a:spcBef>
                <a:spcPts val="0"/>
              </a:spcBef>
              <a:spcAft>
                <a:spcPts val="0"/>
              </a:spcAft>
              <a:buSzPts val="2300"/>
              <a:buAutoNum type="alphaLcPeriod"/>
            </a:pPr>
            <a:r>
              <a:rPr lang="en" sz="2300"/>
              <a:t>blast radius greatly reduced</a:t>
            </a:r>
            <a:endParaRPr sz="2300"/>
          </a:p>
          <a:p>
            <a:pPr marL="914400" lvl="1" indent="-374650" algn="l" rtl="0">
              <a:spcBef>
                <a:spcPts val="0"/>
              </a:spcBef>
              <a:spcAft>
                <a:spcPts val="0"/>
              </a:spcAft>
              <a:buSzPts val="2300"/>
              <a:buAutoNum type="alphaLcPeriod"/>
            </a:pPr>
            <a:r>
              <a:rPr lang="en" sz="2300"/>
              <a:t>checked by AI for safety</a:t>
            </a:r>
            <a:endParaRPr sz="2300"/>
          </a:p>
          <a:p>
            <a:pPr marL="914400" lvl="1" indent="-374650" algn="l" rtl="0">
              <a:spcBef>
                <a:spcPts val="0"/>
              </a:spcBef>
              <a:spcAft>
                <a:spcPts val="0"/>
              </a:spcAft>
              <a:buSzPts val="2300"/>
              <a:buAutoNum type="alphaLcPeriod"/>
            </a:pPr>
            <a:r>
              <a:rPr lang="en" sz="2300"/>
              <a:t>human oversight guaranteed</a:t>
            </a:r>
            <a:endParaRPr sz="2300"/>
          </a:p>
          <a:p>
            <a:pPr marL="457200" lvl="0" indent="-374650" algn="l" rtl="0">
              <a:spcBef>
                <a:spcPts val="0"/>
              </a:spcBef>
              <a:spcAft>
                <a:spcPts val="0"/>
              </a:spcAft>
              <a:buSzPts val="2300"/>
              <a:buAutoNum type="arabicPeriod"/>
            </a:pPr>
            <a:r>
              <a:rPr lang="en" sz="2300"/>
              <a:t>Outgoing network is firewalled and controlled</a:t>
            </a:r>
            <a:endParaRPr sz="23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Continuous AI</a:t>
            </a:r>
            <a:endParaRPr/>
          </a:p>
          <a:p>
            <a:pPr marL="0" lvl="0" indent="0" algn="ctr" rtl="0">
              <a:spcBef>
                <a:spcPts val="0"/>
              </a:spcBef>
              <a:spcAft>
                <a:spcPts val="0"/>
              </a:spcAft>
              <a:buNone/>
            </a:pPr>
            <a:r>
              <a:rPr lang="en" sz="2800">
                <a:solidFill>
                  <a:schemeClr val="lt2"/>
                </a:solidFill>
              </a:rPr>
              <a:t>implemented by</a:t>
            </a:r>
            <a:endParaRPr sz="2800">
              <a:solidFill>
                <a:schemeClr val="lt2"/>
              </a:solidFill>
            </a:endParaRPr>
          </a:p>
          <a:p>
            <a:pPr marL="0" lvl="0" indent="0" algn="ctr" rtl="0">
              <a:spcBef>
                <a:spcPts val="0"/>
              </a:spcBef>
              <a:spcAft>
                <a:spcPts val="0"/>
              </a:spcAft>
              <a:buNone/>
            </a:pPr>
            <a:r>
              <a:rPr lang="en"/>
              <a:t>Agentic Workflows </a:t>
            </a:r>
            <a:endParaRPr/>
          </a:p>
          <a:p>
            <a:pPr marL="0" lvl="0" indent="0" algn="ctr" rtl="0">
              <a:spcBef>
                <a:spcPts val="0"/>
              </a:spcBef>
              <a:spcAft>
                <a:spcPts val="0"/>
              </a:spcAft>
              <a:buNone/>
            </a:pPr>
            <a:r>
              <a:rPr lang="en" sz="3100">
                <a:solidFill>
                  <a:schemeClr val="lt2"/>
                </a:solidFill>
              </a:rPr>
              <a:t>enables</a:t>
            </a:r>
            <a:endParaRPr sz="3100">
              <a:solidFill>
                <a:schemeClr val="lt2"/>
              </a:solidFill>
            </a:endParaRPr>
          </a:p>
          <a:p>
            <a:pPr marL="0" lvl="0" indent="0" algn="ctr" rtl="0">
              <a:spcBef>
                <a:spcPts val="0"/>
              </a:spcBef>
              <a:spcAft>
                <a:spcPts val="0"/>
              </a:spcAft>
              <a:buNone/>
            </a:pPr>
            <a:r>
              <a:rPr lang="en"/>
              <a:t>Agent Zoo</a:t>
            </a:r>
            <a:endParaRPr/>
          </a:p>
          <a:p>
            <a:pPr marL="0" lvl="0" indent="0" algn="ctr" rtl="0">
              <a:spcBef>
                <a:spcPts val="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r>
              <a:rPr lang="en" sz="3100" dirty="0">
                <a:solidFill>
                  <a:schemeClr val="lt2"/>
                </a:solidFill>
              </a:rPr>
              <a:t>enables</a:t>
            </a:r>
            <a:endParaRPr sz="3100" dirty="0">
              <a:solidFill>
                <a:schemeClr val="lt2"/>
              </a:solidFill>
            </a:endParaRPr>
          </a:p>
          <a:p>
            <a:pPr marL="0" lvl="0" indent="0" algn="ctr" rtl="0">
              <a:spcBef>
                <a:spcPts val="0"/>
              </a:spcBef>
              <a:spcAft>
                <a:spcPts val="0"/>
              </a:spcAft>
              <a:buNone/>
            </a:pPr>
            <a:r>
              <a:rPr lang="en" dirty="0"/>
              <a:t>Continuous Engineering</a:t>
            </a:r>
            <a:endParaRPr dirty="0"/>
          </a:p>
          <a:p>
            <a:pPr marL="0" lvl="0" indent="0" algn="ctr" rtl="0">
              <a:spcBef>
                <a:spcPts val="0"/>
              </a:spcBef>
              <a:spcAft>
                <a:spcPts val="0"/>
              </a:spcAft>
              <a:buNone/>
            </a:pP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5: The Repository as an Automated Software Factory</a:t>
            </a:r>
            <a:endParaRPr dirty="0"/>
          </a:p>
        </p:txBody>
      </p:sp>
      <p:sp>
        <p:nvSpPr>
          <p:cNvPr id="178" name="Google Shape;178;p29"/>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fontScale="92500" lnSpcReduction="20000"/>
          </a:bodyPr>
          <a:lstStyle/>
          <a:p>
            <a:pPr marL="0" lvl="0" indent="0" algn="l" rtl="0">
              <a:lnSpc>
                <a:spcPct val="105000"/>
              </a:lnSpc>
              <a:spcBef>
                <a:spcPts val="0"/>
              </a:spcBef>
              <a:spcAft>
                <a:spcPts val="0"/>
              </a:spcAft>
              <a:buNone/>
            </a:pPr>
            <a:r>
              <a:rPr lang="en-GB" sz="2200" dirty="0"/>
              <a:t>Continuous Integration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Continuous Deployment</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b="1" dirty="0"/>
              <a:t>Continuous AI</a:t>
            </a:r>
          </a:p>
          <a:p>
            <a:pPr marL="0" indent="0">
              <a:lnSpc>
                <a:spcPct val="105000"/>
              </a:lnSpc>
              <a:buNone/>
            </a:pPr>
            <a:endParaRPr lang="en-GB" sz="2200" dirty="0"/>
          </a:p>
          <a:p>
            <a:pPr marL="0" indent="0">
              <a:lnSpc>
                <a:spcPct val="105000"/>
              </a:lnSpc>
              <a:buNone/>
            </a:pPr>
            <a:r>
              <a:rPr lang="en-GB" sz="2200" dirty="0"/>
              <a:t>CI/CD is a form of automated factory</a:t>
            </a:r>
          </a:p>
          <a:p>
            <a:pPr marL="0" lvl="0" indent="0" algn="l" rtl="0">
              <a:lnSpc>
                <a:spcPct val="105000"/>
              </a:lnSpc>
              <a:spcBef>
                <a:spcPts val="0"/>
              </a:spcBef>
              <a:spcAft>
                <a:spcPts val="0"/>
              </a:spcAft>
              <a:buNone/>
            </a:pPr>
            <a:br>
              <a:rPr lang="en-GB" sz="2200" dirty="0"/>
            </a:br>
            <a:r>
              <a:rPr lang="en-GB" sz="2200" dirty="0"/>
              <a:t>Automation happens proactively</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180" name="Google Shape;180;p29"/>
          <p:cNvPicPr preferRelativeResize="0"/>
          <p:nvPr/>
        </p:nvPicPr>
        <p:blipFill>
          <a:blip r:embed="rId3">
            <a:alphaModFix/>
          </a:blip>
          <a:stretch>
            <a:fillRect/>
          </a:stretch>
        </p:blipFill>
        <p:spPr>
          <a:xfrm>
            <a:off x="3828585" y="1219200"/>
            <a:ext cx="5218289" cy="3084240"/>
          </a:xfrm>
          <a:prstGeom prst="rect">
            <a:avLst/>
          </a:prstGeom>
          <a:noFill/>
          <a:ln>
            <a:noFill/>
          </a:ln>
        </p:spPr>
      </p:pic>
    </p:spTree>
    <p:extLst>
      <p:ext uri="{BB962C8B-B14F-4D97-AF65-F5344CB8AC3E}">
        <p14:creationId xmlns:p14="http://schemas.microsoft.com/office/powerpoint/2010/main" val="1577780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428F2DD8-EC52-4768-9227-A209640847EA}"/>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F41BD5AE-7917-B4FC-BBF8-E741AA42C2C9}"/>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 Proactive fault investigation</a:t>
            </a:r>
            <a:endParaRPr dirty="0"/>
          </a:p>
        </p:txBody>
      </p:sp>
      <p:sp>
        <p:nvSpPr>
          <p:cNvPr id="178" name="Google Shape;178;p29">
            <a:extLst>
              <a:ext uri="{FF2B5EF4-FFF2-40B4-BE49-F238E27FC236}">
                <a16:creationId xmlns:a16="http://schemas.microsoft.com/office/drawing/2014/main" id="{9A1204E7-49A0-5DD3-95C0-EC389A189384}"/>
              </a:ext>
            </a:extLst>
          </p:cNvPr>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Fault investigation happens proactively</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AI agent gathers all information about fault, analyses, recommends</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180" name="Google Shape;180;p29">
            <a:extLst>
              <a:ext uri="{FF2B5EF4-FFF2-40B4-BE49-F238E27FC236}">
                <a16:creationId xmlns:a16="http://schemas.microsoft.com/office/drawing/2014/main" id="{EA8C0B25-A4B8-061F-9B43-1950BEA5A459}"/>
              </a:ext>
            </a:extLst>
          </p:cNvPr>
          <p:cNvPicPr preferRelativeResize="0"/>
          <p:nvPr/>
        </p:nvPicPr>
        <p:blipFill>
          <a:blip r:embed="rId3">
            <a:alphaModFix/>
          </a:blip>
          <a:stretch>
            <a:fillRect/>
          </a:stretch>
        </p:blipFill>
        <p:spPr>
          <a:xfrm>
            <a:off x="3828585" y="1219200"/>
            <a:ext cx="5218289" cy="3084240"/>
          </a:xfrm>
          <a:prstGeom prst="rect">
            <a:avLst/>
          </a:prstGeom>
          <a:noFill/>
          <a:ln>
            <a:noFill/>
          </a:ln>
        </p:spPr>
      </p:pic>
      <p:sp>
        <p:nvSpPr>
          <p:cNvPr id="3" name="TextBox 2">
            <a:extLst>
              <a:ext uri="{FF2B5EF4-FFF2-40B4-BE49-F238E27FC236}">
                <a16:creationId xmlns:a16="http://schemas.microsoft.com/office/drawing/2014/main" id="{739F1EC3-C420-3B92-C621-9F4BA51F31A7}"/>
              </a:ext>
            </a:extLst>
          </p:cNvPr>
          <p:cNvSpPr txBox="1"/>
          <p:nvPr/>
        </p:nvSpPr>
        <p:spPr>
          <a:xfrm>
            <a:off x="6333950" y="1876098"/>
            <a:ext cx="4591050" cy="1107996"/>
          </a:xfrm>
          <a:prstGeom prst="rect">
            <a:avLst/>
          </a:prstGeom>
          <a:noFill/>
        </p:spPr>
        <p:txBody>
          <a:bodyPr wrap="square">
            <a:spAutoFit/>
          </a:bodyPr>
          <a:lstStyle/>
          <a:p>
            <a:r>
              <a:rPr lang="en-GB" sz="6600" dirty="0"/>
              <a:t>💣</a:t>
            </a:r>
          </a:p>
        </p:txBody>
      </p:sp>
    </p:spTree>
    <p:extLst>
      <p:ext uri="{BB962C8B-B14F-4D97-AF65-F5344CB8AC3E}">
        <p14:creationId xmlns:p14="http://schemas.microsoft.com/office/powerpoint/2010/main" val="2710777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723AAD97-205A-14B5-4507-4F8CE587B93B}"/>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4AD18469-0E01-A6D6-467D-26FAD0577AB5}"/>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 Continuous Documentation</a:t>
            </a:r>
            <a:endParaRPr dirty="0"/>
          </a:p>
        </p:txBody>
      </p:sp>
      <p:sp>
        <p:nvSpPr>
          <p:cNvPr id="178" name="Google Shape;178;p29">
            <a:extLst>
              <a:ext uri="{FF2B5EF4-FFF2-40B4-BE49-F238E27FC236}">
                <a16:creationId xmlns:a16="http://schemas.microsoft.com/office/drawing/2014/main" id="{C4466371-01DD-3E22-CD8F-50A1CBC968D7}"/>
              </a:ext>
            </a:extLst>
          </p:cNvPr>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Automatically write and maintain software </a:t>
            </a:r>
            <a:r>
              <a:rPr lang="en-GB" sz="2200" b="1" dirty="0"/>
              <a:t>documentation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Automatically write and maintain </a:t>
            </a:r>
            <a:r>
              <a:rPr lang="en-GB" sz="2200" b="1" dirty="0"/>
              <a:t>specifications</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4" name="Picture 3">
            <a:extLst>
              <a:ext uri="{FF2B5EF4-FFF2-40B4-BE49-F238E27FC236}">
                <a16:creationId xmlns:a16="http://schemas.microsoft.com/office/drawing/2014/main" id="{EA0CBA73-B31A-BAD4-E40E-A2D18A96EF03}"/>
              </a:ext>
            </a:extLst>
          </p:cNvPr>
          <p:cNvPicPr>
            <a:picLocks noChangeAspect="1"/>
          </p:cNvPicPr>
          <p:nvPr/>
        </p:nvPicPr>
        <p:blipFill>
          <a:blip r:embed="rId3"/>
          <a:srcRect l="20895" t="891" r="20895" b="-891"/>
          <a:stretch>
            <a:fillRect/>
          </a:stretch>
        </p:blipFill>
        <p:spPr>
          <a:xfrm>
            <a:off x="4973098" y="981306"/>
            <a:ext cx="3920312" cy="3524447"/>
          </a:xfrm>
          <a:prstGeom prst="rect">
            <a:avLst/>
          </a:prstGeom>
        </p:spPr>
      </p:pic>
    </p:spTree>
    <p:extLst>
      <p:ext uri="{BB962C8B-B14F-4D97-AF65-F5344CB8AC3E}">
        <p14:creationId xmlns:p14="http://schemas.microsoft.com/office/powerpoint/2010/main" val="1340320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Continuous Perf Engineering: Linear, not Swarms</a:t>
            </a:r>
            <a:endParaRPr/>
          </a:p>
        </p:txBody>
      </p:sp>
      <p:sp>
        <p:nvSpPr>
          <p:cNvPr id="297" name="Google Shape;297;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63696" algn="l" rtl="0">
              <a:spcBef>
                <a:spcPts val="0"/>
              </a:spcBef>
              <a:spcAft>
                <a:spcPts val="0"/>
              </a:spcAft>
              <a:buSzPct val="100000"/>
              <a:buChar char="●"/>
            </a:pPr>
            <a:r>
              <a:rPr lang="en" sz="2300"/>
              <a:t>Swarms are cooperating, concurrent agents with different roles</a:t>
            </a:r>
            <a:br>
              <a:rPr lang="en" sz="2300"/>
            </a:br>
            <a:endParaRPr sz="2300"/>
          </a:p>
          <a:p>
            <a:pPr marL="457200" lvl="0" indent="-363696" algn="l" rtl="0">
              <a:spcBef>
                <a:spcPts val="0"/>
              </a:spcBef>
              <a:spcAft>
                <a:spcPts val="0"/>
              </a:spcAft>
              <a:buSzPct val="100000"/>
              <a:buChar char="●"/>
            </a:pPr>
            <a:r>
              <a:rPr lang="en" sz="2300"/>
              <a:t>They create many conflicts, duplication, overlap and need careful coordination and planning</a:t>
            </a:r>
            <a:br>
              <a:rPr lang="en" sz="2300"/>
            </a:br>
            <a:endParaRPr sz="2300"/>
          </a:p>
          <a:p>
            <a:pPr marL="457200" lvl="0" indent="-363696" algn="l" rtl="0">
              <a:spcBef>
                <a:spcPts val="0"/>
              </a:spcBef>
              <a:spcAft>
                <a:spcPts val="0"/>
              </a:spcAft>
              <a:buSzPct val="100000"/>
              <a:buChar char="●"/>
            </a:pPr>
            <a:r>
              <a:rPr lang="en" sz="2300"/>
              <a:t>Linear phasing is often more productive</a:t>
            </a:r>
            <a:endParaRPr sz="2300"/>
          </a:p>
          <a:p>
            <a:pPr marL="914400" lvl="1" indent="-363696" algn="l" rtl="0">
              <a:spcBef>
                <a:spcPts val="0"/>
              </a:spcBef>
              <a:spcAft>
                <a:spcPts val="0"/>
              </a:spcAft>
              <a:buSzPct val="100000"/>
              <a:buChar char="○"/>
            </a:pPr>
            <a:r>
              <a:rPr lang="en" sz="2300"/>
              <a:t>Research → Plan → Prepare → Dev/Measure → Reproduce → Dev/Measure → Reproduce → Dev/Measure → Reproduce → Plan → Prepare → …. </a:t>
            </a:r>
            <a:endParaRPr sz="23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683667FA-F60B-63D2-730F-9747F2039A49}"/>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2D7FA8F6-CA2A-97A1-228E-52C20AA02B25}"/>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6: New Futures, New Work</a:t>
            </a:r>
            <a:endParaRPr dirty="0"/>
          </a:p>
        </p:txBody>
      </p:sp>
      <p:sp>
        <p:nvSpPr>
          <p:cNvPr id="3" name="Text Placeholder 2">
            <a:extLst>
              <a:ext uri="{FF2B5EF4-FFF2-40B4-BE49-F238E27FC236}">
                <a16:creationId xmlns:a16="http://schemas.microsoft.com/office/drawing/2014/main" id="{C4446FE1-5086-1243-3DA4-FB021DB07893}"/>
              </a:ext>
            </a:extLst>
          </p:cNvPr>
          <p:cNvSpPr>
            <a:spLocks noGrp="1"/>
          </p:cNvSpPr>
          <p:nvPr>
            <p:ph type="body" idx="1"/>
          </p:nvPr>
        </p:nvSpPr>
        <p:spPr>
          <a:xfrm>
            <a:off x="514525" y="973299"/>
            <a:ext cx="7926000" cy="3836593"/>
          </a:xfrm>
        </p:spPr>
        <p:txBody>
          <a:bodyPr>
            <a:normAutofit lnSpcReduction="10000"/>
          </a:bodyPr>
          <a:lstStyle/>
          <a:p>
            <a:pPr marL="114300" indent="0">
              <a:buNone/>
            </a:pPr>
            <a:r>
              <a:rPr lang="en-GB" dirty="0"/>
              <a:t>The Future is </a:t>
            </a:r>
            <a:r>
              <a:rPr lang="en-GB" b="1" u="sng" dirty="0"/>
              <a:t>Work that wasn’t being done before</a:t>
            </a:r>
          </a:p>
          <a:p>
            <a:pPr marL="114300" indent="0">
              <a:buNone/>
            </a:pPr>
            <a:endParaRPr lang="en-GB" b="1" dirty="0"/>
          </a:p>
          <a:p>
            <a:pPr marL="114300" indent="0">
              <a:buNone/>
            </a:pPr>
            <a:r>
              <a:rPr lang="en-GB" sz="1600" dirty="0"/>
              <a:t>Automobile</a:t>
            </a:r>
          </a:p>
          <a:p>
            <a:r>
              <a:rPr lang="en-GB" sz="1600" dirty="0"/>
              <a:t>Led to </a:t>
            </a:r>
            <a:r>
              <a:rPr lang="en-GB" sz="1600" b="1" u="sng" dirty="0"/>
              <a:t>travel that wasn’t being done before</a:t>
            </a:r>
          </a:p>
          <a:p>
            <a:pPr marL="114300" indent="0">
              <a:buNone/>
            </a:pPr>
            <a:br>
              <a:rPr lang="en-GB" sz="1600" dirty="0"/>
            </a:br>
            <a:r>
              <a:rPr lang="en-GB" sz="1600" dirty="0"/>
              <a:t>Factory</a:t>
            </a:r>
          </a:p>
          <a:p>
            <a:r>
              <a:rPr lang="en-GB" sz="1600" dirty="0"/>
              <a:t>Led to </a:t>
            </a:r>
            <a:r>
              <a:rPr lang="en-GB" sz="1600" b="1" u="sng" dirty="0"/>
              <a:t>millions of products that weren’t being produced before</a:t>
            </a:r>
          </a:p>
          <a:p>
            <a:pPr marL="114300" indent="0">
              <a:buNone/>
            </a:pPr>
            <a:endParaRPr lang="en-GB" sz="1600" dirty="0"/>
          </a:p>
          <a:p>
            <a:pPr marL="114300" indent="0">
              <a:buNone/>
            </a:pPr>
            <a:r>
              <a:rPr lang="en-GB" sz="1600" dirty="0"/>
              <a:t>Medicine</a:t>
            </a:r>
          </a:p>
          <a:p>
            <a:r>
              <a:rPr lang="en-GB" sz="1600" dirty="0"/>
              <a:t>Led to </a:t>
            </a:r>
            <a:r>
              <a:rPr lang="en-GB" sz="1600" b="1" u="sng" dirty="0"/>
              <a:t>many diseases that weren’t being treated before</a:t>
            </a:r>
          </a:p>
          <a:p>
            <a:pPr marL="114300" indent="0">
              <a:buNone/>
            </a:pPr>
            <a:br>
              <a:rPr lang="en-GB" sz="1600" b="1"/>
            </a:br>
            <a:r>
              <a:rPr lang="en-GB" sz="1600" b="1"/>
              <a:t>More </a:t>
            </a:r>
            <a:r>
              <a:rPr lang="en-GB" sz="1600" b="1" dirty="0"/>
              <a:t>overall work, not less</a:t>
            </a:r>
          </a:p>
          <a:p>
            <a:pPr marL="114300" indent="0">
              <a:buNone/>
            </a:pPr>
            <a:r>
              <a:rPr lang="en-GB" sz="1600" b="1" dirty="0"/>
              <a:t>New work, not less work</a:t>
            </a:r>
          </a:p>
        </p:txBody>
      </p:sp>
    </p:spTree>
    <p:extLst>
      <p:ext uri="{BB962C8B-B14F-4D97-AF65-F5344CB8AC3E}">
        <p14:creationId xmlns:p14="http://schemas.microsoft.com/office/powerpoint/2010/main" val="24085205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452C450-3093-97D8-CDCE-EA66101AEFA8}"/>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5489898B-D663-7938-82E2-8E45818570F8}"/>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6: New Futures, New Work</a:t>
            </a:r>
            <a:endParaRPr dirty="0"/>
          </a:p>
        </p:txBody>
      </p:sp>
      <p:sp>
        <p:nvSpPr>
          <p:cNvPr id="3" name="Text Placeholder 2">
            <a:extLst>
              <a:ext uri="{FF2B5EF4-FFF2-40B4-BE49-F238E27FC236}">
                <a16:creationId xmlns:a16="http://schemas.microsoft.com/office/drawing/2014/main" id="{5C3573F4-2876-3B9F-C655-2BEE052EFBF2}"/>
              </a:ext>
            </a:extLst>
          </p:cNvPr>
          <p:cNvSpPr>
            <a:spLocks noGrp="1"/>
          </p:cNvSpPr>
          <p:nvPr>
            <p:ph type="body" idx="1"/>
          </p:nvPr>
        </p:nvSpPr>
        <p:spPr>
          <a:xfrm>
            <a:off x="514525" y="973299"/>
            <a:ext cx="7926000" cy="3836593"/>
          </a:xfrm>
        </p:spPr>
        <p:txBody>
          <a:bodyPr>
            <a:normAutofit fontScale="92500" lnSpcReduction="10000"/>
          </a:bodyPr>
          <a:lstStyle/>
          <a:p>
            <a:pPr marL="114300" indent="0">
              <a:buNone/>
            </a:pPr>
            <a:r>
              <a:rPr lang="en-GB" sz="1600" b="1" dirty="0"/>
              <a:t>Software Performance Engineering</a:t>
            </a:r>
            <a:r>
              <a:rPr lang="en-GB" sz="1600" dirty="0"/>
              <a:t> was previously expensive, </a:t>
            </a:r>
            <a:r>
              <a:rPr lang="en-GB" sz="1600" dirty="0" err="1"/>
              <a:t>adhoc</a:t>
            </a:r>
            <a:r>
              <a:rPr lang="en-GB" sz="1600" dirty="0"/>
              <a:t>, ephemeral</a:t>
            </a:r>
          </a:p>
          <a:p>
            <a:pPr marL="114300" indent="0">
              <a:buNone/>
            </a:pPr>
            <a:r>
              <a:rPr lang="en-GB" sz="1600" dirty="0"/>
              <a:t>	</a:t>
            </a:r>
            <a:r>
              <a:rPr lang="en-GB" sz="1600" dirty="0">
                <a:sym typeface="Wingdings" panose="05000000000000000000" pitchFamily="2" charset="2"/>
              </a:rPr>
              <a:t> AI-automated performance engineering now tractable</a:t>
            </a:r>
          </a:p>
          <a:p>
            <a:pPr marL="114300" indent="0">
              <a:buNone/>
            </a:pPr>
            <a:r>
              <a:rPr lang="en-GB" sz="1600" dirty="0">
                <a:sym typeface="Wingdings" panose="05000000000000000000" pitchFamily="2" charset="2"/>
              </a:rPr>
              <a:t>	 Needs human expertise and oversight</a:t>
            </a:r>
          </a:p>
          <a:p>
            <a:pPr marL="114300" indent="0">
              <a:buNone/>
            </a:pPr>
            <a:r>
              <a:rPr lang="en-GB" sz="1600" dirty="0">
                <a:sym typeface="Wingdings" panose="05000000000000000000" pitchFamily="2" charset="2"/>
              </a:rPr>
              <a:t>	 </a:t>
            </a:r>
            <a:r>
              <a:rPr lang="en-GB" sz="1600" b="1" dirty="0">
                <a:sym typeface="Wingdings" panose="05000000000000000000" pitchFamily="2" charset="2"/>
              </a:rPr>
              <a:t>Good work that was too expensive to do</a:t>
            </a:r>
          </a:p>
          <a:p>
            <a:pPr marL="114300" indent="0">
              <a:buNone/>
            </a:pPr>
            <a:endParaRPr lang="en-GB" sz="1600" dirty="0">
              <a:sym typeface="Wingdings" panose="05000000000000000000" pitchFamily="2" charset="2"/>
            </a:endParaRPr>
          </a:p>
          <a:p>
            <a:pPr marL="114300" indent="0">
              <a:buNone/>
            </a:pPr>
            <a:r>
              <a:rPr lang="en-GB" sz="1600" b="1" dirty="0">
                <a:sym typeface="Wingdings" panose="05000000000000000000" pitchFamily="2" charset="2"/>
              </a:rPr>
              <a:t>Formal Verification </a:t>
            </a:r>
            <a:r>
              <a:rPr lang="en-GB" sz="1600" dirty="0">
                <a:sym typeface="Wingdings" panose="05000000000000000000" pitchFamily="2" charset="2"/>
              </a:rPr>
              <a:t>was previously very expensive, rare</a:t>
            </a:r>
          </a:p>
          <a:p>
            <a:pPr marL="114300" indent="0">
              <a:buNone/>
            </a:pPr>
            <a:r>
              <a:rPr lang="en-GB" sz="1600" dirty="0">
                <a:sym typeface="Wingdings" panose="05000000000000000000" pitchFamily="2" charset="2"/>
              </a:rPr>
              <a:t>	 AI-automated formal verification now looking tractable</a:t>
            </a:r>
          </a:p>
          <a:p>
            <a:pPr marL="114300" indent="0">
              <a:buNone/>
            </a:pPr>
            <a:r>
              <a:rPr lang="en-GB" sz="1600" dirty="0">
                <a:sym typeface="Wingdings" panose="05000000000000000000" pitchFamily="2" charset="2"/>
              </a:rPr>
              <a:t>	 100x less expensive</a:t>
            </a:r>
          </a:p>
          <a:p>
            <a:pPr marL="114300" indent="0">
              <a:buNone/>
            </a:pPr>
            <a:r>
              <a:rPr lang="en-GB" sz="1600" dirty="0">
                <a:sym typeface="Wingdings" panose="05000000000000000000" pitchFamily="2" charset="2"/>
              </a:rPr>
              <a:t>	 Needs human expertise and oversight</a:t>
            </a:r>
          </a:p>
          <a:p>
            <a:pPr marL="114300" indent="0">
              <a:buNone/>
            </a:pPr>
            <a:br>
              <a:rPr lang="en-GB" sz="1600" b="1" dirty="0">
                <a:sym typeface="Wingdings" panose="05000000000000000000" pitchFamily="2" charset="2"/>
              </a:rPr>
            </a:br>
            <a:r>
              <a:rPr lang="en-GB" sz="1600" b="1" dirty="0">
                <a:sym typeface="Wingdings" panose="05000000000000000000" pitchFamily="2" charset="2"/>
              </a:rPr>
              <a:t>Software Maintenance </a:t>
            </a:r>
            <a:r>
              <a:rPr lang="en-GB" sz="1600" dirty="0">
                <a:sym typeface="Wingdings" panose="05000000000000000000" pitchFamily="2" charset="2"/>
              </a:rPr>
              <a:t>was previously very expensive, needed experts</a:t>
            </a:r>
          </a:p>
          <a:p>
            <a:pPr marL="114300" indent="0">
              <a:buNone/>
            </a:pPr>
            <a:r>
              <a:rPr lang="en-GB" sz="1600" dirty="0">
                <a:sym typeface="Wingdings" panose="05000000000000000000" pitchFamily="2" charset="2"/>
              </a:rPr>
              <a:t>	 AI-assisted software maintenance now tractable</a:t>
            </a:r>
          </a:p>
          <a:p>
            <a:pPr marL="114300" indent="0">
              <a:buNone/>
            </a:pPr>
            <a:r>
              <a:rPr lang="en-GB" sz="1600" dirty="0">
                <a:sym typeface="Wingdings" panose="05000000000000000000" pitchFamily="2" charset="2"/>
              </a:rPr>
              <a:t>	 20x(?) less expensive</a:t>
            </a:r>
          </a:p>
          <a:p>
            <a:pPr marL="114300" indent="0">
              <a:buNone/>
            </a:pPr>
            <a:r>
              <a:rPr lang="en-GB" sz="1600" dirty="0">
                <a:sym typeface="Wingdings" panose="05000000000000000000" pitchFamily="2" charset="2"/>
              </a:rPr>
              <a:t>	 Needs human expertise and oversight</a:t>
            </a:r>
            <a:endParaRPr lang="en-GB" sz="1600" dirty="0"/>
          </a:p>
        </p:txBody>
      </p:sp>
    </p:spTree>
    <p:extLst>
      <p:ext uri="{BB962C8B-B14F-4D97-AF65-F5344CB8AC3E}">
        <p14:creationId xmlns:p14="http://schemas.microsoft.com/office/powerpoint/2010/main" val="40655587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D3DD4AF7-103D-7395-56FD-029D9694EE01}"/>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3D384A93-D7A1-10AA-961C-CD66FDD420CB}"/>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Demo – Repo Assist</a:t>
            </a:r>
            <a:endParaRPr dirty="0"/>
          </a:p>
        </p:txBody>
      </p:sp>
    </p:spTree>
    <p:extLst>
      <p:ext uri="{BB962C8B-B14F-4D97-AF65-F5344CB8AC3E}">
        <p14:creationId xmlns:p14="http://schemas.microsoft.com/office/powerpoint/2010/main" val="881573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68" name="Google Shape;268;p4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“What will coding with AI look like in the future?”</a:t>
            </a:r>
            <a:endParaRPr sz="2200" dirty="0"/>
          </a:p>
          <a:p>
            <a:pPr marL="457200" lvl="0" indent="-347345" algn="l" rtl="0">
              <a:spcBef>
                <a:spcPts val="1200"/>
              </a:spcBef>
              <a:spcAft>
                <a:spcPts val="0"/>
              </a:spcAft>
              <a:buSzPct val="100000"/>
              <a:buAutoNum type="arabicPeriod"/>
            </a:pPr>
            <a:r>
              <a:rPr lang="en" sz="2200" b="1" dirty="0"/>
              <a:t>Pinpoint, task-oriented and automated tools</a:t>
            </a:r>
            <a:r>
              <a:rPr lang="en" sz="2200" dirty="0"/>
              <a:t> will be everywhere</a:t>
            </a:r>
            <a:endParaRPr sz="2200" dirty="0"/>
          </a:p>
          <a:p>
            <a:pPr marL="457200" lvl="0" indent="-347345" algn="l" rtl="0">
              <a:spcBef>
                <a:spcPts val="0"/>
              </a:spcBef>
              <a:spcAft>
                <a:spcPts val="0"/>
              </a:spcAft>
              <a:buSzPct val="100000"/>
              <a:buAutoNum type="arabicPeriod"/>
            </a:pPr>
            <a:r>
              <a:rPr lang="en" sz="2200" b="1" dirty="0"/>
              <a:t>Depth knowledge, technical description, guidance, expertise, rapid exploration</a:t>
            </a:r>
            <a:r>
              <a:rPr lang="en" sz="2200" dirty="0"/>
              <a:t> become key</a:t>
            </a:r>
            <a:endParaRPr sz="2200" b="1" dirty="0"/>
          </a:p>
          <a:p>
            <a:pPr marL="457200" lvl="0" indent="-347345" algn="l" rtl="0">
              <a:spcBef>
                <a:spcPts val="0"/>
              </a:spcBef>
              <a:spcAft>
                <a:spcPts val="0"/>
              </a:spcAft>
              <a:buSzPct val="100000"/>
              <a:buAutoNum type="arabicPeriod"/>
            </a:pPr>
            <a:r>
              <a:rPr lang="en" sz="2200" b="1" dirty="0"/>
              <a:t>Requirements</a:t>
            </a:r>
            <a:r>
              <a:rPr lang="en" sz="2200" dirty="0"/>
              <a:t>, </a:t>
            </a:r>
            <a:r>
              <a:rPr lang="en" sz="2200" b="1" dirty="0"/>
              <a:t>validation</a:t>
            </a:r>
            <a:r>
              <a:rPr lang="en" sz="2200" dirty="0"/>
              <a:t>, </a:t>
            </a:r>
            <a:r>
              <a:rPr lang="en" sz="2200" b="1" dirty="0"/>
              <a:t>design</a:t>
            </a:r>
            <a:r>
              <a:rPr lang="en" sz="2200" dirty="0"/>
              <a:t>, </a:t>
            </a:r>
            <a:r>
              <a:rPr lang="en" sz="2200" b="1" dirty="0"/>
              <a:t>maintainability</a:t>
            </a:r>
            <a:r>
              <a:rPr lang="en" sz="2200" dirty="0"/>
              <a:t>, </a:t>
            </a:r>
            <a:r>
              <a:rPr lang="en" sz="2200" b="1" dirty="0"/>
              <a:t>improvement</a:t>
            </a:r>
            <a:r>
              <a:rPr lang="en" sz="2200" dirty="0"/>
              <a:t>, </a:t>
            </a:r>
            <a:r>
              <a:rPr lang="en" sz="2200" b="1" dirty="0"/>
              <a:t>security </a:t>
            </a:r>
            <a:r>
              <a:rPr lang="en" sz="2200" dirty="0"/>
              <a:t>will be partially automated</a:t>
            </a:r>
            <a:endParaRPr sz="2200" dirty="0"/>
          </a:p>
        </p:txBody>
      </p:sp>
    </p:spTree>
    <p:extLst>
      <p:ext uri="{BB962C8B-B14F-4D97-AF65-F5344CB8AC3E}">
        <p14:creationId xmlns:p14="http://schemas.microsoft.com/office/powerpoint/2010/main" val="1261541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74" name="Google Shape;274;p4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“Does AI mean that code will be obsolete soon?”</a:t>
            </a:r>
            <a:endParaRPr sz="2200" dirty="0"/>
          </a:p>
          <a:p>
            <a:pPr marL="457200" lvl="0" indent="-368300" algn="l" rtl="0">
              <a:spcBef>
                <a:spcPts val="1200"/>
              </a:spcBef>
              <a:spcAft>
                <a:spcPts val="0"/>
              </a:spcAft>
              <a:buSzPts val="2200"/>
              <a:buAutoNum type="arabicPeriod"/>
            </a:pPr>
            <a:r>
              <a:rPr lang="en" sz="2200" dirty="0"/>
              <a:t>No! Code will largely remain the record of ground truth</a:t>
            </a:r>
            <a:endParaRPr sz="2200" dirty="0"/>
          </a:p>
          <a:p>
            <a:pPr marL="457200" lvl="0" indent="-368300" algn="l" rtl="0">
              <a:spcBef>
                <a:spcPts val="0"/>
              </a:spcBef>
              <a:spcAft>
                <a:spcPts val="0"/>
              </a:spcAft>
              <a:buSzPts val="2200"/>
              <a:buAutoNum type="arabicPeriod"/>
            </a:pPr>
            <a:r>
              <a:rPr lang="en" sz="2200" dirty="0"/>
              <a:t>But development without AI will not be productive</a:t>
            </a:r>
            <a:endParaRPr sz="2200" dirty="0"/>
          </a:p>
          <a:p>
            <a:pPr marL="457200" lvl="0" indent="-368300" algn="l" rtl="0">
              <a:spcBef>
                <a:spcPts val="0"/>
              </a:spcBef>
              <a:spcAft>
                <a:spcPts val="0"/>
              </a:spcAft>
              <a:buSzPts val="2200"/>
              <a:buAutoNum type="arabicPeriod"/>
            </a:pPr>
            <a:r>
              <a:rPr lang="en" sz="2200" b="1" dirty="0"/>
              <a:t>Depth knowledge </a:t>
            </a:r>
            <a:r>
              <a:rPr lang="en" sz="2200" dirty="0"/>
              <a:t>will be critical </a:t>
            </a:r>
          </a:p>
          <a:p>
            <a:pPr lvl="1" indent="-368300">
              <a:buSzPts val="2200"/>
              <a:buFont typeface="Arial" panose="020B0604020202020204" pitchFamily="34" charset="0"/>
              <a:buChar char="•"/>
            </a:pPr>
            <a:r>
              <a:rPr lang="en" sz="1800" dirty="0"/>
              <a:t>Coding, quality, delivery, release, project management, security, networking, + all computer science</a:t>
            </a:r>
            <a:endParaRPr sz="1800" dirty="0"/>
          </a:p>
        </p:txBody>
      </p:sp>
    </p:spTree>
    <p:extLst>
      <p:ext uri="{BB962C8B-B14F-4D97-AF65-F5344CB8AC3E}">
        <p14:creationId xmlns:p14="http://schemas.microsoft.com/office/powerpoint/2010/main" val="1258066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80" name="Google Shape;280;p4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“How should I use AI tools in software development?”</a:t>
            </a:r>
            <a:endParaRPr sz="2200" dirty="0"/>
          </a:p>
          <a:p>
            <a:pPr marL="457200" lvl="0" indent="-368300" algn="l" rtl="0">
              <a:spcBef>
                <a:spcPts val="1200"/>
              </a:spcBef>
              <a:spcAft>
                <a:spcPts val="0"/>
              </a:spcAft>
              <a:buSzPts val="2200"/>
              <a:buAutoNum type="arabicPeriod"/>
            </a:pPr>
            <a:r>
              <a:rPr lang="en" sz="2200" b="1" dirty="0"/>
              <a:t>Learn</a:t>
            </a:r>
            <a:r>
              <a:rPr lang="en" sz="2200" dirty="0"/>
              <a:t> how to be a great programmer </a:t>
            </a:r>
            <a:r>
              <a:rPr lang="en" sz="2200" b="1" dirty="0"/>
              <a:t>without AI</a:t>
            </a:r>
            <a:endParaRPr sz="2200" b="1" dirty="0"/>
          </a:p>
          <a:p>
            <a:pPr marL="457200" lvl="0" indent="-368300" algn="l" rtl="0">
              <a:spcBef>
                <a:spcPts val="0"/>
              </a:spcBef>
              <a:spcAft>
                <a:spcPts val="0"/>
              </a:spcAft>
              <a:buSzPts val="2200"/>
              <a:buAutoNum type="arabicPeriod"/>
            </a:pPr>
            <a:r>
              <a:rPr lang="en" sz="2200" b="1" dirty="0"/>
              <a:t>Embrace </a:t>
            </a:r>
            <a:r>
              <a:rPr lang="en" sz="2200" dirty="0"/>
              <a:t>AI-assisted pinpoint, task-oriented, productivity, automation tools</a:t>
            </a:r>
          </a:p>
          <a:p>
            <a:pPr marL="457200" lvl="0" indent="-368300" algn="l" rtl="0">
              <a:spcBef>
                <a:spcPts val="0"/>
              </a:spcBef>
              <a:spcAft>
                <a:spcPts val="0"/>
              </a:spcAft>
              <a:buSzPts val="2200"/>
              <a:buAutoNum type="arabicPeriod"/>
            </a:pPr>
            <a:r>
              <a:rPr lang="en" sz="2200" b="1" dirty="0"/>
              <a:t>Learn </a:t>
            </a:r>
            <a:r>
              <a:rPr lang="en" sz="2200" dirty="0"/>
              <a:t>how all these tools work</a:t>
            </a:r>
            <a:endParaRPr sz="2200" dirty="0"/>
          </a:p>
        </p:txBody>
      </p:sp>
    </p:spTree>
    <p:extLst>
      <p:ext uri="{BB962C8B-B14F-4D97-AF65-F5344CB8AC3E}">
        <p14:creationId xmlns:p14="http://schemas.microsoft.com/office/powerpoint/2010/main" val="1894572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5"/>
          <p:cNvSpPr txBox="1">
            <a:spLocks noGrp="1"/>
          </p:cNvSpPr>
          <p:nvPr>
            <p:ph type="body" idx="1"/>
          </p:nvPr>
        </p:nvSpPr>
        <p:spPr>
          <a:xfrm>
            <a:off x="514525" y="973300"/>
            <a:ext cx="4992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Coding is already magical, AI coding gives you wild powers</a:t>
            </a:r>
            <a:br>
              <a:rPr lang="en" dirty="0"/>
            </a:br>
            <a:endParaRPr dirty="0"/>
          </a:p>
          <a:p>
            <a:pPr marL="457200" lvl="0" indent="-342900" algn="l" rtl="0">
              <a:spcBef>
                <a:spcPts val="0"/>
              </a:spcBef>
              <a:spcAft>
                <a:spcPts val="0"/>
              </a:spcAft>
              <a:buSzPts val="1800"/>
              <a:buChar char="●"/>
            </a:pPr>
            <a:r>
              <a:rPr lang="en" dirty="0"/>
              <a:t>These powers are simple to use but need expert-level guidance</a:t>
            </a:r>
            <a:br>
              <a:rPr lang="en" dirty="0"/>
            </a:br>
            <a:endParaRPr dirty="0"/>
          </a:p>
          <a:p>
            <a:pPr marL="457200" lvl="0" indent="-342900" algn="l" rtl="0">
              <a:spcBef>
                <a:spcPts val="0"/>
              </a:spcBef>
              <a:spcAft>
                <a:spcPts val="0"/>
              </a:spcAft>
              <a:buSzPts val="1800"/>
              <a:buChar char="●"/>
            </a:pPr>
            <a:r>
              <a:rPr lang="en" dirty="0"/>
              <a:t>AI is changing coding fast, and good developers embrace some of it</a:t>
            </a:r>
            <a:endParaRPr dirty="0"/>
          </a:p>
          <a:p>
            <a:pPr marL="0" lvl="0" indent="0" algn="l" rtl="0">
              <a:spcBef>
                <a:spcPts val="1200"/>
              </a:spcBef>
              <a:spcAft>
                <a:spcPts val="1200"/>
              </a:spcAft>
              <a:buNone/>
            </a:pPr>
            <a:r>
              <a:rPr lang="en" u="sng" dirty="0">
                <a:solidFill>
                  <a:schemeClr val="hlink"/>
                </a:solidFill>
                <a:hlinkClick r:id="rId3"/>
              </a:rPr>
              <a:t>dsyme@github.com</a:t>
            </a:r>
            <a:r>
              <a:rPr lang="en" dirty="0"/>
              <a:t> </a:t>
            </a:r>
            <a:r>
              <a:rPr lang="en" u="sng" dirty="0">
                <a:solidFill>
                  <a:schemeClr val="hlink"/>
                </a:solidFill>
                <a:hlinkClick r:id="rId4"/>
              </a:rPr>
              <a:t>@dsyme.bsky.social</a:t>
            </a:r>
            <a:r>
              <a:rPr lang="en" dirty="0"/>
              <a:t> </a:t>
            </a:r>
            <a:endParaRPr dirty="0"/>
          </a:p>
        </p:txBody>
      </p:sp>
      <p:sp>
        <p:nvSpPr>
          <p:cNvPr id="286" name="Google Shape;286;p4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pic>
        <p:nvPicPr>
          <p:cNvPr id="287" name="Google Shape;287;p45"/>
          <p:cNvPicPr preferRelativeResize="0"/>
          <p:nvPr/>
        </p:nvPicPr>
        <p:blipFill>
          <a:blip r:embed="rId5">
            <a:alphaModFix/>
          </a:blip>
          <a:stretch>
            <a:fillRect/>
          </a:stretch>
        </p:blipFill>
        <p:spPr>
          <a:xfrm>
            <a:off x="5687600" y="1017725"/>
            <a:ext cx="3363050" cy="3651650"/>
          </a:xfrm>
          <a:prstGeom prst="rect">
            <a:avLst/>
          </a:prstGeom>
          <a:noFill/>
          <a:ln>
            <a:noFill/>
          </a:ln>
        </p:spPr>
      </p:pic>
    </p:spTree>
    <p:extLst>
      <p:ext uri="{BB962C8B-B14F-4D97-AF65-F5344CB8AC3E}">
        <p14:creationId xmlns:p14="http://schemas.microsoft.com/office/powerpoint/2010/main" val="3392530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6"/>
          <p:cNvSpPr/>
          <p:nvPr/>
        </p:nvSpPr>
        <p:spPr>
          <a:xfrm>
            <a:off x="3599698" y="1116375"/>
            <a:ext cx="1944600" cy="1944600"/>
          </a:xfrm>
          <a:prstGeom prst="ellipse">
            <a:avLst/>
          </a:prstGeom>
          <a:noFill/>
          <a:ln w="28575" cap="flat" cmpd="sng">
            <a:solidFill>
              <a:srgbClr val="83E3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46">
            <a:hlinkClick r:id="rId3"/>
          </p:cNvPr>
          <p:cNvPicPr preferRelativeResize="0"/>
          <p:nvPr/>
        </p:nvPicPr>
        <p:blipFill>
          <a:blip r:embed="rId4">
            <a:alphaModFix/>
          </a:blip>
          <a:stretch>
            <a:fillRect/>
          </a:stretch>
        </p:blipFill>
        <p:spPr>
          <a:xfrm>
            <a:off x="3937503" y="1587657"/>
            <a:ext cx="1418924" cy="1002050"/>
          </a:xfrm>
          <a:prstGeom prst="rect">
            <a:avLst/>
          </a:prstGeom>
          <a:noFill/>
          <a:ln>
            <a:noFill/>
          </a:ln>
        </p:spPr>
      </p:pic>
      <p:sp>
        <p:nvSpPr>
          <p:cNvPr id="294" name="Google Shape;294;p46"/>
          <p:cNvSpPr txBox="1"/>
          <p:nvPr/>
        </p:nvSpPr>
        <p:spPr>
          <a:xfrm>
            <a:off x="3593550" y="3120970"/>
            <a:ext cx="1956900" cy="41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rgbClr val="83E3D9"/>
                </a:solidFill>
                <a:latin typeface="Inter"/>
                <a:ea typeface="Inter"/>
                <a:cs typeface="Inter"/>
                <a:sym typeface="Inter"/>
              </a:rPr>
              <a:t>GitHub Next</a:t>
            </a:r>
            <a:endParaRPr sz="2000" b="1">
              <a:solidFill>
                <a:srgbClr val="83E3D9"/>
              </a:solidFill>
              <a:latin typeface="Inter"/>
              <a:ea typeface="Inter"/>
              <a:cs typeface="Inter"/>
              <a:sym typeface="Inter"/>
            </a:endParaRPr>
          </a:p>
        </p:txBody>
      </p:sp>
      <p:sp>
        <p:nvSpPr>
          <p:cNvPr id="295" name="Google Shape;295;p46"/>
          <p:cNvSpPr txBox="1"/>
          <p:nvPr/>
        </p:nvSpPr>
        <p:spPr>
          <a:xfrm>
            <a:off x="3528299" y="3564300"/>
            <a:ext cx="2087400" cy="5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Inter"/>
                <a:ea typeface="Inter"/>
                <a:cs typeface="Inter"/>
                <a:sym typeface="Inter"/>
              </a:rPr>
              <a:t>Investigating the future of software development</a:t>
            </a:r>
            <a:endParaRPr sz="1200">
              <a:solidFill>
                <a:schemeClr val="dk1"/>
              </a:solidFill>
              <a:latin typeface="Inter"/>
              <a:ea typeface="Inter"/>
              <a:cs typeface="Inter"/>
              <a:sym typeface="Inter"/>
            </a:endParaRPr>
          </a:p>
          <a:p>
            <a:pPr marL="0" lvl="0" indent="0" algn="ctr" rtl="0">
              <a:spcBef>
                <a:spcPts val="0"/>
              </a:spcBef>
              <a:spcAft>
                <a:spcPts val="0"/>
              </a:spcAft>
              <a:buNone/>
            </a:pPr>
            <a:endParaRPr sz="1200">
              <a:solidFill>
                <a:srgbClr val="8B939E"/>
              </a:solidFill>
            </a:endParaRPr>
          </a:p>
          <a:p>
            <a:pPr marL="0" lvl="0" indent="0" algn="ctr" rtl="0">
              <a:spcBef>
                <a:spcPts val="0"/>
              </a:spcBef>
              <a:spcAft>
                <a:spcPts val="0"/>
              </a:spcAft>
              <a:buNone/>
            </a:pPr>
            <a:r>
              <a:rPr lang="en" sz="1000" u="sng">
                <a:solidFill>
                  <a:schemeClr val="hlink"/>
                </a:solidFill>
                <a:hlinkClick r:id="rId3"/>
              </a:rPr>
              <a:t>githubnext.com</a:t>
            </a:r>
            <a:endParaRPr sz="1000">
              <a:solidFill>
                <a:schemeClr val="dk1"/>
              </a:solidFill>
            </a:endParaRPr>
          </a:p>
        </p:txBody>
      </p:sp>
      <p:sp>
        <p:nvSpPr>
          <p:cNvPr id="296" name="Google Shape;296;p4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97" name="Google Shape;297;p4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extLst>
      <p:ext uri="{BB962C8B-B14F-4D97-AF65-F5344CB8AC3E}">
        <p14:creationId xmlns:p14="http://schemas.microsoft.com/office/powerpoint/2010/main" val="3080516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General lessons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Lesson: A small team can build a big thing</a:t>
            </a:r>
            <a:endParaRPr/>
          </a:p>
        </p:txBody>
      </p:sp>
      <p:pic>
        <p:nvPicPr>
          <p:cNvPr id="218" name="Google Shape;218;p35"/>
          <p:cNvPicPr preferRelativeResize="0"/>
          <p:nvPr/>
        </p:nvPicPr>
        <p:blipFill>
          <a:blip r:embed="rId3">
            <a:alphaModFix/>
          </a:blip>
          <a:stretch>
            <a:fillRect/>
          </a:stretch>
        </p:blipFill>
        <p:spPr>
          <a:xfrm>
            <a:off x="2231875" y="1017725"/>
            <a:ext cx="4680238" cy="3820976"/>
          </a:xfrm>
          <a:prstGeom prst="rect">
            <a:avLst/>
          </a:prstGeom>
          <a:noFill/>
          <a:ln>
            <a:noFill/>
          </a:ln>
        </p:spPr>
      </p:pic>
      <p:sp>
        <p:nvSpPr>
          <p:cNvPr id="219" name="Google Shape;219;p3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Lesson: UX is critical in </a:t>
            </a:r>
            <a:r>
              <a:rPr lang="en" strike="sngStrike"/>
              <a:t>AI</a:t>
            </a:r>
            <a:r>
              <a:rPr lang="en"/>
              <a:t> developer tools</a:t>
            </a:r>
            <a:endParaRPr/>
          </a:p>
        </p:txBody>
      </p:sp>
      <p:pic>
        <p:nvPicPr>
          <p:cNvPr id="240" name="Google Shape;240;p38"/>
          <p:cNvPicPr preferRelativeResize="0"/>
          <p:nvPr/>
        </p:nvPicPr>
        <p:blipFill>
          <a:blip r:embed="rId3">
            <a:alphaModFix/>
          </a:blip>
          <a:stretch>
            <a:fillRect/>
          </a:stretch>
        </p:blipFill>
        <p:spPr>
          <a:xfrm>
            <a:off x="2661512" y="1111900"/>
            <a:ext cx="3820977" cy="3820977"/>
          </a:xfrm>
          <a:prstGeom prst="rect">
            <a:avLst/>
          </a:prstGeom>
          <a:noFill/>
          <a:ln>
            <a:noFill/>
          </a:ln>
        </p:spPr>
      </p:pic>
      <p:sp>
        <p:nvSpPr>
          <p:cNvPr id="241" name="Google Shape;241;p38"/>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0"/>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prototype</a:t>
            </a:r>
            <a:endParaRPr/>
          </a:p>
        </p:txBody>
      </p:sp>
      <p:pic>
        <p:nvPicPr>
          <p:cNvPr id="324" name="Google Shape;324;p50"/>
          <p:cNvPicPr preferRelativeResize="0"/>
          <p:nvPr/>
        </p:nvPicPr>
        <p:blipFill>
          <a:blip r:embed="rId3">
            <a:alphaModFix/>
          </a:blip>
          <a:stretch>
            <a:fillRect/>
          </a:stretch>
        </p:blipFill>
        <p:spPr>
          <a:xfrm>
            <a:off x="1393550" y="1082775"/>
            <a:ext cx="6356910" cy="3820975"/>
          </a:xfrm>
          <a:prstGeom prst="rect">
            <a:avLst/>
          </a:prstGeom>
          <a:noFill/>
          <a:ln>
            <a:noFill/>
          </a:ln>
        </p:spPr>
      </p:pic>
      <p:sp>
        <p:nvSpPr>
          <p:cNvPr id="325" name="Google Shape;325;p50"/>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v1</a:t>
            </a:r>
            <a:endParaRPr/>
          </a:p>
        </p:txBody>
      </p:sp>
      <p:pic>
        <p:nvPicPr>
          <p:cNvPr id="354" name="Google Shape;354;p52"/>
          <p:cNvPicPr preferRelativeResize="0"/>
          <p:nvPr/>
        </p:nvPicPr>
        <p:blipFill>
          <a:blip r:embed="rId3">
            <a:alphaModFix/>
          </a:blip>
          <a:stretch>
            <a:fillRect/>
          </a:stretch>
        </p:blipFill>
        <p:spPr>
          <a:xfrm>
            <a:off x="1175575" y="1121600"/>
            <a:ext cx="6792847" cy="3820977"/>
          </a:xfrm>
          <a:prstGeom prst="rect">
            <a:avLst/>
          </a:prstGeom>
          <a:noFill/>
          <a:ln>
            <a:noFill/>
          </a:ln>
        </p:spPr>
      </p:pic>
      <p:sp>
        <p:nvSpPr>
          <p:cNvPr id="355" name="Google Shape;355;p5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v2</a:t>
            </a:r>
            <a:endParaRPr/>
          </a:p>
        </p:txBody>
      </p:sp>
      <p:pic>
        <p:nvPicPr>
          <p:cNvPr id="368" name="Google Shape;368;p54"/>
          <p:cNvPicPr preferRelativeResize="0"/>
          <p:nvPr/>
        </p:nvPicPr>
        <p:blipFill>
          <a:blip r:embed="rId3">
            <a:alphaModFix/>
          </a:blip>
          <a:stretch>
            <a:fillRect/>
          </a:stretch>
        </p:blipFill>
        <p:spPr>
          <a:xfrm>
            <a:off x="1486288" y="1121600"/>
            <a:ext cx="6171418" cy="3820975"/>
          </a:xfrm>
          <a:prstGeom prst="rect">
            <a:avLst/>
          </a:prstGeom>
          <a:noFill/>
          <a:ln>
            <a:noFill/>
          </a:ln>
        </p:spPr>
      </p:pic>
      <p:sp>
        <p:nvSpPr>
          <p:cNvPr id="369" name="Google Shape;369;p5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today</a:t>
            </a:r>
            <a:endParaRPr/>
          </a:p>
        </p:txBody>
      </p:sp>
      <p:pic>
        <p:nvPicPr>
          <p:cNvPr id="375" name="Google Shape;375;p55"/>
          <p:cNvPicPr preferRelativeResize="0"/>
          <p:nvPr/>
        </p:nvPicPr>
        <p:blipFill rotWithShape="1">
          <a:blip r:embed="rId3">
            <a:alphaModFix/>
          </a:blip>
          <a:srcRect t="8240"/>
          <a:stretch/>
        </p:blipFill>
        <p:spPr>
          <a:xfrm>
            <a:off x="1281550" y="1106325"/>
            <a:ext cx="6580900" cy="3771349"/>
          </a:xfrm>
          <a:prstGeom prst="rect">
            <a:avLst/>
          </a:prstGeom>
          <a:noFill/>
          <a:ln>
            <a:noFill/>
          </a:ln>
        </p:spPr>
      </p:pic>
      <p:sp>
        <p:nvSpPr>
          <p:cNvPr id="376" name="Google Shape;376;p5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TotalTime>
  <Words>4152</Words>
  <Application>Microsoft Office PowerPoint</Application>
  <PresentationFormat>On-screen Show (16:9)</PresentationFormat>
  <Paragraphs>462</Paragraphs>
  <Slides>53</Slides>
  <Notes>53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Inter</vt:lpstr>
      <vt:lpstr>Wingdings</vt:lpstr>
      <vt:lpstr>Roboto</vt:lpstr>
      <vt:lpstr>Courier New</vt:lpstr>
      <vt:lpstr>Arial</vt:lpstr>
      <vt:lpstr>Inter Black</vt:lpstr>
      <vt:lpstr>Inter Light</vt:lpstr>
      <vt:lpstr>Simple Dark</vt:lpstr>
      <vt:lpstr>AI-assisted Software Development Trends and Themes</vt:lpstr>
      <vt:lpstr>GitHub Next Research, Build, Balance, Ship, Learn </vt:lpstr>
      <vt:lpstr>PowerPoint Presentation</vt:lpstr>
      <vt:lpstr>Your Big Questions!</vt:lpstr>
      <vt:lpstr>We live in the most incredible of times</vt:lpstr>
      <vt:lpstr>We live in the most incredible of times</vt:lpstr>
      <vt:lpstr>AI Dev Tools are changing fast</vt:lpstr>
      <vt:lpstr>PowerPoint Presentation</vt:lpstr>
      <vt:lpstr>PowerPoint Presentation</vt:lpstr>
      <vt:lpstr>The Big Trends I’m seeing in AI Dev Tooling</vt:lpstr>
      <vt:lpstr>Theme 1: Pinpoint Surgery</vt:lpstr>
      <vt:lpstr>Other pinpoint tools</vt:lpstr>
      <vt:lpstr>Other pinpoint tools</vt:lpstr>
      <vt:lpstr>Theme 2: From Pinpoint Surgery to Tasks</vt:lpstr>
      <vt:lpstr>Theme 2: From Pinpoint Surgery to Tasks </vt:lpstr>
      <vt:lpstr>Theme 2: From Pinpoint Surgery to Tasks </vt:lpstr>
      <vt:lpstr>Theme 2: From Pinpoint Surgery to Tasks </vt:lpstr>
      <vt:lpstr>Theme 2: From Pinpoint Surgery to Tasks </vt:lpstr>
      <vt:lpstr>Theme 2: From Pinpoint Surgery to Tasks </vt:lpstr>
      <vt:lpstr>Theme 2: From Pinpoint Surgery to Tasks </vt:lpstr>
      <vt:lpstr>Theme 3: Automation with SWE-Agents</vt:lpstr>
      <vt:lpstr>Demo - Repo Tasks </vt:lpstr>
      <vt:lpstr>Theme 4: AI-Assisted App Development</vt:lpstr>
      <vt:lpstr>Theme 4: AI-Assisted App Development</vt:lpstr>
      <vt:lpstr>Continuous AI</vt:lpstr>
      <vt:lpstr>Theme 5: Continuous AI</vt:lpstr>
      <vt:lpstr>Inner Loop, Outer Loop</vt:lpstr>
      <vt:lpstr>Continuous AI implemented by Agentic Workflows  </vt:lpstr>
      <vt:lpstr>Example - Weekly Researcher</vt:lpstr>
      <vt:lpstr>Example - Issue Triage</vt:lpstr>
      <vt:lpstr>Agentic Workflows - Getting Started</vt:lpstr>
      <vt:lpstr>Agentic Workflows - Safety, Safety, Safety</vt:lpstr>
      <vt:lpstr>Continuous AI implemented by Agentic Workflows  enables Agent Zoo </vt:lpstr>
      <vt:lpstr>Continuous AI implemented by Agentic Workflows  enables Continuous Engineering </vt:lpstr>
      <vt:lpstr>Theme 5: The Repository as an Automated Software Factory</vt:lpstr>
      <vt:lpstr>Example: Proactive fault investigation</vt:lpstr>
      <vt:lpstr>Example: Continuous Documentation</vt:lpstr>
      <vt:lpstr>Continuous Perf Engineering: Linear, not Swarms</vt:lpstr>
      <vt:lpstr>Theme 6: New Futures, New Work</vt:lpstr>
      <vt:lpstr>Theme 6: New Futures, New Work</vt:lpstr>
      <vt:lpstr>Demo – Repo Assist</vt:lpstr>
      <vt:lpstr>My Answers!</vt:lpstr>
      <vt:lpstr>My Answers!</vt:lpstr>
      <vt:lpstr>My Answers!</vt:lpstr>
      <vt:lpstr>We live in the most incredible of times</vt:lpstr>
      <vt:lpstr>PowerPoint Presentation</vt:lpstr>
      <vt:lpstr>General lessons</vt:lpstr>
      <vt:lpstr>Lesson: A small team can build a big thing</vt:lpstr>
      <vt:lpstr>Lesson: UX is critical in AI developer tools</vt:lpstr>
      <vt:lpstr>Copilot Workspace UI prototype</vt:lpstr>
      <vt:lpstr>Copilot Workspace UI v1</vt:lpstr>
      <vt:lpstr>Copilot Workspace UI v2</vt:lpstr>
      <vt:lpstr>Copilot Workspace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Don Syme</cp:lastModifiedBy>
  <cp:revision>1</cp:revision>
  <dcterms:modified xsi:type="dcterms:W3CDTF">2026-04-23T04:51:36Z</dcterms:modified>
</cp:coreProperties>
</file>