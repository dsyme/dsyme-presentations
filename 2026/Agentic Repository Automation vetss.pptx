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32"/>
  </p:notesMasterIdLst>
  <p:sldIdLst>
    <p:sldId id="256" r:id="rId2"/>
    <p:sldId id="258" r:id="rId3"/>
    <p:sldId id="257" r:id="rId4"/>
    <p:sldId id="260" r:id="rId5"/>
    <p:sldId id="316" r:id="rId6"/>
    <p:sldId id="321" r:id="rId7"/>
    <p:sldId id="323" r:id="rId8"/>
    <p:sldId id="499" r:id="rId9"/>
    <p:sldId id="493" r:id="rId10"/>
    <p:sldId id="306" r:id="rId11"/>
    <p:sldId id="307" r:id="rId12"/>
    <p:sldId id="319" r:id="rId13"/>
    <p:sldId id="320" r:id="rId14"/>
    <p:sldId id="308" r:id="rId15"/>
    <p:sldId id="309" r:id="rId16"/>
    <p:sldId id="500" r:id="rId17"/>
    <p:sldId id="504" r:id="rId18"/>
    <p:sldId id="501" r:id="rId19"/>
    <p:sldId id="313" r:id="rId20"/>
    <p:sldId id="325" r:id="rId21"/>
    <p:sldId id="494" r:id="rId22"/>
    <p:sldId id="495" r:id="rId23"/>
    <p:sldId id="496" r:id="rId24"/>
    <p:sldId id="502" r:id="rId25"/>
    <p:sldId id="275" r:id="rId26"/>
    <p:sldId id="503" r:id="rId27"/>
    <p:sldId id="292" r:id="rId28"/>
    <p:sldId id="261" r:id="rId29"/>
    <p:sldId id="302" r:id="rId30"/>
    <p:sldId id="312" r:id="rId31"/>
  </p:sldIdLst>
  <p:sldSz cx="9144000" cy="5143500" type="screen16x9"/>
  <p:notesSz cx="6858000" cy="9144000"/>
  <p:embeddedFontLst>
    <p:embeddedFont>
      <p:font typeface="Inter" panose="020B0604020202020204" charset="0"/>
      <p:regular r:id="rId33"/>
      <p:bold r:id="rId34"/>
      <p:italic r:id="rId35"/>
      <p:boldItalic r:id="rId36"/>
    </p:embeddedFont>
    <p:embeddedFont>
      <p:font typeface="Inter Black" panose="020B0604020202020204" charset="0"/>
      <p:bold r:id="rId37"/>
      <p:boldItalic r:id="rId38"/>
    </p:embeddedFont>
    <p:embeddedFont>
      <p:font typeface="Inter Light" panose="020B0604020202020204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D689F-0883-4272-980F-E8503CA388E8}" v="5" dt="2026-05-12T13:46:24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 Syme" userId="dd9123c1e35c60ae" providerId="LiveId" clId="{558C6075-CD96-49CC-AC4E-EEE051D025B9}"/>
    <pc:docChg chg="undo custSel addSld delSld modSld sldOrd">
      <pc:chgData name="Don Syme" userId="dd9123c1e35c60ae" providerId="LiveId" clId="{558C6075-CD96-49CC-AC4E-EEE051D025B9}" dt="2026-05-12T13:47:08.275" v="156" actId="47"/>
      <pc:docMkLst>
        <pc:docMk/>
      </pc:docMkLst>
      <pc:sldChg chg="modSp mod">
        <pc:chgData name="Don Syme" userId="dd9123c1e35c60ae" providerId="LiveId" clId="{558C6075-CD96-49CC-AC4E-EEE051D025B9}" dt="2026-05-12T13:06:21.737" v="133" actId="20577"/>
        <pc:sldMkLst>
          <pc:docMk/>
          <pc:sldMk cId="0" sldId="256"/>
        </pc:sldMkLst>
        <pc:spChg chg="mod">
          <ac:chgData name="Don Syme" userId="dd9123c1e35c60ae" providerId="LiveId" clId="{558C6075-CD96-49CC-AC4E-EEE051D025B9}" dt="2026-05-12T13:06:21.737" v="133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delSp modSp mod ord">
        <pc:chgData name="Don Syme" userId="dd9123c1e35c60ae" providerId="LiveId" clId="{558C6075-CD96-49CC-AC4E-EEE051D025B9}" dt="2026-05-12T13:01:09.524" v="130" actId="1076"/>
        <pc:sldMkLst>
          <pc:docMk/>
          <pc:sldMk cId="0" sldId="258"/>
        </pc:sldMkLst>
        <pc:picChg chg="del">
          <ac:chgData name="Don Syme" userId="dd9123c1e35c60ae" providerId="LiveId" clId="{558C6075-CD96-49CC-AC4E-EEE051D025B9}" dt="2026-05-12T13:01:01.768" v="126" actId="478"/>
          <ac:picMkLst>
            <pc:docMk/>
            <pc:sldMk cId="0" sldId="258"/>
            <ac:picMk id="3" creationId="{59F8F2E1-A919-C058-3319-C733D3F1ABE0}"/>
          </ac:picMkLst>
        </pc:picChg>
        <pc:picChg chg="add mod">
          <ac:chgData name="Don Syme" userId="dd9123c1e35c60ae" providerId="LiveId" clId="{558C6075-CD96-49CC-AC4E-EEE051D025B9}" dt="2026-05-12T13:01:09.524" v="130" actId="1076"/>
          <ac:picMkLst>
            <pc:docMk/>
            <pc:sldMk cId="0" sldId="258"/>
            <ac:picMk id="4" creationId="{82845A66-85F3-E609-1AEB-AE75995B8C1A}"/>
          </ac:picMkLst>
        </pc:picChg>
      </pc:sldChg>
      <pc:sldChg chg="ord">
        <pc:chgData name="Don Syme" userId="dd9123c1e35c60ae" providerId="LiveId" clId="{558C6075-CD96-49CC-AC4E-EEE051D025B9}" dt="2026-05-12T12:48:32.248" v="99"/>
        <pc:sldMkLst>
          <pc:docMk/>
          <pc:sldMk cId="1577780490" sldId="275"/>
        </pc:sldMkLst>
      </pc:sldChg>
      <pc:sldChg chg="modSp mod">
        <pc:chgData name="Don Syme" userId="dd9123c1e35c60ae" providerId="LiveId" clId="{558C6075-CD96-49CC-AC4E-EEE051D025B9}" dt="2026-05-12T12:47:58.171" v="60" actId="20577"/>
        <pc:sldMkLst>
          <pc:docMk/>
          <pc:sldMk cId="0" sldId="309"/>
        </pc:sldMkLst>
        <pc:spChg chg="mod">
          <ac:chgData name="Don Syme" userId="dd9123c1e35c60ae" providerId="LiveId" clId="{558C6075-CD96-49CC-AC4E-EEE051D025B9}" dt="2026-05-12T12:47:58.171" v="60" actId="20577"/>
          <ac:spMkLst>
            <pc:docMk/>
            <pc:sldMk cId="0" sldId="309"/>
            <ac:spMk id="165" creationId="{00000000-0000-0000-0000-000000000000}"/>
          </ac:spMkLst>
        </pc:spChg>
      </pc:sldChg>
      <pc:sldChg chg="modSp mod">
        <pc:chgData name="Don Syme" userId="dd9123c1e35c60ae" providerId="LiveId" clId="{558C6075-CD96-49CC-AC4E-EEE051D025B9}" dt="2026-05-12T12:47:21.076" v="39" actId="20577"/>
        <pc:sldMkLst>
          <pc:docMk/>
          <pc:sldMk cId="0" sldId="319"/>
        </pc:sldMkLst>
        <pc:spChg chg="mod">
          <ac:chgData name="Don Syme" userId="dd9123c1e35c60ae" providerId="LiveId" clId="{558C6075-CD96-49CC-AC4E-EEE051D025B9}" dt="2026-05-12T12:47:21.076" v="39" actId="20577"/>
          <ac:spMkLst>
            <pc:docMk/>
            <pc:sldMk cId="0" sldId="319"/>
            <ac:spMk id="169" creationId="{00000000-0000-0000-0000-000000000000}"/>
          </ac:spMkLst>
        </pc:spChg>
      </pc:sldChg>
      <pc:sldChg chg="modSp del mod">
        <pc:chgData name="Don Syme" userId="dd9123c1e35c60ae" providerId="LiveId" clId="{558C6075-CD96-49CC-AC4E-EEE051D025B9}" dt="2026-05-12T13:47:08.275" v="156" actId="47"/>
        <pc:sldMkLst>
          <pc:docMk/>
          <pc:sldMk cId="2777867921" sldId="324"/>
        </pc:sldMkLst>
        <pc:spChg chg="mod">
          <ac:chgData name="Don Syme" userId="dd9123c1e35c60ae" providerId="LiveId" clId="{558C6075-CD96-49CC-AC4E-EEE051D025B9}" dt="2026-05-12T13:46:32.540" v="155" actId="20577"/>
          <ac:spMkLst>
            <pc:docMk/>
            <pc:sldMk cId="2777867921" sldId="324"/>
            <ac:spMk id="165" creationId="{17232C53-8453-AADA-17B5-592B19E9F2B5}"/>
          </ac:spMkLst>
        </pc:spChg>
      </pc:sldChg>
      <pc:sldChg chg="del">
        <pc:chgData name="Don Syme" userId="dd9123c1e35c60ae" providerId="LiveId" clId="{558C6075-CD96-49CC-AC4E-EEE051D025B9}" dt="2026-05-12T12:48:22.826" v="84" actId="47"/>
        <pc:sldMkLst>
          <pc:docMk/>
          <pc:sldMk cId="4218308811" sldId="497"/>
        </pc:sldMkLst>
      </pc:sldChg>
      <pc:sldChg chg="modSp add mod">
        <pc:chgData name="Don Syme" userId="dd9123c1e35c60ae" providerId="LiveId" clId="{558C6075-CD96-49CC-AC4E-EEE051D025B9}" dt="2026-05-12T12:47:52.262" v="49" actId="20577"/>
        <pc:sldMkLst>
          <pc:docMk/>
          <pc:sldMk cId="2039590126" sldId="500"/>
        </pc:sldMkLst>
        <pc:spChg chg="mod">
          <ac:chgData name="Don Syme" userId="dd9123c1e35c60ae" providerId="LiveId" clId="{558C6075-CD96-49CC-AC4E-EEE051D025B9}" dt="2026-05-12T12:47:52.262" v="49" actId="20577"/>
          <ac:spMkLst>
            <pc:docMk/>
            <pc:sldMk cId="2039590126" sldId="500"/>
            <ac:spMk id="165" creationId="{0E2D3F81-B9CD-E4D2-9481-001B4297BD8C}"/>
          </ac:spMkLst>
        </pc:spChg>
      </pc:sldChg>
      <pc:sldChg chg="modSp add mod">
        <pc:chgData name="Don Syme" userId="dd9123c1e35c60ae" providerId="LiveId" clId="{558C6075-CD96-49CC-AC4E-EEE051D025B9}" dt="2026-05-12T12:48:12.958" v="83" actId="20577"/>
        <pc:sldMkLst>
          <pc:docMk/>
          <pc:sldMk cId="3810419068" sldId="501"/>
        </pc:sldMkLst>
        <pc:spChg chg="mod">
          <ac:chgData name="Don Syme" userId="dd9123c1e35c60ae" providerId="LiveId" clId="{558C6075-CD96-49CC-AC4E-EEE051D025B9}" dt="2026-05-12T12:48:12.958" v="83" actId="20577"/>
          <ac:spMkLst>
            <pc:docMk/>
            <pc:sldMk cId="3810419068" sldId="501"/>
            <ac:spMk id="165" creationId="{370A5576-D005-C9D1-EE40-AC4063361788}"/>
          </ac:spMkLst>
        </pc:spChg>
      </pc:sldChg>
      <pc:sldChg chg="modSp add mod ord">
        <pc:chgData name="Don Syme" userId="dd9123c1e35c60ae" providerId="LiveId" clId="{558C6075-CD96-49CC-AC4E-EEE051D025B9}" dt="2026-05-12T12:48:53.375" v="123"/>
        <pc:sldMkLst>
          <pc:docMk/>
          <pc:sldMk cId="2747893839" sldId="502"/>
        </pc:sldMkLst>
        <pc:spChg chg="mod">
          <ac:chgData name="Don Syme" userId="dd9123c1e35c60ae" providerId="LiveId" clId="{558C6075-CD96-49CC-AC4E-EEE051D025B9}" dt="2026-05-12T12:48:29.089" v="97" actId="20577"/>
          <ac:spMkLst>
            <pc:docMk/>
            <pc:sldMk cId="2747893839" sldId="502"/>
            <ac:spMk id="207" creationId="{165B21A2-46DE-D5DF-B838-02B64F7832E5}"/>
          </ac:spMkLst>
        </pc:spChg>
      </pc:sldChg>
      <pc:sldChg chg="modSp add mod">
        <pc:chgData name="Don Syme" userId="dd9123c1e35c60ae" providerId="LiveId" clId="{558C6075-CD96-49CC-AC4E-EEE051D025B9}" dt="2026-05-12T12:48:42.285" v="121" actId="20577"/>
        <pc:sldMkLst>
          <pc:docMk/>
          <pc:sldMk cId="1857871008" sldId="503"/>
        </pc:sldMkLst>
        <pc:spChg chg="mod">
          <ac:chgData name="Don Syme" userId="dd9123c1e35c60ae" providerId="LiveId" clId="{558C6075-CD96-49CC-AC4E-EEE051D025B9}" dt="2026-05-12T12:48:42.285" v="121" actId="20577"/>
          <ac:spMkLst>
            <pc:docMk/>
            <pc:sldMk cId="1857871008" sldId="503"/>
            <ac:spMk id="177" creationId="{26A79D1B-0591-7559-C535-41A77849ED67}"/>
          </ac:spMkLst>
        </pc:spChg>
      </pc:sldChg>
      <pc:sldChg chg="add">
        <pc:chgData name="Don Syme" userId="dd9123c1e35c60ae" providerId="LiveId" clId="{558C6075-CD96-49CC-AC4E-EEE051D025B9}" dt="2026-05-12T13:46:24.748" v="134"/>
        <pc:sldMkLst>
          <pc:docMk/>
          <pc:sldMk cId="402445599" sldId="5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Put phone on do not disturb, Slack to not notify, Teams closed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the introduction, Rahul.  Again, my name is Eddie Aftandilian.  I’m a principal researcher in GitHub Next, and today I’ll be sharing some lessons that we have learned from building GitHub Copilots.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03d9a8437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03d9a8437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representing the work of an amazing team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Currently 18 people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Mix of backgrounds and skillsets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Frontend, backend, ML, programming languages, user research,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takes this diverse mix of skillsets to build new AI developer tools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2cfc7a1e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42cfc7a1e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3d9a8437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3d9a8437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26F5BAC-DCD2-26AE-9238-BD4561ED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3d9a84375_1_0:notes">
            <a:extLst>
              <a:ext uri="{FF2B5EF4-FFF2-40B4-BE49-F238E27FC236}">
                <a16:creationId xmlns:a16="http://schemas.microsoft.com/office/drawing/2014/main" id="{63891EBF-FDFC-8CD6-51F3-827E0BA43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3d9a84375_1_0:notes">
            <a:extLst>
              <a:ext uri="{FF2B5EF4-FFF2-40B4-BE49-F238E27FC236}">
                <a16:creationId xmlns:a16="http://schemas.microsoft.com/office/drawing/2014/main" id="{18A1965C-845B-FD7C-5F2D-1FDD50BBF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developer tools are changing the way we write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Copilot was one of the first such tools.  It launched as a technical preview (essentially a closed beta) in June 2021. Today it has 1.8M paying users, and 50% of those users’ code is written by Copilot.  Other companies such as Google report similar proportions of AI-generated code for their comparable AI code completion tools.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will only increase as the next generation of tools comes online.  These are tools that approach the problem at a higher level – for example, completing an entire development task as opposed to completing a line of code or a function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Copilot Workspace, Devin, Cursor, et al.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6388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DC1C992-B9A8-2D01-15D6-5339A93A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FAED2A2E-5918-08A0-656A-B43C88BC6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CA4065A4-F502-569A-90E2-6E8CC3642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844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00FD0C9E-4B0E-E5EF-46D2-90F8606C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433E884E-A2E0-A045-D470-3CC1F1290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BFF80588-5E4C-79D2-F022-873401E0F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19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13890EDE-2EF4-0919-EFCC-4F40BED4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>
            <a:extLst>
              <a:ext uri="{FF2B5EF4-FFF2-40B4-BE49-F238E27FC236}">
                <a16:creationId xmlns:a16="http://schemas.microsoft.com/office/drawing/2014/main" id="{C7A30421-5825-2326-DEA7-790BAF6E1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>
            <a:extLst>
              <a:ext uri="{FF2B5EF4-FFF2-40B4-BE49-F238E27FC236}">
                <a16:creationId xmlns:a16="http://schemas.microsoft.com/office/drawing/2014/main" id="{49FD612B-D055-48E8-43AE-5BE991A07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96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BC78-3572-7F33-F66B-387AE189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48D0-B039-20A1-63B2-993925F16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18402-E1C5-25A6-7C4B-DCCE8468B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42C15-D601-15E3-5B8E-DFDFB6151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C53A8-59A0-4A49-BAB4-A832A26A8E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0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797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075397f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075397f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75397f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075397f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b85db9d5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bb85db9d5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bb85db9d5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bb85db9d5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85db9d5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85db9d5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F07EA367-E70C-3002-6C9F-4A754C17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>
            <a:extLst>
              <a:ext uri="{FF2B5EF4-FFF2-40B4-BE49-F238E27FC236}">
                <a16:creationId xmlns:a16="http://schemas.microsoft.com/office/drawing/2014/main" id="{51DE61CE-F66A-B3FC-4540-2BDF2471AE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>
            <a:extLst>
              <a:ext uri="{FF2B5EF4-FFF2-40B4-BE49-F238E27FC236}">
                <a16:creationId xmlns:a16="http://schemas.microsoft.com/office/drawing/2014/main" id="{A669F207-F330-BA93-41BB-8B21C86E3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87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4D471110-F9C9-03F4-383D-7C0AB3F9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>
            <a:extLst>
              <a:ext uri="{FF2B5EF4-FFF2-40B4-BE49-F238E27FC236}">
                <a16:creationId xmlns:a16="http://schemas.microsoft.com/office/drawing/2014/main" id="{C932AB82-6BC5-8000-70B4-40F43F371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>
            <a:extLst>
              <a:ext uri="{FF2B5EF4-FFF2-40B4-BE49-F238E27FC236}">
                <a16:creationId xmlns:a16="http://schemas.microsoft.com/office/drawing/2014/main" id="{C69C49C3-144B-EA56-D50B-472FD6BF3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558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DB3DE32C-AAFD-C025-B8F2-5BB5AF3D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b85db9d5_0_513:notes">
            <a:extLst>
              <a:ext uri="{FF2B5EF4-FFF2-40B4-BE49-F238E27FC236}">
                <a16:creationId xmlns:a16="http://schemas.microsoft.com/office/drawing/2014/main" id="{A0840CBA-3809-BA2F-599E-397B53185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b85db9d5_0_513:notes">
            <a:extLst>
              <a:ext uri="{FF2B5EF4-FFF2-40B4-BE49-F238E27FC236}">
                <a16:creationId xmlns:a16="http://schemas.microsoft.com/office/drawing/2014/main" id="{EEEBCE38-9974-2734-3419-960F98C55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847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B3ECD29-3090-C220-9F2D-71258726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2cfc7a1ec_0_840:notes">
            <a:extLst>
              <a:ext uri="{FF2B5EF4-FFF2-40B4-BE49-F238E27FC236}">
                <a16:creationId xmlns:a16="http://schemas.microsoft.com/office/drawing/2014/main" id="{9F1C971B-0DB9-FADC-3C82-CEE70A698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2cfc7a1ec_0_840:notes">
            <a:extLst>
              <a:ext uri="{FF2B5EF4-FFF2-40B4-BE49-F238E27FC236}">
                <a16:creationId xmlns:a16="http://schemas.microsoft.com/office/drawing/2014/main" id="{BE7F80E3-8B3F-E0B6-25AA-7EF40EFA1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964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BBA1E0-1210-3990-8F79-0AEFDCC1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2cfc7a1ec_0_840:notes">
            <a:extLst>
              <a:ext uri="{FF2B5EF4-FFF2-40B4-BE49-F238E27FC236}">
                <a16:creationId xmlns:a16="http://schemas.microsoft.com/office/drawing/2014/main" id="{7164D3C6-2905-648C-9EE2-860C68718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2cfc7a1ec_0_840:notes">
            <a:extLst>
              <a:ext uri="{FF2B5EF4-FFF2-40B4-BE49-F238E27FC236}">
                <a16:creationId xmlns:a16="http://schemas.microsoft.com/office/drawing/2014/main" id="{78E16A7F-00F6-9579-EB9E-F943A3B4E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23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5696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DE6E77D-5BFD-A101-2789-A3F4D10D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>
            <a:extLst>
              <a:ext uri="{FF2B5EF4-FFF2-40B4-BE49-F238E27FC236}">
                <a16:creationId xmlns:a16="http://schemas.microsoft.com/office/drawing/2014/main" id="{16D799B5-627F-DEF6-3964-48F537CF7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>
            <a:extLst>
              <a:ext uri="{FF2B5EF4-FFF2-40B4-BE49-F238E27FC236}">
                <a16:creationId xmlns:a16="http://schemas.microsoft.com/office/drawing/2014/main" id="{90A06A8C-264E-FBA0-2EC9-6AFC3666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422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2cfc7a1ec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2cfc7a1ec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4647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2cfc7a1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2cfc7a1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E5CD1F-73CE-8976-835D-BB0AD4AC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>
            <a:extLst>
              <a:ext uri="{FF2B5EF4-FFF2-40B4-BE49-F238E27FC236}">
                <a16:creationId xmlns:a16="http://schemas.microsoft.com/office/drawing/2014/main" id="{3094CD8F-1D50-2ABB-E9A5-85CF619B1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>
            <a:extLst>
              <a:ext uri="{FF2B5EF4-FFF2-40B4-BE49-F238E27FC236}">
                <a16:creationId xmlns:a16="http://schemas.microsoft.com/office/drawing/2014/main" id="{122321DF-FAE7-CD1C-3A35-B7057C381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0752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35223C0-A9CA-A449-2FBE-CA594D9D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362e54339_1_0:notes">
            <a:extLst>
              <a:ext uri="{FF2B5EF4-FFF2-40B4-BE49-F238E27FC236}">
                <a16:creationId xmlns:a16="http://schemas.microsoft.com/office/drawing/2014/main" id="{58D1A4E6-B9FF-6C04-ABB8-6DBF497BA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362e54339_1_0:notes">
            <a:extLst>
              <a:ext uri="{FF2B5EF4-FFF2-40B4-BE49-F238E27FC236}">
                <a16:creationId xmlns:a16="http://schemas.microsoft.com/office/drawing/2014/main" id="{3F34CE81-A552-5EAB-13A0-783B363A5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982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42400" y="3101275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377" y="728025"/>
            <a:ext cx="1932700" cy="19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756750" y="2256050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56750" y="2912450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792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Arial" panose="020B0604020202020204" pitchFamily="34" charset="0"/>
              <a:buChar char="•"/>
              <a:defRPr>
                <a:solidFill>
                  <a:srgbClr val="B0CCC7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080783" y="44840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738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00"/>
              <a:buNone/>
              <a:defRPr sz="2100">
                <a:solidFill>
                  <a:srgbClr val="B0CCC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800"/>
              <a:buChar char="●"/>
              <a:defRPr>
                <a:solidFill>
                  <a:srgbClr val="1B1F24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Inter Black"/>
              <a:buNone/>
              <a:defRPr sz="120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1325700" y="2922700"/>
            <a:ext cx="6492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64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8FCC02-35AA-4595-1935-936DCBAB0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" y="670"/>
            <a:ext cx="9143999" cy="51421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0B4A02-2984-648D-5333-85E4B692FC06}"/>
              </a:ext>
            </a:extLst>
          </p:cNvPr>
          <p:cNvSpPr>
            <a:spLocks/>
          </p:cNvSpPr>
          <p:nvPr userDrawn="1"/>
        </p:nvSpPr>
        <p:spPr>
          <a:xfrm>
            <a:off x="0" y="587831"/>
            <a:ext cx="9120182" cy="4267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09C1734-2600-4674-015C-1D550C067EE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7058976" y="4924428"/>
            <a:ext cx="2056745" cy="178097"/>
          </a:xfrm>
          <a:prstGeom prst="rect">
            <a:avLst/>
          </a:prstGeom>
        </p:spPr>
        <p:txBody>
          <a:bodyPr/>
          <a:lstStyle/>
          <a:p>
            <a:fld id="{33B31415-8031-C145-812D-7EC4C965D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96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1B1F2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1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35839" y="44271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next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ctrTitle"/>
          </p:nvPr>
        </p:nvSpPr>
        <p:spPr>
          <a:xfrm>
            <a:off x="1142400" y="2294700"/>
            <a:ext cx="7812900" cy="113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/>
              <a:t>Agentic Repository Automation</a:t>
            </a:r>
            <a:br>
              <a:rPr lang="en" sz="3100" dirty="0"/>
            </a:br>
            <a:endParaRPr sz="1800" b="0" dirty="0"/>
          </a:p>
        </p:txBody>
      </p:sp>
      <p:sp>
        <p:nvSpPr>
          <p:cNvPr id="42" name="Google Shape;42;p10"/>
          <p:cNvSpPr txBox="1">
            <a:spLocks noGrp="1"/>
          </p:cNvSpPr>
          <p:nvPr>
            <p:ph type="subTitle" idx="1"/>
          </p:nvPr>
        </p:nvSpPr>
        <p:spPr>
          <a:xfrm>
            <a:off x="1142400" y="3518950"/>
            <a:ext cx="6492600" cy="11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/>
            </a:br>
            <a:r>
              <a:rPr lang="en" dirty="0"/>
              <a:t>Don Syme, Peli de Halleux, Mara Kiefer + many others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2026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362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 sz="282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820" b="1">
                <a:solidFill>
                  <a:schemeClr val="dk1"/>
                </a:solidFill>
              </a:rPr>
              <a:t>The GitHub Next Team</a:t>
            </a:r>
            <a:endParaRPr sz="282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820" b="1">
              <a:solidFill>
                <a:schemeClr val="dk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45A66-85F3-E609-1AEB-AE75995B8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616" y="485930"/>
            <a:ext cx="5163321" cy="4391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Next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300" b="0" i="1">
                <a:latin typeface="Roboto"/>
                <a:ea typeface="Roboto"/>
                <a:cs typeface="Roboto"/>
                <a:sym typeface="Roboto"/>
              </a:rPr>
              <a:t>Research, Build, Balance, Ship, Learn</a:t>
            </a:r>
            <a:endParaRPr sz="2300" b="0" i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798" y="347975"/>
            <a:ext cx="4675575" cy="18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the most incredible of times</a:t>
            </a:r>
            <a:endParaRPr sz="252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4392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AI </a:t>
            </a:r>
            <a:r>
              <a:rPr lang="en" dirty="0"/>
              <a:t>and </a:t>
            </a:r>
            <a:r>
              <a:rPr lang="en" b="1" dirty="0"/>
              <a:t>traditional dev tools </a:t>
            </a:r>
            <a:r>
              <a:rPr lang="en" dirty="0"/>
              <a:t>make us all magicians when it comes to code</a:t>
            </a:r>
            <a:br>
              <a:rPr lang="en" dirty="0"/>
            </a:b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Everything is changing, yet continuity is there too</a:t>
            </a:r>
            <a:endParaRPr dirty="0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925" y="1017725"/>
            <a:ext cx="3465275" cy="3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40BBAA-2C38-45A1-752A-8F2E58843C22}"/>
              </a:ext>
            </a:extLst>
          </p:cNvPr>
          <p:cNvSpPr txBox="1"/>
          <p:nvPr/>
        </p:nvSpPr>
        <p:spPr>
          <a:xfrm>
            <a:off x="2258122" y="2455497"/>
            <a:ext cx="4590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</a:rPr>
              <a:t> 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A83AA85-5BDE-4341-2265-D3F55011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CA07C87-228C-19B5-BD4A-1C121CAD3F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We live in the most incredible of times</a:t>
            </a:r>
            <a:endParaRPr sz="2520"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D63575D5-EC18-779C-73AF-F2BCCA57F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4392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AI </a:t>
            </a:r>
            <a:r>
              <a:rPr lang="en" dirty="0"/>
              <a:t>and </a:t>
            </a:r>
            <a:r>
              <a:rPr lang="en" b="1" dirty="0"/>
              <a:t>traditional dev tools </a:t>
            </a:r>
            <a:r>
              <a:rPr lang="en" dirty="0"/>
              <a:t>make us all magicians when it comes to code</a:t>
            </a:r>
            <a:br>
              <a:rPr lang="en" dirty="0"/>
            </a:b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Everything is changing, yet continuity is there too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C9F94-1EE3-2EC3-8C4B-34CF035F63D2}"/>
              </a:ext>
            </a:extLst>
          </p:cNvPr>
          <p:cNvSpPr txBox="1"/>
          <p:nvPr/>
        </p:nvSpPr>
        <p:spPr>
          <a:xfrm>
            <a:off x="2258122" y="2455497"/>
            <a:ext cx="4590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effectLst/>
              </a:rPr>
              <a:t> </a:t>
            </a:r>
            <a:endParaRPr lang="en-GB" dirty="0"/>
          </a:p>
        </p:txBody>
      </p:sp>
      <p:pic>
        <p:nvPicPr>
          <p:cNvPr id="4" name="Google Shape;75;p16">
            <a:extLst>
              <a:ext uri="{FF2B5EF4-FFF2-40B4-BE49-F238E27FC236}">
                <a16:creationId xmlns:a16="http://schemas.microsoft.com/office/drawing/2014/main" id="{0E38BA66-0535-9052-4737-7714CC8095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825" y="990950"/>
            <a:ext cx="3931775" cy="2622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196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5AB05AF-267A-E959-5AAA-B31B0E93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A24E8526-5B4D-B351-65D0-3119034FE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417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02275E09-0066-A260-C34E-50F175CF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1F5112E7-7756-A58E-D902-6FA7511FD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00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E85508E3-C959-C099-F1CF-34079210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>
            <a:extLst>
              <a:ext uri="{FF2B5EF4-FFF2-40B4-BE49-F238E27FC236}">
                <a16:creationId xmlns:a16="http://schemas.microsoft.com/office/drawing/2014/main" id="{7848C3D1-596B-80BB-1E2B-9987E1787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= </a:t>
            </a:r>
            <a:br>
              <a:rPr lang="en-GB" sz="2400" dirty="0"/>
            </a:br>
            <a:r>
              <a:rPr lang="en-GB" sz="2400" dirty="0"/>
              <a:t>The </a:t>
            </a:r>
            <a:r>
              <a:rPr lang="en-GB" sz="2400" u="sng" dirty="0"/>
              <a:t>coding agents</a:t>
            </a:r>
            <a:r>
              <a:rPr lang="en-GB" sz="2400" dirty="0"/>
              <a:t> you love running </a:t>
            </a:r>
            <a:r>
              <a:rPr lang="en-GB" sz="2400" u="sng" dirty="0"/>
              <a:t>automated</a:t>
            </a:r>
            <a:r>
              <a:rPr lang="en-GB" sz="2400" dirty="0"/>
              <a:t> in </a:t>
            </a:r>
            <a:r>
              <a:rPr lang="en-GB" sz="2400" u="sng" dirty="0"/>
              <a:t>safe sandboxes</a:t>
            </a:r>
            <a:r>
              <a:rPr lang="en-GB" sz="2400" dirty="0"/>
              <a:t> with </a:t>
            </a:r>
            <a:r>
              <a:rPr lang="en-GB" sz="2400" u="sng" dirty="0"/>
              <a:t>strong guardrails</a:t>
            </a:r>
            <a:r>
              <a:rPr lang="en-GB" sz="2400" dirty="0"/>
              <a:t> in </a:t>
            </a:r>
            <a:r>
              <a:rPr lang="en-GB" sz="2400" u="sng" dirty="0"/>
              <a:t>GitHub Actions</a:t>
            </a:r>
            <a:endParaRPr sz="2400" u="sng" dirty="0"/>
          </a:p>
        </p:txBody>
      </p:sp>
    </p:spTree>
    <p:extLst>
      <p:ext uri="{BB962C8B-B14F-4D97-AF65-F5344CB8AC3E}">
        <p14:creationId xmlns:p14="http://schemas.microsoft.com/office/powerpoint/2010/main" val="240454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68C1-836D-653E-5268-3339DC87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145;p164" descr="3. Platform-Blocks.png">
            <a:extLst>
              <a:ext uri="{FF2B5EF4-FFF2-40B4-BE49-F238E27FC236}">
                <a16:creationId xmlns:a16="http://schemas.microsoft.com/office/drawing/2014/main" id="{7EC276AC-2195-5B19-1BF6-8BBB48B6D18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05230" y="3417567"/>
            <a:ext cx="1410632" cy="91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1137;p164" descr="1. Platform-Blocks.png">
            <a:extLst>
              <a:ext uri="{FF2B5EF4-FFF2-40B4-BE49-F238E27FC236}">
                <a16:creationId xmlns:a16="http://schemas.microsoft.com/office/drawing/2014/main" id="{FFFF77C7-3CCE-9746-E064-D1A429768522}"/>
              </a:ext>
            </a:extLst>
          </p:cNvPr>
          <p:cNvPicPr preferRelativeResize="0"/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9255" y="2700694"/>
            <a:ext cx="1410631" cy="9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2B425-EBD4-E092-C060-1B2559C3EF46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defTabSz="685560"/>
            <a:fld id="{33B31415-8031-C145-812D-7EC4C965D339}" type="slidenum">
              <a:rPr lang="en-US" sz="1800">
                <a:solidFill>
                  <a:srgbClr val="FFFFFF">
                    <a:tint val="82000"/>
                  </a:srgbClr>
                </a:solidFill>
                <a:latin typeface="Arial" panose="020B0604020202020204"/>
              </a:rPr>
              <a:pPr defTabSz="685560"/>
              <a:t>9</a:t>
            </a:fld>
            <a:endParaRPr lang="en-US" sz="1800">
              <a:solidFill>
                <a:srgbClr val="FFFFFF">
                  <a:tint val="82000"/>
                </a:srgbClr>
              </a:solidFill>
              <a:latin typeface="Arial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D3E8C-FF68-9CE5-EF91-0C30FCFEBEE8}"/>
              </a:ext>
            </a:extLst>
          </p:cNvPr>
          <p:cNvSpPr txBox="1"/>
          <p:nvPr/>
        </p:nvSpPr>
        <p:spPr>
          <a:xfrm>
            <a:off x="246255" y="668962"/>
            <a:ext cx="8264831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noAutofit/>
          </a:bodyPr>
          <a:lstStyle/>
          <a:p>
            <a:pPr defTabSz="685560"/>
            <a:r>
              <a:rPr lang="en-US" sz="3200" b="1">
                <a:solidFill>
                  <a:srgbClr val="FFFFFF"/>
                </a:solidFill>
                <a:latin typeface="Mona Sans" pitchFamily="2" charset="77"/>
                <a:cs typeface="Mona Sans" pitchFamily="2" charset="77"/>
              </a:rPr>
              <a:t>GitHub Agentic Workflows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2FD371F-5F6D-1CDF-9FC3-D4900A162A7B}"/>
              </a:ext>
            </a:extLst>
          </p:cNvPr>
          <p:cNvSpPr txBox="1"/>
          <p:nvPr/>
        </p:nvSpPr>
        <p:spPr>
          <a:xfrm>
            <a:off x="270492" y="1308085"/>
            <a:ext cx="5266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560"/>
            <a:r>
              <a:rPr lang="en-US" sz="1800">
                <a:solidFill>
                  <a:srgbClr val="FFFFFF"/>
                </a:solidFill>
                <a:latin typeface="Mona Sans" pitchFamily="2" charset="77"/>
                <a:cs typeface="Mona Sans" pitchFamily="2" charset="77"/>
              </a:rPr>
              <a:t>Agentic human processes powered GitHub.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C28E6B-111E-0612-DC3A-476A93985985}"/>
              </a:ext>
            </a:extLst>
          </p:cNvPr>
          <p:cNvSpPr txBox="1"/>
          <p:nvPr/>
        </p:nvSpPr>
        <p:spPr>
          <a:xfrm>
            <a:off x="4703640" y="2156045"/>
            <a:ext cx="3987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200">
                <a:solidFill>
                  <a:srgbClr val="FFFFFF"/>
                </a:solidFill>
              </a:rPr>
              <a:t>Workflows executed via GitHub Actions written in natural language.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5C1D077-E904-4D3E-0FFA-85990A0D38FE}"/>
              </a:ext>
            </a:extLst>
          </p:cNvPr>
          <p:cNvSpPr txBox="1"/>
          <p:nvPr/>
        </p:nvSpPr>
        <p:spPr>
          <a:xfrm>
            <a:off x="4728170" y="3580236"/>
            <a:ext cx="4266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600">
                <a:solidFill>
                  <a:srgbClr val="FFFFFF"/>
                </a:solidFill>
              </a:rPr>
              <a:t>Agents interpret intent &amp; operate on context across models. </a:t>
            </a:r>
            <a:r>
              <a:rPr lang="en-US" sz="1600">
                <a:solidFill>
                  <a:srgbClr val="B0BAC3"/>
                </a:solidFill>
              </a:rPr>
              <a:t>Copilot CLI · Claude · Codex · Gemini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241F1C6-BE87-5E2C-144B-8FB6FA315416}"/>
              </a:ext>
            </a:extLst>
          </p:cNvPr>
          <p:cNvSpPr txBox="1"/>
          <p:nvPr/>
        </p:nvSpPr>
        <p:spPr>
          <a:xfrm>
            <a:off x="4715923" y="2867755"/>
            <a:ext cx="3987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60"/>
            <a:r>
              <a:rPr lang="en-US" sz="1600">
                <a:solidFill>
                  <a:srgbClr val="FFFFFF"/>
                </a:solidFill>
              </a:rPr>
              <a:t>Isolated sandboxes with scoped permissions and network control.</a:t>
            </a:r>
          </a:p>
        </p:txBody>
      </p:sp>
      <p:pic>
        <p:nvPicPr>
          <p:cNvPr id="93" name="Google Shape;1140;p164" descr="2. Platform-Blocks.png">
            <a:extLst>
              <a:ext uri="{FF2B5EF4-FFF2-40B4-BE49-F238E27FC236}">
                <a16:creationId xmlns:a16="http://schemas.microsoft.com/office/drawing/2014/main" id="{91FABBB8-BD50-447A-69D3-37B6BDAAE4C3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05231" y="1968130"/>
            <a:ext cx="1412473" cy="913412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47B7A8-E09D-CB44-7851-547D7E81C7A2}"/>
              </a:ext>
            </a:extLst>
          </p:cNvPr>
          <p:cNvSpPr txBox="1"/>
          <p:nvPr/>
        </p:nvSpPr>
        <p:spPr>
          <a:xfrm>
            <a:off x="3493911" y="2548020"/>
            <a:ext cx="218029" cy="461665"/>
          </a:xfrm>
          <a:prstGeom prst="rect">
            <a:avLst/>
          </a:prstGeom>
          <a:noFill/>
          <a:effectLst>
            <a:glow rad="113997">
              <a:srgbClr val="6533FE">
                <a:alpha val="63000"/>
              </a:srgbClr>
            </a:glow>
          </a:effectLst>
        </p:spPr>
        <p:txBody>
          <a:bodyPr wrap="square" rtlCol="0">
            <a:spAutoFit/>
          </a:bodyPr>
          <a:lstStyle/>
          <a:p>
            <a:pPr defTabSz="685560"/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963416-CB70-BE08-6BDC-06567C247FDD}"/>
              </a:ext>
            </a:extLst>
          </p:cNvPr>
          <p:cNvSpPr txBox="1"/>
          <p:nvPr/>
        </p:nvSpPr>
        <p:spPr>
          <a:xfrm>
            <a:off x="3493911" y="3279425"/>
            <a:ext cx="218029" cy="461665"/>
          </a:xfrm>
          <a:prstGeom prst="rect">
            <a:avLst/>
          </a:prstGeom>
          <a:noFill/>
          <a:effectLst>
            <a:glow rad="113997">
              <a:srgbClr val="6533FE">
                <a:alpha val="63000"/>
              </a:srgbClr>
            </a:glow>
          </a:effectLst>
        </p:spPr>
        <p:txBody>
          <a:bodyPr wrap="square" rtlCol="0">
            <a:spAutoFit/>
          </a:bodyPr>
          <a:lstStyle/>
          <a:p>
            <a:pPr defTabSz="685560"/>
            <a:r>
              <a:rPr lang="en-US" sz="2400">
                <a:solidFill>
                  <a:schemeClr val="bg1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597F7A-6F23-4FB5-1505-CDF6D03389C1}"/>
              </a:ext>
            </a:extLst>
          </p:cNvPr>
          <p:cNvGrpSpPr/>
          <p:nvPr/>
        </p:nvGrpSpPr>
        <p:grpSpPr>
          <a:xfrm>
            <a:off x="2836591" y="2218657"/>
            <a:ext cx="1542080" cy="323888"/>
            <a:chOff x="3780533" y="2958210"/>
            <a:chExt cx="2056106" cy="431850"/>
          </a:xfrm>
          <a:effectLst>
            <a:glow>
              <a:srgbClr val="8767B4">
                <a:alpha val="63000"/>
              </a:srgbClr>
            </a:glow>
          </a:effectLst>
        </p:grpSpPr>
        <p:sp>
          <p:nvSpPr>
            <p:cNvPr id="19" name="Google Shape;1118;p164">
              <a:extLst>
                <a:ext uri="{FF2B5EF4-FFF2-40B4-BE49-F238E27FC236}">
                  <a16:creationId xmlns:a16="http://schemas.microsoft.com/office/drawing/2014/main" id="{64326D1C-D8D8-1833-CFAF-AAD6C8C15226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chemeClr val="bg1">
                    <a:lumMod val="65000"/>
                    <a:lumOff val="3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" name="Google Shape;1120;p164">
              <a:extLst>
                <a:ext uri="{FF2B5EF4-FFF2-40B4-BE49-F238E27FC236}">
                  <a16:creationId xmlns:a16="http://schemas.microsoft.com/office/drawing/2014/main" id="{83715BC7-283F-0A70-1329-085575459ED6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45" name="Google Shape;1119;p164">
              <a:extLst>
                <a:ext uri="{FF2B5EF4-FFF2-40B4-BE49-F238E27FC236}">
                  <a16:creationId xmlns:a16="http://schemas.microsoft.com/office/drawing/2014/main" id="{78DD86EE-9F84-8184-CC11-230A0F067258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46" name="Google Shape;1121;p164">
            <a:extLst>
              <a:ext uri="{FF2B5EF4-FFF2-40B4-BE49-F238E27FC236}">
                <a16:creationId xmlns:a16="http://schemas.microsoft.com/office/drawing/2014/main" id="{82C7FFFA-F925-B58C-4CA7-3E7C7566C60E}"/>
              </a:ext>
            </a:extLst>
          </p:cNvPr>
          <p:cNvSpPr/>
          <p:nvPr/>
        </p:nvSpPr>
        <p:spPr>
          <a:xfrm>
            <a:off x="2054040" y="2375820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bg1">
                  <a:lumMod val="50000"/>
                  <a:lumOff val="50000"/>
                </a:schemeClr>
              </a:gs>
              <a:gs pos="0">
                <a:srgbClr val="5CB1AE"/>
              </a:gs>
              <a:gs pos="0">
                <a:srgbClr val="0070C0"/>
              </a:gs>
              <a:gs pos="100000">
                <a:schemeClr val="bg1"/>
              </a:gs>
              <a:gs pos="100000">
                <a:srgbClr val="00B0F0"/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7DC61E-4C9E-28ED-5C50-F3A9E426DEA2}"/>
              </a:ext>
            </a:extLst>
          </p:cNvPr>
          <p:cNvGrpSpPr/>
          <p:nvPr/>
        </p:nvGrpSpPr>
        <p:grpSpPr>
          <a:xfrm>
            <a:off x="2836591" y="2941793"/>
            <a:ext cx="1542080" cy="323888"/>
            <a:chOff x="3780533" y="2958210"/>
            <a:chExt cx="2056106" cy="431850"/>
          </a:xfrm>
          <a:effectLst>
            <a:glow>
              <a:srgbClr val="8767B4">
                <a:alpha val="63000"/>
              </a:srgbClr>
            </a:glow>
          </a:effectLst>
        </p:grpSpPr>
        <p:sp>
          <p:nvSpPr>
            <p:cNvPr id="58" name="Google Shape;1118;p164">
              <a:extLst>
                <a:ext uri="{FF2B5EF4-FFF2-40B4-BE49-F238E27FC236}">
                  <a16:creationId xmlns:a16="http://schemas.microsoft.com/office/drawing/2014/main" id="{B5CEFD1E-D182-C9AB-3C42-71672B85F55E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rgbClr val="4F6C5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9" name="Google Shape;1120;p164">
              <a:extLst>
                <a:ext uri="{FF2B5EF4-FFF2-40B4-BE49-F238E27FC236}">
                  <a16:creationId xmlns:a16="http://schemas.microsoft.com/office/drawing/2014/main" id="{344BA481-1696-13AD-D25E-FB35786AF890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60" name="Google Shape;1119;p164">
              <a:extLst>
                <a:ext uri="{FF2B5EF4-FFF2-40B4-BE49-F238E27FC236}">
                  <a16:creationId xmlns:a16="http://schemas.microsoft.com/office/drawing/2014/main" id="{5EF062F4-D8EF-AA29-C588-275339DB44D4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Safety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57" name="Google Shape;1121;p164">
            <a:extLst>
              <a:ext uri="{FF2B5EF4-FFF2-40B4-BE49-F238E27FC236}">
                <a16:creationId xmlns:a16="http://schemas.microsoft.com/office/drawing/2014/main" id="{F11581A0-C516-1FD8-500A-D85A48D1F32C}"/>
              </a:ext>
            </a:extLst>
          </p:cNvPr>
          <p:cNvSpPr/>
          <p:nvPr/>
        </p:nvSpPr>
        <p:spPr>
          <a:xfrm>
            <a:off x="2054040" y="3098956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81000">
                <a:srgbClr val="4F6C57"/>
              </a:gs>
              <a:gs pos="100000">
                <a:srgbClr val="001007"/>
              </a:gs>
              <a:gs pos="0">
                <a:srgbClr val="00B050"/>
              </a:gs>
              <a:gs pos="0">
                <a:srgbClr val="0070C0"/>
              </a:gs>
              <a:gs pos="100000">
                <a:schemeClr val="bg1"/>
              </a:gs>
              <a:gs pos="100000">
                <a:srgbClr val="4F6C57"/>
              </a:gs>
              <a:gs pos="100000">
                <a:srgbClr val="4F6C5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5BBD04E-52A0-12CE-0E84-C32DFD12213D}"/>
              </a:ext>
            </a:extLst>
          </p:cNvPr>
          <p:cNvGrpSpPr/>
          <p:nvPr/>
        </p:nvGrpSpPr>
        <p:grpSpPr>
          <a:xfrm>
            <a:off x="2837873" y="3642919"/>
            <a:ext cx="1542080" cy="323888"/>
            <a:chOff x="3780533" y="2958210"/>
            <a:chExt cx="2056106" cy="431850"/>
          </a:xfrm>
          <a:effectLst>
            <a:glow rad="113997">
              <a:srgbClr val="8767B4">
                <a:alpha val="63000"/>
              </a:srgbClr>
            </a:glow>
          </a:effectLst>
        </p:grpSpPr>
        <p:sp>
          <p:nvSpPr>
            <p:cNvPr id="77" name="Google Shape;1118;p164">
              <a:extLst>
                <a:ext uri="{FF2B5EF4-FFF2-40B4-BE49-F238E27FC236}">
                  <a16:creationId xmlns:a16="http://schemas.microsoft.com/office/drawing/2014/main" id="{B6B81A5E-AB96-86CF-7416-5C2CB58F437D}"/>
                </a:ext>
              </a:extLst>
            </p:cNvPr>
            <p:cNvSpPr/>
            <p:nvPr/>
          </p:nvSpPr>
          <p:spPr>
            <a:xfrm>
              <a:off x="3780533" y="2958210"/>
              <a:ext cx="2056106" cy="431850"/>
            </a:xfrm>
            <a:prstGeom prst="roundRect">
              <a:avLst>
                <a:gd name="adj" fmla="val 50000"/>
              </a:avLst>
            </a:prstGeom>
            <a:solidFill>
              <a:srgbClr val="8767B4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endPara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" name="Google Shape;1120;p164">
              <a:extLst>
                <a:ext uri="{FF2B5EF4-FFF2-40B4-BE49-F238E27FC236}">
                  <a16:creationId xmlns:a16="http://schemas.microsoft.com/office/drawing/2014/main" id="{3E125A86-F571-51E4-D8CB-B7E3F0D27528}"/>
                </a:ext>
              </a:extLst>
            </p:cNvPr>
            <p:cNvSpPr txBox="1"/>
            <p:nvPr/>
          </p:nvSpPr>
          <p:spPr>
            <a:xfrm>
              <a:off x="4277590" y="2967955"/>
              <a:ext cx="1511268" cy="38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defTabSz="685560"/>
              <a:r>
                <a:rPr lang="en-US" sz="1600">
                  <a:solidFill>
                    <a:srgbClr val="F0F6FC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Automation</a:t>
              </a:r>
              <a:endParaRPr sz="1600">
                <a:solidFill>
                  <a:srgbClr val="FFFFFF"/>
                </a:solidFill>
                <a:latin typeface="Mona Sans" pitchFamily="2" charset="77"/>
                <a:cs typeface="Mona Sans" pitchFamily="2" charset="77"/>
              </a:endParaRPr>
            </a:p>
          </p:txBody>
        </p:sp>
        <p:sp>
          <p:nvSpPr>
            <p:cNvPr id="79" name="Google Shape;1119;p164">
              <a:extLst>
                <a:ext uri="{FF2B5EF4-FFF2-40B4-BE49-F238E27FC236}">
                  <a16:creationId xmlns:a16="http://schemas.microsoft.com/office/drawing/2014/main" id="{6FB0F3EA-BC26-864F-5EC8-DA9590C56D08}"/>
                </a:ext>
              </a:extLst>
            </p:cNvPr>
            <p:cNvSpPr/>
            <p:nvPr/>
          </p:nvSpPr>
          <p:spPr>
            <a:xfrm>
              <a:off x="3802722" y="2975909"/>
              <a:ext cx="2007528" cy="397554"/>
            </a:xfrm>
            <a:prstGeom prst="roundRect">
              <a:avLst>
                <a:gd name="adj" fmla="val 50000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algn="ctr" defTabSz="685560"/>
              <a:r>
                <a:rPr lang="en-US" sz="1200">
                  <a:solidFill>
                    <a:srgbClr val="FFFFFF"/>
                  </a:solidFill>
                  <a:latin typeface="Mona Sans" pitchFamily="2" charset="77"/>
                  <a:ea typeface="Helvetica Neue"/>
                  <a:cs typeface="Mona Sans" pitchFamily="2" charset="77"/>
                  <a:sym typeface="Helvetica Neue"/>
                </a:rPr>
                <a:t>Reasoning</a:t>
              </a:r>
              <a:endParaRPr sz="1200">
                <a:solidFill>
                  <a:srgbClr val="FFFFFF"/>
                </a:solidFill>
                <a:latin typeface="Mona Sans" pitchFamily="2" charset="77"/>
                <a:ea typeface="Helvetica Neue"/>
                <a:cs typeface="Mona Sans" pitchFamily="2" charset="77"/>
                <a:sym typeface="Helvetica Neue"/>
              </a:endParaRPr>
            </a:p>
          </p:txBody>
        </p:sp>
      </p:grpSp>
      <p:sp>
        <p:nvSpPr>
          <p:cNvPr id="76" name="Google Shape;1121;p164">
            <a:extLst>
              <a:ext uri="{FF2B5EF4-FFF2-40B4-BE49-F238E27FC236}">
                <a16:creationId xmlns:a16="http://schemas.microsoft.com/office/drawing/2014/main" id="{8A0D9E8E-DB11-6560-FCF3-4753DCEE88E8}"/>
              </a:ext>
            </a:extLst>
          </p:cNvPr>
          <p:cNvSpPr/>
          <p:nvPr/>
        </p:nvSpPr>
        <p:spPr>
          <a:xfrm>
            <a:off x="2055322" y="3800081"/>
            <a:ext cx="746213" cy="956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CB1AE"/>
              </a:gs>
              <a:gs pos="0">
                <a:srgbClr val="0070C0"/>
              </a:gs>
              <a:gs pos="100000">
                <a:schemeClr val="bg1"/>
              </a:gs>
              <a:gs pos="82000">
                <a:srgbClr val="8767B4"/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algn="ctr" defTabSz="685560"/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1877981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Weekly Researcher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schedule: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- cron: "0 9 * * 1"     # Every week, 9AM UTC, Monday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workflow_dispatch: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create-issue: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tools: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web-search:</a:t>
            </a: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Weekly Researcher (Ruby)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Do a deep research investigation in ${{ github.repository }} repository, and the related industry in general.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selections of the latest code, issues and PRs for this repo.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 Read latest trends and news from the software industry news source on the Web.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Create a new GitHub issue containing a markdown report with interesting news about the area related to this software project, related products and competitive analysis, related research papers, new ideas, market opportunities, business analysis, enjoyable anecdotes.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the report: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4376075" y="2587625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Actions-familiar</a:t>
            </a:r>
            <a:endParaRPr/>
          </a:p>
        </p:txBody>
      </p:sp>
      <p:sp>
        <p:nvSpPr>
          <p:cNvPr id="104" name="Google Shape;104;p21"/>
          <p:cNvSpPr/>
          <p:nvPr/>
        </p:nvSpPr>
        <p:spPr>
          <a:xfrm>
            <a:off x="2860300" y="12714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Triggers</a:t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3126450" y="1929525"/>
            <a:ext cx="1996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output specs</a:t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3126450" y="2473700"/>
            <a:ext cx="1072800" cy="404400"/>
          </a:xfrm>
          <a:prstGeom prst="wedgeRectCallout">
            <a:avLst>
              <a:gd name="adj1" fmla="val -128517"/>
              <a:gd name="adj2" fmla="val -331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5123250" y="3927950"/>
            <a:ext cx="1996800" cy="404400"/>
          </a:xfrm>
          <a:prstGeom prst="wedgeRectCallout">
            <a:avLst>
              <a:gd name="adj1" fmla="val -58862"/>
              <a:gd name="adj2" fmla="val 12434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Self-reporting</a:t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764050" y="3170425"/>
            <a:ext cx="1996800" cy="404400"/>
          </a:xfrm>
          <a:prstGeom prst="wedgeRectCallout">
            <a:avLst>
              <a:gd name="adj1" fmla="val -22903"/>
              <a:gd name="adj2" fmla="val 13335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Assumes GitHub</a:t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6835500" y="2078100"/>
            <a:ext cx="1996800" cy="987300"/>
          </a:xfrm>
          <a:prstGeom prst="wedgeRectCallout">
            <a:avLst>
              <a:gd name="adj1" fmla="val -87729"/>
              <a:gd name="adj2" fmla="val 730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 programming = </a:t>
            </a:r>
            <a:br>
              <a:rPr lang="en"/>
            </a:br>
            <a:r>
              <a:rPr lang="en"/>
              <a:t>deliberate ambiguity =</a:t>
            </a:r>
            <a:br>
              <a:rPr lang="en"/>
            </a:br>
            <a:r>
              <a:rPr lang="en"/>
              <a:t>genuinely useful ambiguity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Issue Triage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on: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issues: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types: [opened, reopened]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safe-outputs: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add-comment: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# Agentic Issue Triage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Your task is to analyze issue #${{ github.event.issue.number }} and perform some initial triage tasks related to that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Analyze the issue content. Write notes, ideas, nudges, resource links, debugging strategies and/or reproduction steps for the team to consider relevant to the issue. Select appropriate labels already used in the repository and apply them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Finalize an output report with your analysis and add it as an issue comment to the issue.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NOTE: Include a link like this at the end of your issue comment: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```markdown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&gt; AI-generated content by ${{ github.workflow }}, may contain mistakes.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47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```</a:t>
            </a: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947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Getting Started</a:t>
            </a:r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-260730" y="1282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gh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 extension install </a:t>
            </a: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github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gh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-aw</a:t>
            </a:r>
            <a:b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gh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 aw add-wizard </a:t>
            </a: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githubnext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1854" b="1" dirty="0" err="1">
                <a:latin typeface="Courier New"/>
                <a:ea typeface="Courier New"/>
                <a:cs typeface="Courier New"/>
                <a:sym typeface="Courier New"/>
              </a:rPr>
              <a:t>agentics</a:t>
            </a:r>
            <a: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  <a:t>/test-improver</a:t>
            </a:r>
            <a:br>
              <a:rPr lang="en-GB" sz="1854" b="1" dirty="0">
                <a:latin typeface="Courier New"/>
                <a:ea typeface="Courier New"/>
                <a:cs typeface="Courier New"/>
                <a:sym typeface="Courier New"/>
              </a:rPr>
            </a:br>
            <a:endParaRPr lang="en-GB" sz="1854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- Safety, Safety, Safety</a:t>
            </a:r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Execution is VM-sandboxed (GitHub Actions VMs)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Overall permissions are minimized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Agentic steps run essentially read-only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All outputs are “in the intended channel” (“safe outputs”)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blast radius greatly reduced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checked by AI for safety</a:t>
            </a:r>
            <a:endParaRPr sz="20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lphaLcPeriod"/>
            </a:pPr>
            <a:r>
              <a:rPr lang="en" sz="2000" dirty="0"/>
              <a:t>human oversight guaranteed</a:t>
            </a:r>
            <a:endParaRPr sz="20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000" dirty="0"/>
              <a:t>Outgoing network is firewalled and controlled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implemented by</a:t>
            </a:r>
            <a:endParaRPr sz="28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Workflows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</a:rPr>
              <a:t>enables</a:t>
            </a:r>
            <a:endParaRPr sz="31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Zoo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Test Improvement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07C22551-7E4C-1A14-DC71-8D040C33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>
            <a:extLst>
              <a:ext uri="{FF2B5EF4-FFF2-40B4-BE49-F238E27FC236}">
                <a16:creationId xmlns:a16="http://schemas.microsoft.com/office/drawing/2014/main" id="{0E2D3F81-B9CD-E4D2-9481-001B4297B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Perf Engineering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959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3A54BB-A0A3-ADF0-C4CB-E0122862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>
            <a:extLst>
              <a:ext uri="{FF2B5EF4-FFF2-40B4-BE49-F238E27FC236}">
                <a16:creationId xmlns:a16="http://schemas.microsoft.com/office/drawing/2014/main" id="{A506F33D-7124-35A4-7A8D-1426CFF0D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Repository Maintenance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445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CA379AED-D5F7-4FFC-6E49-C9034CBB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>
            <a:extLst>
              <a:ext uri="{FF2B5EF4-FFF2-40B4-BE49-F238E27FC236}">
                <a16:creationId xmlns:a16="http://schemas.microsoft.com/office/drawing/2014/main" id="{370A5576-D005-C9D1-EE40-AC4063361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24669"/>
            <a:ext cx="8520600" cy="43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AI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2"/>
                </a:solidFill>
              </a:rPr>
              <a:t>implemented by</a:t>
            </a:r>
            <a:endParaRPr sz="28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Agentic Workflows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2"/>
                </a:solidFill>
              </a:rPr>
              <a:t>enables</a:t>
            </a:r>
            <a:endParaRPr sz="3100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Continuous Formal Verification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419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3DD4AF7-103D-7395-56FD-029D9694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3D384A93-D7A1-10AA-961C-CD66FDD420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– Repo Assist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1573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3EF2-3574-2CCA-3EA8-8AB6A570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F97B4-E6B8-3F26-1B18-6A05F96C9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FSharp.Data Open Issues">
            <a:extLst>
              <a:ext uri="{FF2B5EF4-FFF2-40B4-BE49-F238E27FC236}">
                <a16:creationId xmlns:a16="http://schemas.microsoft.com/office/drawing/2014/main" id="{BE79F426-EA75-F966-9314-59C3222E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75" y="671987"/>
            <a:ext cx="7898559" cy="32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72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A10B-2DEC-A1A1-CE11-A192A117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A0AF-BA21-FCF6-6AC0-5F7E3D50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45A8-ED7C-812F-CAB0-E57955952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Deedle Open Issues">
            <a:extLst>
              <a:ext uri="{FF2B5EF4-FFF2-40B4-BE49-F238E27FC236}">
                <a16:creationId xmlns:a16="http://schemas.microsoft.com/office/drawing/2014/main" id="{F1E27AB6-3D7F-11AA-BAD4-7D869BBA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23" y="1176839"/>
            <a:ext cx="6883265" cy="286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1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76FA-B7CE-1B3B-EC39-E22768C8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ED96-90B7-7B99-F907-A41CAFD3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64975-2F1D-C598-AC87-BD4DFB13A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Open Issue Trajectories">
            <a:extLst>
              <a:ext uri="{FF2B5EF4-FFF2-40B4-BE49-F238E27FC236}">
                <a16:creationId xmlns:a16="http://schemas.microsoft.com/office/drawing/2014/main" id="{BDE4490C-D285-4194-D2B7-D3BD2AB72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12" y="652713"/>
            <a:ext cx="6853488" cy="39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09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503-B1F6-857D-BC12-D88AA12E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4083-71EA-83B4-D675-D52B5A47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D8584-8993-41C2-5C22-1B28E336E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B1EA8-80D6-C11F-76A8-143E2B3F8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80" y="608115"/>
            <a:ext cx="8183640" cy="39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B27F938E-0C63-61D6-9D03-D02218B5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165B21A2-46DE-D5DF-B838-02B64F7832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– Lean Squad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893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5: The Repository as an Automated Software Factory</a:t>
            </a:r>
            <a:endParaRPr dirty="0"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514525" y="1219200"/>
            <a:ext cx="3314060" cy="3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Integration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Deployment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Continuous AI</a:t>
            </a:r>
          </a:p>
          <a:p>
            <a:pPr marL="0" indent="0">
              <a:lnSpc>
                <a:spcPct val="105000"/>
              </a:lnSpc>
              <a:buNone/>
            </a:pPr>
            <a:endParaRPr lang="en-GB" sz="2000" dirty="0"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585" y="1219200"/>
            <a:ext cx="5218289" cy="3084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80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BDEA7221-2865-010B-DE94-065F89E5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26A79D1B-0591-7559-C535-41A77849E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5: The Repository as an Automated Formal Verification Factory</a:t>
            </a:r>
            <a:endParaRPr dirty="0"/>
          </a:p>
        </p:txBody>
      </p:sp>
      <p:sp>
        <p:nvSpPr>
          <p:cNvPr id="178" name="Google Shape;178;p29">
            <a:extLst>
              <a:ext uri="{FF2B5EF4-FFF2-40B4-BE49-F238E27FC236}">
                <a16:creationId xmlns:a16="http://schemas.microsoft.com/office/drawing/2014/main" id="{1EE4AC8E-ACED-F307-A5B9-F84D63373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525" y="1219200"/>
            <a:ext cx="3314060" cy="3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Integration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Continuous Deployment</a:t>
            </a: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/>
              <a:t>Continuous AI</a:t>
            </a:r>
          </a:p>
          <a:p>
            <a:pPr marL="0" indent="0">
              <a:lnSpc>
                <a:spcPct val="105000"/>
              </a:lnSpc>
              <a:buNone/>
            </a:pPr>
            <a:endParaRPr lang="en-GB" sz="2000" dirty="0"/>
          </a:p>
        </p:txBody>
      </p:sp>
      <p:pic>
        <p:nvPicPr>
          <p:cNvPr id="180" name="Google Shape;180;p29">
            <a:extLst>
              <a:ext uri="{FF2B5EF4-FFF2-40B4-BE49-F238E27FC236}">
                <a16:creationId xmlns:a16="http://schemas.microsoft.com/office/drawing/2014/main" id="{E302F051-6420-FA52-D56E-78D25C5D7C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585" y="1219200"/>
            <a:ext cx="5218289" cy="3084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7871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/>
          <p:nvPr/>
        </p:nvSpPr>
        <p:spPr>
          <a:xfrm>
            <a:off x="3599698" y="1116375"/>
            <a:ext cx="1944600" cy="1944600"/>
          </a:xfrm>
          <a:prstGeom prst="ellipse">
            <a:avLst/>
          </a:prstGeom>
          <a:noFill/>
          <a:ln w="28575" cap="flat" cmpd="sng">
            <a:solidFill>
              <a:srgbClr val="83E3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503" y="1587657"/>
            <a:ext cx="1418924" cy="10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6"/>
          <p:cNvSpPr txBox="1"/>
          <p:nvPr/>
        </p:nvSpPr>
        <p:spPr>
          <a:xfrm>
            <a:off x="3593550" y="3120970"/>
            <a:ext cx="19569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83E3D9"/>
                </a:solidFill>
                <a:latin typeface="Inter"/>
                <a:ea typeface="Inter"/>
                <a:cs typeface="Inter"/>
                <a:sym typeface="Inter"/>
              </a:rPr>
              <a:t>GitHub Next</a:t>
            </a:r>
            <a:endParaRPr sz="2000" b="1">
              <a:solidFill>
                <a:srgbClr val="83E3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528299" y="3564300"/>
            <a:ext cx="2087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Investigating the future of software development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B939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githubnext.com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6" name="Google Shape;296;p46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6"/>
          <p:cNvSpPr txBox="1">
            <a:spLocks noGrp="1"/>
          </p:cNvSpPr>
          <p:nvPr>
            <p:ph type="body" idx="1"/>
          </p:nvPr>
        </p:nvSpPr>
        <p:spPr>
          <a:xfrm>
            <a:off x="514525" y="973300"/>
            <a:ext cx="792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516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 Tools are changing fast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14525" y="838551"/>
            <a:ext cx="8272636" cy="4491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2022: </a:t>
            </a:r>
            <a:r>
              <a:rPr lang="en" sz="1600" b="1" dirty="0"/>
              <a:t>GitHub Copilot Code Completions </a:t>
            </a:r>
            <a:r>
              <a:rPr lang="en" sz="1600" dirty="0"/>
              <a:t>launched. </a:t>
            </a:r>
            <a:endParaRPr sz="16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1.8M+ paying users, 50%+ of users’ code is written by Copilot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2023: </a:t>
            </a:r>
            <a:r>
              <a:rPr lang="en" sz="1600" b="1" dirty="0"/>
              <a:t>AI Assists expand in traditional Developer Environments</a:t>
            </a:r>
            <a:endParaRPr sz="1600" b="1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Summarization, advice, code review, e.g. Cody and others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2024: </a:t>
            </a:r>
            <a:r>
              <a:rPr lang="en" sz="1600" b="1" dirty="0"/>
              <a:t>Shift to Task-orientation</a:t>
            </a:r>
            <a:endParaRPr sz="1600" b="1" dirty="0"/>
          </a:p>
          <a:p>
            <a:pPr lvl="1" indent="-290830">
              <a:buSzPct val="100000"/>
            </a:pPr>
            <a:r>
              <a:rPr lang="en" sz="1100" b="1" dirty="0"/>
              <a:t>GitHub Copilot Workspace,</a:t>
            </a:r>
            <a:r>
              <a:rPr lang="en" sz="1100" dirty="0"/>
              <a:t> </a:t>
            </a:r>
            <a:r>
              <a:rPr lang="en" sz="1100" b="1" dirty="0"/>
              <a:t>Cursor Composer, Devin</a:t>
            </a:r>
            <a:r>
              <a:rPr lang="en" sz="1100" dirty="0"/>
              <a:t> bring task-orientation to the IDE 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Coding Agents developed to explore and use tools</a:t>
            </a:r>
            <a:endParaRPr lang="en-GB" sz="1100" dirty="0"/>
          </a:p>
          <a:p>
            <a:pPr lvl="1" indent="-290830">
              <a:buSzPct val="100000"/>
            </a:pPr>
            <a:r>
              <a:rPr lang="en" sz="1100" dirty="0"/>
              <a:t>Cursor/VS Code </a:t>
            </a:r>
            <a:r>
              <a:rPr lang="en" sz="1100" b="1" dirty="0"/>
              <a:t>Agent-Mode</a:t>
            </a:r>
            <a:r>
              <a:rPr lang="en" sz="1100" dirty="0"/>
              <a:t>, </a:t>
            </a:r>
            <a:r>
              <a:rPr lang="en" sz="1100" b="1" dirty="0"/>
              <a:t>Claude Code</a:t>
            </a:r>
            <a:r>
              <a:rPr lang="en" sz="1100" dirty="0"/>
              <a:t> and others launched </a:t>
            </a:r>
            <a:br>
              <a:rPr lang="en-GB" sz="1100" dirty="0"/>
            </a:br>
            <a:endParaRPr lang="en-GB"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AI-assisted app development</a:t>
            </a:r>
            <a:r>
              <a:rPr lang="en" sz="1600" dirty="0"/>
              <a:t> introduced</a:t>
            </a:r>
            <a:endParaRPr sz="1600" dirty="0"/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00" dirty="0"/>
              <a:t>GitHub Spark, Bolt, Gemini, Lovable, Cogna, …</a:t>
            </a:r>
            <a:br>
              <a:rPr lang="en" sz="1100" dirty="0"/>
            </a:br>
            <a:endParaRPr sz="1100" dirty="0"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600" dirty="0"/>
              <a:t>2025: </a:t>
            </a:r>
            <a:r>
              <a:rPr lang="en" sz="1600" b="1" dirty="0"/>
              <a:t>Continuous AI </a:t>
            </a:r>
            <a:r>
              <a:rPr lang="en" sz="1600" dirty="0"/>
              <a:t>introduced </a:t>
            </a:r>
            <a:endParaRPr sz="1600" dirty="0"/>
          </a:p>
          <a:p>
            <a:pPr lvl="1" indent="-290830">
              <a:buSzPct val="100000"/>
            </a:pPr>
            <a:r>
              <a:rPr lang="en-GB" sz="1100" dirty="0"/>
              <a:t>GitHub Agentic Workflows, Google Jules, Curor Automations</a:t>
            </a: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100" dirty="0"/>
              <a:t>Proactive, automated use of AI</a:t>
            </a:r>
            <a:endParaRPr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683667FA-F60B-63D2-730F-9747F203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2D7FA8F6-CA2A-97A1-228E-52C20AA02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6: New Futures, New Work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46FE1-5086-1243-3DA4-FB021DB0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25" y="973299"/>
            <a:ext cx="7926000" cy="383659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dirty="0"/>
              <a:t>The Future is </a:t>
            </a:r>
            <a:r>
              <a:rPr lang="en-GB" b="1" u="sng" dirty="0"/>
              <a:t>Work that wasn’t being done before</a:t>
            </a:r>
          </a:p>
          <a:p>
            <a:pPr marL="114300" indent="0">
              <a:buNone/>
            </a:pPr>
            <a:endParaRPr lang="en-GB" b="1" dirty="0"/>
          </a:p>
          <a:p>
            <a:pPr marL="114300" indent="0">
              <a:buNone/>
            </a:pPr>
            <a:r>
              <a:rPr lang="en-GB" sz="1600" dirty="0"/>
              <a:t>Automobile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travel that wasn’t being done before</a:t>
            </a:r>
          </a:p>
          <a:p>
            <a:pPr marL="114300" indent="0">
              <a:buNone/>
            </a:pPr>
            <a:br>
              <a:rPr lang="en-GB" sz="1600" dirty="0"/>
            </a:br>
            <a:r>
              <a:rPr lang="en-GB" sz="1600" dirty="0"/>
              <a:t>Factory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millions of products that weren’t being produced before</a:t>
            </a:r>
          </a:p>
          <a:p>
            <a:pPr marL="114300" indent="0">
              <a:buNone/>
            </a:pPr>
            <a:endParaRPr lang="en-GB" sz="1600" dirty="0"/>
          </a:p>
          <a:p>
            <a:pPr marL="114300" indent="0">
              <a:buNone/>
            </a:pPr>
            <a:r>
              <a:rPr lang="en-GB" sz="1600" dirty="0"/>
              <a:t>Medicine</a:t>
            </a:r>
          </a:p>
          <a:p>
            <a:r>
              <a:rPr lang="en-GB" sz="1600" dirty="0"/>
              <a:t>Led to </a:t>
            </a:r>
            <a:r>
              <a:rPr lang="en-GB" sz="1600" b="1" u="sng" dirty="0"/>
              <a:t>many diseases that weren’t being treated before</a:t>
            </a:r>
          </a:p>
          <a:p>
            <a:pPr marL="114300" indent="0">
              <a:buNone/>
            </a:pPr>
            <a:br>
              <a:rPr lang="en-GB" sz="1600" b="1"/>
            </a:br>
            <a:r>
              <a:rPr lang="en-GB" sz="1600" b="1"/>
              <a:t>More </a:t>
            </a:r>
            <a:r>
              <a:rPr lang="en-GB" sz="1600" b="1" dirty="0"/>
              <a:t>overall work, not less</a:t>
            </a:r>
          </a:p>
          <a:p>
            <a:pPr marL="114300" indent="0">
              <a:buNone/>
            </a:pPr>
            <a:r>
              <a:rPr lang="en-GB" sz="1600" b="1" dirty="0"/>
              <a:t>New work, not less work</a:t>
            </a:r>
          </a:p>
        </p:txBody>
      </p:sp>
    </p:spTree>
    <p:extLst>
      <p:ext uri="{BB962C8B-B14F-4D97-AF65-F5344CB8AC3E}">
        <p14:creationId xmlns:p14="http://schemas.microsoft.com/office/powerpoint/2010/main" val="2408520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5452C450-3093-97D8-CDCE-EA66101A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>
            <a:extLst>
              <a:ext uri="{FF2B5EF4-FFF2-40B4-BE49-F238E27FC236}">
                <a16:creationId xmlns:a16="http://schemas.microsoft.com/office/drawing/2014/main" id="{5489898B-D663-7938-82E2-8E4581857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525" y="265850"/>
            <a:ext cx="7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Theme 6: New Futures, New Work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573F4-2876-3B9F-C655-2BEE052EF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25" y="973299"/>
            <a:ext cx="7926000" cy="3836593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GB" sz="1600" b="1" dirty="0"/>
              <a:t>Software Performance Engineering</a:t>
            </a:r>
            <a:r>
              <a:rPr lang="en-GB" sz="1600" dirty="0"/>
              <a:t> was previously expensive, </a:t>
            </a:r>
            <a:r>
              <a:rPr lang="en-GB" sz="1600" dirty="0" err="1"/>
              <a:t>adhoc</a:t>
            </a:r>
            <a:r>
              <a:rPr lang="en-GB" sz="1600" dirty="0"/>
              <a:t>, ephemeral</a:t>
            </a:r>
          </a:p>
          <a:p>
            <a:pPr marL="114300" indent="0">
              <a:buNone/>
            </a:pPr>
            <a:r>
              <a:rPr lang="en-GB" sz="1600" dirty="0"/>
              <a:t>	</a:t>
            </a:r>
            <a:r>
              <a:rPr lang="en-GB" sz="1600" dirty="0">
                <a:sym typeface="Wingdings" panose="05000000000000000000" pitchFamily="2" charset="2"/>
              </a:rPr>
              <a:t> AI-automated performance engineering now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</a:t>
            </a:r>
            <a:r>
              <a:rPr lang="en-GB" sz="1600" b="1" dirty="0">
                <a:sym typeface="Wingdings" panose="05000000000000000000" pitchFamily="2" charset="2"/>
              </a:rPr>
              <a:t>Good work that was too expensive to do</a:t>
            </a:r>
          </a:p>
          <a:p>
            <a:pPr marL="114300" indent="0">
              <a:buNone/>
            </a:pPr>
            <a:endParaRPr lang="en-GB" sz="1600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r>
              <a:rPr lang="en-GB" sz="1600" b="1" dirty="0">
                <a:sym typeface="Wingdings" panose="05000000000000000000" pitchFamily="2" charset="2"/>
              </a:rPr>
              <a:t>Formal Verification </a:t>
            </a:r>
            <a:r>
              <a:rPr lang="en-GB" sz="1600" dirty="0">
                <a:sym typeface="Wingdings" panose="05000000000000000000" pitchFamily="2" charset="2"/>
              </a:rPr>
              <a:t>was previously very expensive, rare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AI-automated formal verification now looking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100x less expensive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</a:p>
          <a:p>
            <a:pPr marL="114300" indent="0">
              <a:buNone/>
            </a:pPr>
            <a:br>
              <a:rPr lang="en-GB" sz="1600" b="1" dirty="0">
                <a:sym typeface="Wingdings" panose="05000000000000000000" pitchFamily="2" charset="2"/>
              </a:rPr>
            </a:br>
            <a:r>
              <a:rPr lang="en-GB" sz="1600" b="1" dirty="0">
                <a:sym typeface="Wingdings" panose="05000000000000000000" pitchFamily="2" charset="2"/>
              </a:rPr>
              <a:t>Software Maintenance </a:t>
            </a:r>
            <a:r>
              <a:rPr lang="en-GB" sz="1600" dirty="0">
                <a:sym typeface="Wingdings" panose="05000000000000000000" pitchFamily="2" charset="2"/>
              </a:rPr>
              <a:t>was previously very expensive, needed experts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AI-assisted software maintenance now tractable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20x(?) less expensive</a:t>
            </a:r>
          </a:p>
          <a:p>
            <a:pPr marL="114300" indent="0">
              <a:buNone/>
            </a:pPr>
            <a:r>
              <a:rPr lang="en-GB" sz="1600" dirty="0">
                <a:sym typeface="Wingdings" panose="05000000000000000000" pitchFamily="2" charset="2"/>
              </a:rPr>
              <a:t>	 Needs human expertise and oversight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655587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1626</Words>
  <Application>Microsoft Office PowerPoint</Application>
  <PresentationFormat>On-screen Show (16:9)</PresentationFormat>
  <Paragraphs>240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Mona Sans</vt:lpstr>
      <vt:lpstr>Aptos</vt:lpstr>
      <vt:lpstr>Wingdings</vt:lpstr>
      <vt:lpstr>Helvetica Neue</vt:lpstr>
      <vt:lpstr>Roboto</vt:lpstr>
      <vt:lpstr>Courier New</vt:lpstr>
      <vt:lpstr>Inter Black</vt:lpstr>
      <vt:lpstr>Inter Light</vt:lpstr>
      <vt:lpstr>Inter</vt:lpstr>
      <vt:lpstr>Arial</vt:lpstr>
      <vt:lpstr>Simple Dark</vt:lpstr>
      <vt:lpstr>Agentic Repository Automation </vt:lpstr>
      <vt:lpstr>PowerPoint Presentation</vt:lpstr>
      <vt:lpstr>GitHub Next Research, Build, Balance, Ship, Learn </vt:lpstr>
      <vt:lpstr>We live in the most incredible of times</vt:lpstr>
      <vt:lpstr>We live in the most incredible of times</vt:lpstr>
      <vt:lpstr>Continuous AI </vt:lpstr>
      <vt:lpstr>Continuous AI implemented by GitHub Agentic Workflows  </vt:lpstr>
      <vt:lpstr>GitHub Agentic Workflows  =  The coding agents you love running automated in safe sandboxes with strong guardrails in GitHub Actions</vt:lpstr>
      <vt:lpstr>PowerPoint Presentation</vt:lpstr>
      <vt:lpstr>Example - Weekly Researcher</vt:lpstr>
      <vt:lpstr>Example - Issue Triage</vt:lpstr>
      <vt:lpstr>Agentic Workflows - Getting Started</vt:lpstr>
      <vt:lpstr>Agentic Workflows - Safety, Safety, Safety</vt:lpstr>
      <vt:lpstr>Continuous AI implemented by Agentic Workflows  enables Agent Zoo </vt:lpstr>
      <vt:lpstr>Continuous AI implemented by Agentic Workflows  enables Continuous Test Improvement </vt:lpstr>
      <vt:lpstr>Continuous AI implemented by Agentic Workflows  enables Continuous Perf Engineering </vt:lpstr>
      <vt:lpstr>Continuous AI implemented by Agentic Workflows  enables Continuous Repository Maintenance </vt:lpstr>
      <vt:lpstr>Continuous AI implemented by Agentic Workflows  enables Continuous Formal Verification </vt:lpstr>
      <vt:lpstr>Demo – Repo Assist</vt:lpstr>
      <vt:lpstr>PowerPoint Presentation</vt:lpstr>
      <vt:lpstr>PowerPoint Presentation</vt:lpstr>
      <vt:lpstr>PowerPoint Presentation</vt:lpstr>
      <vt:lpstr>PowerPoint Presentation</vt:lpstr>
      <vt:lpstr>Demo – Lean Squad</vt:lpstr>
      <vt:lpstr>Theme 5: The Repository as an Automated Software Factory</vt:lpstr>
      <vt:lpstr>Theme 5: The Repository as an Automated Formal Verification Factory</vt:lpstr>
      <vt:lpstr>PowerPoint Presentation</vt:lpstr>
      <vt:lpstr>AI Dev Tools are changing fast</vt:lpstr>
      <vt:lpstr>Theme 6: New Futures, New Work</vt:lpstr>
      <vt:lpstr>Theme 6: New Futures, New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Don Syme</cp:lastModifiedBy>
  <cp:revision>3</cp:revision>
  <dcterms:modified xsi:type="dcterms:W3CDTF">2026-05-12T13:47:18Z</dcterms:modified>
</cp:coreProperties>
</file>