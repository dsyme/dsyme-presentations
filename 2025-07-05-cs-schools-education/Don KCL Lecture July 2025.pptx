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Inter Light"/>
      <p:regular r:id="rId51"/>
      <p:bold r:id="rId52"/>
      <p:italic r:id="rId53"/>
      <p:boldItalic r:id="rId54"/>
    </p:embeddedFont>
    <p:embeddedFont>
      <p:font typeface="Roboto"/>
      <p:regular r:id="rId55"/>
      <p:bold r:id="rId56"/>
      <p:italic r:id="rId57"/>
      <p:boldItalic r:id="rId58"/>
    </p:embeddedFont>
    <p:embeddedFont>
      <p:font typeface="Inter"/>
      <p:regular r:id="rId59"/>
      <p:bold r:id="rId60"/>
      <p:italic r:id="rId61"/>
      <p:boldItalic r:id="rId62"/>
    </p:embeddedFont>
    <p:embeddedFont>
      <p:font typeface="Inter Black"/>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oldItalic.fntdata"/><Relationship Id="rId61" Type="http://schemas.openxmlformats.org/officeDocument/2006/relationships/font" Target="fonts/Inter-italic.fntdata"/><Relationship Id="rId20" Type="http://schemas.openxmlformats.org/officeDocument/2006/relationships/slide" Target="slides/slide15.xml"/><Relationship Id="rId64" Type="http://schemas.openxmlformats.org/officeDocument/2006/relationships/font" Target="fonts/InterBlack-boldItalic.fntdata"/><Relationship Id="rId63" Type="http://schemas.openxmlformats.org/officeDocument/2006/relationships/font" Target="fonts/InterBlack-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Inter-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Light-regular.fntdata"/><Relationship Id="rId50" Type="http://schemas.openxmlformats.org/officeDocument/2006/relationships/slide" Target="slides/slide45.xml"/><Relationship Id="rId53" Type="http://schemas.openxmlformats.org/officeDocument/2006/relationships/font" Target="fonts/InterLight-italic.fntdata"/><Relationship Id="rId52" Type="http://schemas.openxmlformats.org/officeDocument/2006/relationships/font" Target="fonts/InterLight-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InterLight-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Inter-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42cfc7a1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 name="Google Shape;45;g342cfc7a1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03d9a8437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03d9a8437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representing the work of an amazing team</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Currently 18 people</a:t>
            </a:r>
            <a:endParaRPr/>
          </a:p>
          <a:p>
            <a:pPr indent="-298450" lvl="0" marL="457200" rtl="0" algn="l">
              <a:spcBef>
                <a:spcPts val="0"/>
              </a:spcBef>
              <a:spcAft>
                <a:spcPts val="0"/>
              </a:spcAft>
              <a:buSzPts val="1100"/>
              <a:buChar char="●"/>
            </a:pPr>
            <a:r>
              <a:rPr lang="en"/>
              <a:t>Mix of backgrounds and skillsets</a:t>
            </a:r>
            <a:endParaRPr/>
          </a:p>
          <a:p>
            <a:pPr indent="-298450" lvl="0" marL="457200" rtl="0" algn="l">
              <a:spcBef>
                <a:spcPts val="0"/>
              </a:spcBef>
              <a:spcAft>
                <a:spcPts val="0"/>
              </a:spcAft>
              <a:buSzPts val="1100"/>
              <a:buChar char="●"/>
            </a:pPr>
            <a:r>
              <a:rPr lang="en"/>
              <a:t>Frontend, backend, ML, programming </a:t>
            </a:r>
            <a:r>
              <a:rPr lang="en"/>
              <a:t>languages</a:t>
            </a:r>
            <a:r>
              <a:rPr lang="en"/>
              <a:t>, user research,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takes this diverse mix of skillsets to build new AI developer tools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2cfc7a1ec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2cfc7a1ec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3d9a8437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3d9a8437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2d63b252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2d63b252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2d63b25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2d63b25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2fdf29e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2fdf29e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d42b9ea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d42b9ea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d42b9ea6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6d42b9ea6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2cfc7a1e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2cfc7a1e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2cfc7a1ec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2cfc7a1ec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2cfc7a1ec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2cfc7a1e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2cfc7a1e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2cfc7a1e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2cfc7a1ec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2cfc7a1ec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2cfc7a1ec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42cfc7a1ec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2cfc7a1ec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2cfc7a1ec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2cfc7a1ec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2cfc7a1ec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2cfc7a1ec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2cfc7a1ec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2cfc7a1ec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2cfc7a1ec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2cfc7a1e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2cfc7a1e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2cfc7a1ec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2cfc7a1ec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2cfc7a1ec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2cfc7a1ec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2cfc7a1ec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2cfc7a1ec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2cfc7a1ec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42cfc7a1ec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2cfc7a1ec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42cfc7a1ec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42cfc7a1ec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42cfc7a1ec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2cfc7a1ec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2cfc7a1ec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2cfc7a1ec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42cfc7a1ec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f92cd41c3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f92cd41c3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wanted to share the example of original Copilot.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original Copilot was introduced in June 2021, there were fewer than 10 people on the team.  One of the great things about software is that a small team of great people can build something with huge impact.  And this is what I meant by “</a:t>
            </a:r>
            <a:r>
              <a:rPr lang="en"/>
              <a:t>asymmetric</a:t>
            </a:r>
            <a:r>
              <a:rPr lang="en"/>
              <a:t> value” on the previous slide.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03d9a84375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03d9a84375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researchers our instinct is to run benchmarks and quantify things.  But “feel” is actually very important when building developer tools, and to get a feel for a tool you have to build a prototype and use it.  Also, a prototype is far more convincing to decision makers than benchmarks.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Example: A project from a previous job called Fixbot.  I started Fixbot with the aim of automatically repairing code that doesn’t compile using a model trained on source code edits.  This was before LLMs, and so we had to train a model to do this.  We started by collecting a giant dataset and training that model, then computing the fraction of failed builds we could fix.  We could map that to developer time and show huge potential productivity improvements.  But my management wasn’t convinced. And it took us years to do all this work. If I could go back, I’d do the least amount of work necessary to build a prototype that we could show to the decision makers, let them use, etc.  A usable prototype is much more convincing than charts and graphs, even at a data driven company.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 addition, having a usable </a:t>
            </a:r>
            <a:r>
              <a:rPr lang="en">
                <a:solidFill>
                  <a:schemeClr val="dk1"/>
                </a:solidFill>
              </a:rPr>
              <a:t>prototype</a:t>
            </a:r>
            <a:r>
              <a:rPr lang="en">
                <a:solidFill>
                  <a:schemeClr val="dk1"/>
                </a:solidFill>
              </a:rPr>
              <a:t> lets you test you assumptions.  In Fixbot we had some assumptions that made the project significantly more complex.  For example, we believed we couldn’t show fixes that wouldn’t compile to developers, and so we did a lot of work to implement speculative builds.  But if we had had a prototype, we could have just tried using it before we built that feature, and maybe wouldn’t have been  necessary. Or maybe we could find a UI that lowers the cost of incorrect suggestions.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03d9a84375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03d9a84375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If you’re thinking big, it can be tempting to talk about multi year time horizons.  It’s OK to have a long-term vision and an overarching plan, but you need to drop off useful things regularly, or it’s going to look like you’re doing nothing.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Neural retrieval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late 2022 we built a homegrown vector database to experiment with.  Retrieval was a hot topic in the ML literature and we wanted to see what it might be good for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(More on following slides)</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03d9a84375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03d9a84375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In the PL and SWE communities, we have a long history of building really cool, innovative, useful tools that no one uses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Refactoring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Static analysis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Program verification or formal verification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Debugging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 The list goes on and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because we haven’t found the right UX to make these usable by real developers.  And usually the people building the tools don’t have UX expertise to find the right UX.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Getting the UX right is the difference between success and failure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f90430c05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f90430c05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research team, your job is to invent new things.  Time that you spend </a:t>
            </a:r>
            <a:r>
              <a:rPr lang="en"/>
              <a:t>maintaining</a:t>
            </a:r>
            <a:r>
              <a:rPr lang="en"/>
              <a:t> things that you’ve already built is time that you’re not spending building new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 teammate Idan Gazit has a saying: “You can’t go exploring if you’re carrying baggage.”  If you’ve ever been in the situation of trying to maintain an existing project while building a new thing, you know how </a:t>
            </a:r>
            <a:r>
              <a:rPr lang="en"/>
              <a:t>hard this is.  It’s very difficult to justify spending time on something new and speculative when you have real users who are running into bugs in your existing thing, or who have feature requests that you know will improve their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as a research team, you </a:t>
            </a:r>
            <a:r>
              <a:rPr i="1" lang="en"/>
              <a:t>have </a:t>
            </a:r>
            <a:r>
              <a:rPr lang="en"/>
              <a:t>to spend time on the new stuff, because that’s your job.  And so it’s very important that you not hang onto projects for too long.  You need to get these projects to a point where they can stand on their own, and then hand them off to a product team to own long term.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original Copilot, this was a long process.  Those of us who had created Copilot in Next went on loan into GitHub Engineering to seed and grow the new Copilot team.  We helped get Copilot to general availability, we hired people who could take over our work, and we worked on knowledge transfer for almost a year to help build a healthy team that could own Copilot long term.  Then we came back to Next and started working on new projects like Copilot Workspace.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03d9a8437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03d9a8437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We’re in an era of exponential improvements in LLMs.  This means that costs have been quickly going down, and will continue to do so.  And so we shouldn’t prematurely declare projects too expensive, instead we should focus on delivering the most value to the user and assuming exponentially decreasing costs </a:t>
            </a:r>
            <a:r>
              <a:rPr lang="en">
                <a:solidFill>
                  <a:schemeClr val="dk1"/>
                </a:solidFill>
              </a:rPr>
              <a:t>will</a:t>
            </a:r>
            <a:r>
              <a:rPr lang="en">
                <a:solidFill>
                  <a:schemeClr val="dk1"/>
                </a:solidFill>
              </a:rPr>
              <a:t> make it financially viable.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When we built Copilot, there were existing competitors but they were all using small local models, presumably for cost reasons.  With Copilot we were aiming for much higher quality, which required a large, cloud hosted model.  It would have been easy to just decide this was financially infeasible and kill the project.  But instead we focused on building the best tool we could and getting users to love it.  And it succeeded!  And over time, the models we use to power Copilot have gotten smaller and faster, while quality has improved.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We saw a similar thing with Copilot Workspace.  When we started the project, we were using the preview version of GPT-4, which was terribly slow and expensive.  But then GPT-4 Turbo came along, which was much faster and cheaper.  And now we have GPT-4o, which is quite fast and quite cheap by comparison.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03d9a84375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03d9a84375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Dogfooding </a:t>
            </a:r>
            <a:r>
              <a:rPr lang="en">
                <a:solidFill>
                  <a:schemeClr val="dk1"/>
                </a:solidFill>
              </a:rPr>
              <a:t>refers to the practice of using the things you are building.  It</a:t>
            </a:r>
            <a:r>
              <a:rPr lang="en"/>
              <a:t> comes from the phrase, “Eat your own dog food.” </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Surprisingly a lot of people don’t do this, or they disregard the dogfood feedback when it’s </a:t>
            </a:r>
            <a:r>
              <a:rPr lang="en">
                <a:solidFill>
                  <a:schemeClr val="dk1"/>
                </a:solidFill>
              </a:rPr>
              <a:t>inconvenient</a:t>
            </a:r>
            <a:r>
              <a:rPr lang="en">
                <a:solidFill>
                  <a:schemeClr val="dk1"/>
                </a:solidFill>
              </a:rPr>
              <a:t> for them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Next, we dogfood intensively, and we take the feedback seriously.  It often results in substantial changes to the things we’re building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(show an example on the following slides)</a:t>
            </a:r>
            <a:endParaRPr>
              <a:solidFill>
                <a:schemeClr val="dk1"/>
              </a:solidFill>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42d63b25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42d63b25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2cfc7a1ec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42cfc7a1ec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2cfc7a1ec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42cfc7a1ec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2cfc7a1ec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42cfc7a1ec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2cfc7a1ec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2cfc7a1ec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42cfc7a1ec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42cfc7a1ec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2cfc7a1ec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2cfc7a1ec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first used it to explore natural language code search, with a deliverable of a live demo at the GitHub Universe conference in Oct 2022</a:t>
            </a:r>
            <a:endParaRPr>
              <a:solidFill>
                <a:schemeClr val="dk1"/>
              </a:solidFill>
            </a:endParaRPr>
          </a:p>
          <a:p>
            <a:pPr indent="0" lvl="0" marL="0" rtl="0" algn="l">
              <a:lnSpc>
                <a:spcPct val="115000"/>
              </a:lnSpc>
              <a:spcBef>
                <a:spcPts val="0"/>
              </a:spcBef>
              <a:spcAft>
                <a:spcPts val="0"/>
              </a:spcAft>
              <a:buNone/>
            </a:pPr>
            <a:r>
              <a:rPr lang="en">
                <a:solidFill>
                  <a:schemeClr val="dk1"/>
                </a:solidFill>
              </a:rPr>
              <a:t>While it demoed well, the quality of the search results wasn’t good enough for a real product.  So we moved on to another application.</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2cfc7a1ec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2cfc7a1ec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Then we used it to experiment with customizing Copilot for private codebases.  Because Copilot uses standard models that were trained on public code, they are not aware of a company’s private code, internal APIs, custom programming languages, etc.  And so we were looking for a solution to improve quality on these private codebases.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One way to do this is to index the private codebase and store snippets in a vector database, and then as the user is typing you query the database for similar code and inject it into the prompt.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So we implemented this, and we ran on an offline evaluation and got a very positive result.  But when we ran an online A/B test in Copilot, we didn’t see any improvement in our key metrics.  And we had another application for retrieval, so we handed this result and our code to the Copilot team, and moved 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42cfc7a1ec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42cfc7a1ec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By this time, ChatGPT had been released, and everyone was excited for chat.</a:t>
            </a:r>
            <a:endParaRPr>
              <a:solidFill>
                <a:schemeClr val="dk1"/>
              </a:solidFill>
            </a:endParaRPr>
          </a:p>
          <a:p>
            <a:pPr indent="0" lvl="0" marL="0" rtl="0" algn="l">
              <a:lnSpc>
                <a:spcPct val="115000"/>
              </a:lnSpc>
              <a:spcBef>
                <a:spcPts val="0"/>
              </a:spcBef>
              <a:spcAft>
                <a:spcPts val="0"/>
              </a:spcAft>
              <a:buNone/>
            </a:pPr>
            <a:r>
              <a:rPr lang="en">
                <a:solidFill>
                  <a:schemeClr val="dk1"/>
                </a:solidFill>
              </a:rPr>
              <a:t>We realized that you could use retrieved snippets to ground an LLM chatbot in high quality, official documentation</a:t>
            </a:r>
            <a:endParaRPr>
              <a:solidFill>
                <a:schemeClr val="dk1"/>
              </a:solidFill>
            </a:endParaRPr>
          </a:p>
          <a:p>
            <a:pPr indent="0" lvl="0" marL="0" rtl="0" algn="l">
              <a:lnSpc>
                <a:spcPct val="115000"/>
              </a:lnSpc>
              <a:spcBef>
                <a:spcPts val="0"/>
              </a:spcBef>
              <a:spcAft>
                <a:spcPts val="0"/>
              </a:spcAft>
              <a:buNone/>
            </a:pPr>
            <a:r>
              <a:rPr lang="en">
                <a:solidFill>
                  <a:schemeClr val="dk1"/>
                </a:solidFill>
              </a:rPr>
              <a:t>We also realized that you could retrieve from private documentation as well as code, to customize the chatbot for a specific company</a:t>
            </a:r>
            <a:endParaRPr>
              <a:solidFill>
                <a:schemeClr val="dk1"/>
              </a:solidFill>
            </a:endParaRPr>
          </a:p>
          <a:p>
            <a:pPr indent="0" lvl="0" marL="0" rtl="0" algn="l">
              <a:lnSpc>
                <a:spcPct val="115000"/>
              </a:lnSpc>
              <a:spcBef>
                <a:spcPts val="0"/>
              </a:spcBef>
              <a:spcAft>
                <a:spcPts val="0"/>
              </a:spcAft>
              <a:buNone/>
            </a:pPr>
            <a:r>
              <a:rPr lang="en">
                <a:solidFill>
                  <a:schemeClr val="dk1"/>
                </a:solidFill>
              </a:rPr>
              <a:t>So we refocused on retrieval-augmented chat, which turned into Copilot for Docs, which launched as a tech preview in Mar 2023</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With the retrieval work, we were able to deliver 3 useful things, each taking a few months, along on the theme of investigating neural retrieval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42400" y="2444875"/>
            <a:ext cx="6594300" cy="656400"/>
          </a:xfrm>
          <a:prstGeom prst="rect">
            <a:avLst/>
          </a:prstGeom>
        </p:spPr>
        <p:txBody>
          <a:bodyPr anchorCtr="0" anchor="t" bIns="0" lIns="0" spcFirstLastPara="1" rIns="0" wrap="square" tIns="0">
            <a:normAutofit/>
          </a:bodyPr>
          <a:lstStyle>
            <a:lvl1pPr lvl="0">
              <a:spcBef>
                <a:spcPts val="0"/>
              </a:spcBef>
              <a:spcAft>
                <a:spcPts val="0"/>
              </a:spcAft>
              <a:buSzPts val="3600"/>
              <a:buFont typeface="Inter"/>
              <a:buNone/>
              <a:defRPr b="1" sz="3600">
                <a:latin typeface="Inter"/>
                <a:ea typeface="Inter"/>
                <a:cs typeface="Inter"/>
                <a:sym typeface="Inter"/>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1" name="Google Shape;11;p2"/>
          <p:cNvSpPr txBox="1"/>
          <p:nvPr>
            <p:ph idx="1" type="subTitle"/>
          </p:nvPr>
        </p:nvSpPr>
        <p:spPr>
          <a:xfrm>
            <a:off x="1142400" y="3101275"/>
            <a:ext cx="6492600" cy="792600"/>
          </a:xfrm>
          <a:prstGeom prst="rect">
            <a:avLst/>
          </a:prstGeom>
        </p:spPr>
        <p:txBody>
          <a:bodyPr anchorCtr="0" anchor="t" bIns="0" lIns="0" spcFirstLastPara="1" rIns="0" wrap="square" tIns="0">
            <a:normAutofit/>
          </a:bodyPr>
          <a:lstStyle>
            <a:lvl1pPr lv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12" name="Google Shape;12;p2"/>
          <p:cNvPicPr preferRelativeResize="0"/>
          <p:nvPr/>
        </p:nvPicPr>
        <p:blipFill>
          <a:blip r:embed="rId2">
            <a:alphaModFix/>
          </a:blip>
          <a:stretch>
            <a:fillRect/>
          </a:stretch>
        </p:blipFill>
        <p:spPr>
          <a:xfrm>
            <a:off x="669377" y="728025"/>
            <a:ext cx="1932700" cy="193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2">
    <p:spTree>
      <p:nvGrpSpPr>
        <p:cNvPr id="13" name="Shape 13"/>
        <p:cNvGrpSpPr/>
        <p:nvPr/>
      </p:nvGrpSpPr>
      <p:grpSpPr>
        <a:xfrm>
          <a:off x="0" y="0"/>
          <a:ext cx="0" cy="0"/>
          <a:chOff x="0" y="0"/>
          <a:chExt cx="0" cy="0"/>
        </a:xfrm>
      </p:grpSpPr>
      <p:sp>
        <p:nvSpPr>
          <p:cNvPr id="14" name="Google Shape;14;p3"/>
          <p:cNvSpPr txBox="1"/>
          <p:nvPr>
            <p:ph type="ctrTitle"/>
          </p:nvPr>
        </p:nvSpPr>
        <p:spPr>
          <a:xfrm>
            <a:off x="756750" y="2256050"/>
            <a:ext cx="6594300" cy="656400"/>
          </a:xfrm>
          <a:prstGeom prst="rect">
            <a:avLst/>
          </a:prstGeom>
        </p:spPr>
        <p:txBody>
          <a:bodyPr anchorCtr="0" anchor="t" bIns="0" lIns="0" spcFirstLastPara="1" rIns="0" wrap="square" tIns="0">
            <a:normAutofit/>
          </a:bodyPr>
          <a:lstStyle>
            <a:lvl1pPr lvl="0" rtl="0">
              <a:spcBef>
                <a:spcPts val="0"/>
              </a:spcBef>
              <a:spcAft>
                <a:spcPts val="0"/>
              </a:spcAft>
              <a:buSzPts val="3600"/>
              <a:buFont typeface="Inter"/>
              <a:buNone/>
              <a:defRPr b="1" sz="3600">
                <a:latin typeface="Inter"/>
                <a:ea typeface="Inter"/>
                <a:cs typeface="Inter"/>
                <a:sym typeface="Inter"/>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5" name="Google Shape;15;p3"/>
          <p:cNvSpPr txBox="1"/>
          <p:nvPr>
            <p:ph idx="1" type="subTitle"/>
          </p:nvPr>
        </p:nvSpPr>
        <p:spPr>
          <a:xfrm>
            <a:off x="756750" y="2912450"/>
            <a:ext cx="6492600" cy="792600"/>
          </a:xfrm>
          <a:prstGeom prst="rect">
            <a:avLst/>
          </a:prstGeom>
        </p:spPr>
        <p:txBody>
          <a:bodyPr anchorCtr="0" anchor="t" bIns="0" lIns="0" spcFirstLastPara="1" rIns="0" wrap="square" tIns="0">
            <a:normAutofit/>
          </a:bodyPr>
          <a:lstStyle>
            <a:lvl1pPr lvl="0"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4525" y="265850"/>
            <a:ext cx="7926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B0CCC7"/>
              </a:buClr>
              <a:buSzPts val="1800"/>
              <a:buChar char="●"/>
              <a:defRPr>
                <a:solidFill>
                  <a:srgbClr val="B0CCC7"/>
                </a:solidFill>
              </a:defRPr>
            </a:lvl1pPr>
            <a:lvl2pPr indent="-317500" lvl="1" marL="914400">
              <a:spcBef>
                <a:spcPts val="0"/>
              </a:spcBef>
              <a:spcAft>
                <a:spcPts val="0"/>
              </a:spcAft>
              <a:buClr>
                <a:srgbClr val="B0CCC7"/>
              </a:buClr>
              <a:buSzPts val="1400"/>
              <a:buChar char="○"/>
              <a:defRPr>
                <a:solidFill>
                  <a:srgbClr val="B0CCC7"/>
                </a:solidFill>
              </a:defRPr>
            </a:lvl2pPr>
            <a:lvl3pPr indent="-317500" lvl="2" marL="1371600">
              <a:spcBef>
                <a:spcPts val="0"/>
              </a:spcBef>
              <a:spcAft>
                <a:spcPts val="0"/>
              </a:spcAft>
              <a:buClr>
                <a:srgbClr val="B0CCC7"/>
              </a:buClr>
              <a:buSzPts val="1400"/>
              <a:buChar char="■"/>
              <a:defRPr>
                <a:solidFill>
                  <a:srgbClr val="B0CCC7"/>
                </a:solidFill>
              </a:defRPr>
            </a:lvl3pPr>
            <a:lvl4pPr indent="-317500" lvl="3" marL="1828800">
              <a:spcBef>
                <a:spcPts val="0"/>
              </a:spcBef>
              <a:spcAft>
                <a:spcPts val="0"/>
              </a:spcAft>
              <a:buClr>
                <a:srgbClr val="B0CCC7"/>
              </a:buClr>
              <a:buSzPts val="1400"/>
              <a:buChar char="●"/>
              <a:defRPr>
                <a:solidFill>
                  <a:srgbClr val="B0CCC7"/>
                </a:solidFill>
              </a:defRPr>
            </a:lvl4pPr>
            <a:lvl5pPr indent="-317500" lvl="4" marL="2286000">
              <a:spcBef>
                <a:spcPts val="0"/>
              </a:spcBef>
              <a:spcAft>
                <a:spcPts val="0"/>
              </a:spcAft>
              <a:buClr>
                <a:srgbClr val="B0CCC7"/>
              </a:buClr>
              <a:buSzPts val="1400"/>
              <a:buChar char="○"/>
              <a:defRPr>
                <a:solidFill>
                  <a:srgbClr val="B0CCC7"/>
                </a:solidFill>
              </a:defRPr>
            </a:lvl5pPr>
            <a:lvl6pPr indent="-317500" lvl="5" marL="2743200">
              <a:spcBef>
                <a:spcPts val="0"/>
              </a:spcBef>
              <a:spcAft>
                <a:spcPts val="0"/>
              </a:spcAft>
              <a:buClr>
                <a:srgbClr val="B0CCC7"/>
              </a:buClr>
              <a:buSzPts val="1400"/>
              <a:buChar char="■"/>
              <a:defRPr>
                <a:solidFill>
                  <a:srgbClr val="B0CCC7"/>
                </a:solidFill>
              </a:defRPr>
            </a:lvl6pPr>
            <a:lvl7pPr indent="-317500" lvl="6" marL="3200400">
              <a:spcBef>
                <a:spcPts val="0"/>
              </a:spcBef>
              <a:spcAft>
                <a:spcPts val="0"/>
              </a:spcAft>
              <a:buClr>
                <a:srgbClr val="B0CCC7"/>
              </a:buClr>
              <a:buSzPts val="1400"/>
              <a:buChar char="●"/>
              <a:defRPr>
                <a:solidFill>
                  <a:srgbClr val="B0CCC7"/>
                </a:solidFill>
              </a:defRPr>
            </a:lvl7pPr>
            <a:lvl8pPr indent="-317500" lvl="7" marL="3657600">
              <a:spcBef>
                <a:spcPts val="0"/>
              </a:spcBef>
              <a:spcAft>
                <a:spcPts val="0"/>
              </a:spcAft>
              <a:buClr>
                <a:srgbClr val="B0CCC7"/>
              </a:buClr>
              <a:buSzPts val="1400"/>
              <a:buChar char="○"/>
              <a:defRPr>
                <a:solidFill>
                  <a:srgbClr val="B0CCC7"/>
                </a:solidFill>
              </a:defRPr>
            </a:lvl8pPr>
            <a:lvl9pPr indent="-317500" lvl="8" marL="4114800">
              <a:spcBef>
                <a:spcPts val="0"/>
              </a:spcBef>
              <a:spcAft>
                <a:spcPts val="0"/>
              </a:spcAft>
              <a:buClr>
                <a:srgbClr val="B0CCC7"/>
              </a:buClr>
              <a:buSzPts val="1400"/>
              <a:buChar char="■"/>
              <a:defRPr>
                <a:solidFill>
                  <a:srgbClr val="B0CCC7"/>
                </a:solidFill>
              </a:defRPr>
            </a:lvl9pPr>
          </a:lstStyle>
          <a:p/>
        </p:txBody>
      </p:sp>
      <p:sp>
        <p:nvSpPr>
          <p:cNvPr id="19" name="Google Shape;19;p4"/>
          <p:cNvSpPr txBox="1"/>
          <p:nvPr>
            <p:ph idx="12" type="sldNum"/>
          </p:nvPr>
        </p:nvSpPr>
        <p:spPr>
          <a:xfrm>
            <a:off x="8080783" y="4484042"/>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 name="Shape 25"/>
        <p:cNvGrpSpPr/>
        <p:nvPr/>
      </p:nvGrpSpPr>
      <p:grpSpPr>
        <a:xfrm>
          <a:off x="0" y="0"/>
          <a:ext cx="0" cy="0"/>
          <a:chOff x="0" y="0"/>
          <a:chExt cx="0" cy="0"/>
        </a:xfrm>
      </p:grpSpPr>
      <p:sp>
        <p:nvSpPr>
          <p:cNvPr id="26" name="Google Shape;26;p6"/>
          <p:cNvSpPr txBox="1"/>
          <p:nvPr>
            <p:ph type="title"/>
          </p:nvPr>
        </p:nvSpPr>
        <p:spPr>
          <a:xfrm>
            <a:off x="490250" y="450150"/>
            <a:ext cx="67389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b="1"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7"/>
          <p:cNvSpPr/>
          <p:nvPr/>
        </p:nvSpPr>
        <p:spPr>
          <a:xfrm>
            <a:off x="4572000" y="2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b="1" sz="36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0" name="Google Shape;30;p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B0CCC7"/>
              </a:buClr>
              <a:buSzPts val="2100"/>
              <a:buNone/>
              <a:defRPr sz="2100">
                <a:solidFill>
                  <a:srgbClr val="B0CCC7"/>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1" name="Google Shape;31;p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rgbClr val="1B1F24"/>
              </a:buClr>
              <a:buSzPts val="1800"/>
              <a:buChar char="●"/>
              <a:defRPr>
                <a:solidFill>
                  <a:srgbClr val="1B1F24"/>
                </a:solidFill>
              </a:defRPr>
            </a:lvl1pPr>
            <a:lvl2pPr indent="-317500" lvl="1" marL="914400" rtl="0">
              <a:spcBef>
                <a:spcPts val="0"/>
              </a:spcBef>
              <a:spcAft>
                <a:spcPts val="0"/>
              </a:spcAft>
              <a:buClr>
                <a:srgbClr val="1B1F24"/>
              </a:buClr>
              <a:buSzPts val="1400"/>
              <a:buChar char="○"/>
              <a:defRPr>
                <a:solidFill>
                  <a:srgbClr val="1B1F24"/>
                </a:solidFill>
              </a:defRPr>
            </a:lvl2pPr>
            <a:lvl3pPr indent="-317500" lvl="2" marL="1371600" rtl="0">
              <a:spcBef>
                <a:spcPts val="0"/>
              </a:spcBef>
              <a:spcAft>
                <a:spcPts val="0"/>
              </a:spcAft>
              <a:buClr>
                <a:srgbClr val="1B1F24"/>
              </a:buClr>
              <a:buSzPts val="1400"/>
              <a:buChar char="■"/>
              <a:defRPr>
                <a:solidFill>
                  <a:srgbClr val="1B1F24"/>
                </a:solidFill>
              </a:defRPr>
            </a:lvl3pPr>
            <a:lvl4pPr indent="-317500" lvl="3" marL="1828800" rtl="0">
              <a:spcBef>
                <a:spcPts val="0"/>
              </a:spcBef>
              <a:spcAft>
                <a:spcPts val="0"/>
              </a:spcAft>
              <a:buClr>
                <a:srgbClr val="1B1F24"/>
              </a:buClr>
              <a:buSzPts val="1400"/>
              <a:buChar char="●"/>
              <a:defRPr>
                <a:solidFill>
                  <a:srgbClr val="1B1F24"/>
                </a:solidFill>
              </a:defRPr>
            </a:lvl4pPr>
            <a:lvl5pPr indent="-317500" lvl="4" marL="2286000" rtl="0">
              <a:spcBef>
                <a:spcPts val="0"/>
              </a:spcBef>
              <a:spcAft>
                <a:spcPts val="0"/>
              </a:spcAft>
              <a:buClr>
                <a:srgbClr val="1B1F24"/>
              </a:buClr>
              <a:buSzPts val="1400"/>
              <a:buChar char="○"/>
              <a:defRPr>
                <a:solidFill>
                  <a:srgbClr val="1B1F24"/>
                </a:solidFill>
              </a:defRPr>
            </a:lvl5pPr>
            <a:lvl6pPr indent="-317500" lvl="5" marL="2743200" rtl="0">
              <a:spcBef>
                <a:spcPts val="0"/>
              </a:spcBef>
              <a:spcAft>
                <a:spcPts val="0"/>
              </a:spcAft>
              <a:buClr>
                <a:srgbClr val="1B1F24"/>
              </a:buClr>
              <a:buSzPts val="1400"/>
              <a:buChar char="■"/>
              <a:defRPr>
                <a:solidFill>
                  <a:srgbClr val="1B1F24"/>
                </a:solidFill>
              </a:defRPr>
            </a:lvl6pPr>
            <a:lvl7pPr indent="-317500" lvl="6" marL="3200400" rtl="0">
              <a:spcBef>
                <a:spcPts val="0"/>
              </a:spcBef>
              <a:spcAft>
                <a:spcPts val="0"/>
              </a:spcAft>
              <a:buClr>
                <a:srgbClr val="1B1F24"/>
              </a:buClr>
              <a:buSzPts val="1400"/>
              <a:buChar char="●"/>
              <a:defRPr>
                <a:solidFill>
                  <a:srgbClr val="1B1F24"/>
                </a:solidFill>
              </a:defRPr>
            </a:lvl7pPr>
            <a:lvl8pPr indent="-317500" lvl="7" marL="3657600" rtl="0">
              <a:spcBef>
                <a:spcPts val="0"/>
              </a:spcBef>
              <a:spcAft>
                <a:spcPts val="0"/>
              </a:spcAft>
              <a:buClr>
                <a:srgbClr val="1B1F24"/>
              </a:buClr>
              <a:buSzPts val="1400"/>
              <a:buChar char="○"/>
              <a:defRPr>
                <a:solidFill>
                  <a:srgbClr val="1B1F24"/>
                </a:solidFill>
              </a:defRPr>
            </a:lvl8pPr>
            <a:lvl9pPr indent="-317500" lvl="8" marL="4114800" rtl="0">
              <a:spcBef>
                <a:spcPts val="0"/>
              </a:spcBef>
              <a:spcAft>
                <a:spcPts val="0"/>
              </a:spcAft>
              <a:buClr>
                <a:srgbClr val="1B1F24"/>
              </a:buClr>
              <a:buSzPts val="1400"/>
              <a:buChar char="■"/>
              <a:defRPr>
                <a:solidFill>
                  <a:srgbClr val="1B1F24"/>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 name="Shape 32"/>
        <p:cNvGrpSpPr/>
        <p:nvPr/>
      </p:nvGrpSpPr>
      <p:grpSpPr>
        <a:xfrm>
          <a:off x="0" y="0"/>
          <a:ext cx="0" cy="0"/>
          <a:chOff x="0" y="0"/>
          <a:chExt cx="0" cy="0"/>
        </a:xfrm>
      </p:grpSpPr>
      <p:sp>
        <p:nvSpPr>
          <p:cNvPr id="33" name="Google Shape;33;p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Inter Black"/>
              <a:buNone/>
              <a:defRPr sz="12000">
                <a:latin typeface="Inter Black"/>
                <a:ea typeface="Inter Black"/>
                <a:cs typeface="Inter Black"/>
                <a:sym typeface="Inter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8"/>
          <p:cNvSpPr txBox="1"/>
          <p:nvPr>
            <p:ph idx="1" type="subTitle"/>
          </p:nvPr>
        </p:nvSpPr>
        <p:spPr>
          <a:xfrm>
            <a:off x="1325700" y="2922700"/>
            <a:ext cx="6492600" cy="792600"/>
          </a:xfrm>
          <a:prstGeom prst="rect">
            <a:avLst/>
          </a:prstGeom>
        </p:spPr>
        <p:txBody>
          <a:bodyPr anchorCtr="0" anchor="t" bIns="0" lIns="0" spcFirstLastPara="1" rIns="0" wrap="square" tIns="0">
            <a:normAutofit/>
          </a:bodyPr>
          <a:lstStyle>
            <a:lvl1pPr lvl="0" rtl="0" algn="ctr">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1B1F2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indent="-317500" lvl="1" marL="914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indent="-317500" lvl="2" marL="1371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indent="-317500" lvl="3" marL="1828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indent="-317500" lvl="4" marL="22860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indent="-317500" lvl="5" marL="27432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indent="-317500" lvl="6" marL="3200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indent="-317500" lvl="7" marL="3657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indent="-317500" lvl="8" marL="4114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p:txBody>
      </p:sp>
      <p:pic>
        <p:nvPicPr>
          <p:cNvPr id="8" name="Google Shape;8;p1"/>
          <p:cNvPicPr preferRelativeResize="0"/>
          <p:nvPr/>
        </p:nvPicPr>
        <p:blipFill>
          <a:blip r:embed="rId1">
            <a:alphaModFix/>
          </a:blip>
          <a:stretch>
            <a:fillRect/>
          </a:stretch>
        </p:blipFill>
        <p:spPr>
          <a:xfrm>
            <a:off x="-35839" y="4427100"/>
            <a:ext cx="792600" cy="792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mailto:dsyme@github.com" TargetMode="External"/><Relationship Id="rId4" Type="http://schemas.openxmlformats.org/officeDocument/2006/relationships/hyperlink" Target="https://bsky.app/profile/dsyme.bsky.social" TargetMode="External"/><Relationship Id="rId5"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githubnext.com/" TargetMode="External"/><Relationship Id="rId4" Type="http://schemas.openxmlformats.org/officeDocument/2006/relationships/image" Target="../media/image19.png"/><Relationship Id="rId5" Type="http://schemas.openxmlformats.org/officeDocument/2006/relationships/hyperlink" Target="https://githubnext.co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drive.google.com/file/d/1dTCi8KUXdHgq3dN1X3kWlKHb-W0y3Zdj/view"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0"/>
          <p:cNvSpPr txBox="1"/>
          <p:nvPr>
            <p:ph type="ctrTitle"/>
          </p:nvPr>
        </p:nvSpPr>
        <p:spPr>
          <a:xfrm>
            <a:off x="1142400" y="2294700"/>
            <a:ext cx="7812900" cy="113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3400"/>
              <a:t>AI-assisted Software Development</a:t>
            </a:r>
            <a:br>
              <a:rPr lang="en" sz="3400"/>
            </a:br>
            <a:r>
              <a:rPr b="0" lang="en" sz="2377"/>
              <a:t>Trends and Lessons</a:t>
            </a:r>
            <a:endParaRPr b="0" sz="2377"/>
          </a:p>
        </p:txBody>
      </p:sp>
      <p:sp>
        <p:nvSpPr>
          <p:cNvPr id="42" name="Google Shape;42;p10"/>
          <p:cNvSpPr txBox="1"/>
          <p:nvPr>
            <p:ph idx="1" type="subTitle"/>
          </p:nvPr>
        </p:nvSpPr>
        <p:spPr>
          <a:xfrm>
            <a:off x="1142400" y="3518950"/>
            <a:ext cx="6492600" cy="1113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Don Syme</a:t>
            </a:r>
            <a:endParaRPr/>
          </a:p>
          <a:p>
            <a:pPr indent="0" lvl="0" marL="0" rtl="0" algn="l">
              <a:spcBef>
                <a:spcPts val="0"/>
              </a:spcBef>
              <a:spcAft>
                <a:spcPts val="0"/>
              </a:spcAft>
              <a:buNone/>
            </a:pPr>
            <a:r>
              <a:rPr lang="en"/>
              <a:t>Visiting Professor, KCL, </a:t>
            </a:r>
            <a:r>
              <a:rPr lang="en"/>
              <a:t>Principal Researcher, GitHub </a:t>
            </a:r>
            <a:endParaRPr/>
          </a:p>
          <a:p>
            <a:pPr indent="0" lvl="0" marL="0" rtl="0" algn="l">
              <a:spcBef>
                <a:spcPts val="0"/>
              </a:spcBef>
              <a:spcAft>
                <a:spcPts val="0"/>
              </a:spcAft>
              <a:buNone/>
            </a:pPr>
            <a:r>
              <a:rPr lang="en"/>
              <a:t>July </a:t>
            </a:r>
            <a:r>
              <a:rPr lang="en"/>
              <a:t>2025</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1"/>
          <p:cNvSpPr txBox="1"/>
          <p:nvPr>
            <p:ph type="ctrTitle"/>
          </p:nvPr>
        </p:nvSpPr>
        <p:spPr>
          <a:xfrm>
            <a:off x="1142400" y="2444875"/>
            <a:ext cx="6594300" cy="6564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GitHub Next</a:t>
            </a:r>
            <a:endParaRPr/>
          </a:p>
          <a:p>
            <a:pPr indent="0" lvl="0" marL="0" rtl="0" algn="l">
              <a:lnSpc>
                <a:spcPct val="120000"/>
              </a:lnSpc>
              <a:spcBef>
                <a:spcPts val="2400"/>
              </a:spcBef>
              <a:spcAft>
                <a:spcPts val="0"/>
              </a:spcAft>
              <a:buNone/>
            </a:pPr>
            <a:r>
              <a:rPr b="0" i="1" lang="en" sz="2300">
                <a:latin typeface="Roboto"/>
                <a:ea typeface="Roboto"/>
                <a:cs typeface="Roboto"/>
                <a:sym typeface="Roboto"/>
              </a:rPr>
              <a:t>Research, Build, Ship, Learn</a:t>
            </a:r>
            <a:endParaRPr b="0" i="1" sz="2300">
              <a:latin typeface="Roboto"/>
              <a:ea typeface="Roboto"/>
              <a:cs typeface="Roboto"/>
              <a:sym typeface="Roboto"/>
            </a:endParaRPr>
          </a:p>
          <a:p>
            <a:pPr indent="0" lvl="0" marL="0" rtl="0" algn="l">
              <a:spcBef>
                <a:spcPts val="0"/>
              </a:spcBef>
              <a:spcAft>
                <a:spcPts val="0"/>
              </a:spcAft>
              <a:buNone/>
            </a:pPr>
            <a:r>
              <a:t/>
            </a:r>
            <a:endParaRPr/>
          </a:p>
        </p:txBody>
      </p:sp>
      <p:pic>
        <p:nvPicPr>
          <p:cNvPr id="48" name="Google Shape;48;p11"/>
          <p:cNvPicPr preferRelativeResize="0"/>
          <p:nvPr/>
        </p:nvPicPr>
        <p:blipFill>
          <a:blip r:embed="rId3">
            <a:alphaModFix/>
          </a:blip>
          <a:stretch>
            <a:fillRect/>
          </a:stretch>
        </p:blipFill>
        <p:spPr>
          <a:xfrm>
            <a:off x="4267798" y="347975"/>
            <a:ext cx="4675575" cy="182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2"/>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t/>
            </a:r>
            <a:endParaRPr sz="2820"/>
          </a:p>
        </p:txBody>
      </p:sp>
      <p:pic>
        <p:nvPicPr>
          <p:cNvPr id="54" name="Google Shape;54;p12"/>
          <p:cNvPicPr preferRelativeResize="0"/>
          <p:nvPr/>
        </p:nvPicPr>
        <p:blipFill>
          <a:blip r:embed="rId3">
            <a:alphaModFix/>
          </a:blip>
          <a:stretch>
            <a:fillRect/>
          </a:stretch>
        </p:blipFill>
        <p:spPr>
          <a:xfrm>
            <a:off x="4335650" y="260975"/>
            <a:ext cx="3924425" cy="4492375"/>
          </a:xfrm>
          <a:prstGeom prst="rect">
            <a:avLst/>
          </a:prstGeom>
          <a:noFill/>
          <a:ln>
            <a:noFill/>
          </a:ln>
        </p:spPr>
      </p:pic>
      <p:sp>
        <p:nvSpPr>
          <p:cNvPr id="55" name="Google Shape;55;p12"/>
          <p:cNvSpPr txBox="1"/>
          <p:nvPr>
            <p:ph idx="1" type="body"/>
          </p:nvPr>
        </p:nvSpPr>
        <p:spPr>
          <a:xfrm>
            <a:off x="514525" y="973300"/>
            <a:ext cx="3621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990"/>
              <a:buFont typeface="Arial"/>
              <a:buNone/>
            </a:pPr>
            <a:r>
              <a:t/>
            </a:r>
            <a:endParaRPr b="1" sz="2820">
              <a:solidFill>
                <a:schemeClr val="dk1"/>
              </a:solidFill>
            </a:endParaRPr>
          </a:p>
          <a:p>
            <a:pPr indent="0" lvl="0" marL="0" rtl="0" algn="l">
              <a:lnSpc>
                <a:spcPct val="100000"/>
              </a:lnSpc>
              <a:spcBef>
                <a:spcPts val="0"/>
              </a:spcBef>
              <a:spcAft>
                <a:spcPts val="0"/>
              </a:spcAft>
              <a:buClr>
                <a:srgbClr val="000000"/>
              </a:buClr>
              <a:buSzPts val="990"/>
              <a:buFont typeface="Arial"/>
              <a:buNone/>
            </a:pPr>
            <a:r>
              <a:rPr b="1" lang="en" sz="2820">
                <a:solidFill>
                  <a:schemeClr val="dk1"/>
                </a:solidFill>
              </a:rPr>
              <a:t>The GitHub Next Team</a:t>
            </a:r>
            <a:endParaRPr b="1" sz="2820">
              <a:solidFill>
                <a:schemeClr val="dk1"/>
              </a:solidFill>
            </a:endParaRPr>
          </a:p>
          <a:p>
            <a:pPr indent="0" lvl="0" marL="0" rtl="0" algn="l">
              <a:spcBef>
                <a:spcPts val="0"/>
              </a:spcBef>
              <a:spcAft>
                <a:spcPts val="1200"/>
              </a:spcAft>
              <a:buNone/>
            </a:pPr>
            <a:r>
              <a:t/>
            </a:r>
            <a:endParaRPr b="1" sz="282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Students  Big Questions!</a:t>
            </a:r>
            <a:endParaRPr/>
          </a:p>
        </p:txBody>
      </p:sp>
      <p:sp>
        <p:nvSpPr>
          <p:cNvPr id="61" name="Google Shape;61;p1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t>“What will coding with AI look like in the future?”</a:t>
            </a:r>
            <a:endParaRPr sz="2200"/>
          </a:p>
          <a:p>
            <a:pPr indent="0" lvl="0" marL="457200" rtl="0" algn="ctr">
              <a:spcBef>
                <a:spcPts val="1200"/>
              </a:spcBef>
              <a:spcAft>
                <a:spcPts val="0"/>
              </a:spcAft>
              <a:buNone/>
            </a:pPr>
            <a:r>
              <a:t/>
            </a:r>
            <a:endParaRPr sz="2200"/>
          </a:p>
          <a:p>
            <a:pPr indent="0" lvl="0" marL="0" rtl="0" algn="ctr">
              <a:spcBef>
                <a:spcPts val="1200"/>
              </a:spcBef>
              <a:spcAft>
                <a:spcPts val="0"/>
              </a:spcAft>
              <a:buNone/>
            </a:pPr>
            <a:r>
              <a:rPr lang="en" sz="2200"/>
              <a:t>“Does AI mean that code will be obsolete soon?”</a:t>
            </a:r>
            <a:endParaRPr sz="2200"/>
          </a:p>
          <a:p>
            <a:pPr indent="0" lvl="0" marL="457200" rtl="0" algn="ctr">
              <a:spcBef>
                <a:spcPts val="1200"/>
              </a:spcBef>
              <a:spcAft>
                <a:spcPts val="0"/>
              </a:spcAft>
              <a:buNone/>
            </a:pPr>
            <a:r>
              <a:t/>
            </a:r>
            <a:endParaRPr sz="2200"/>
          </a:p>
          <a:p>
            <a:pPr indent="0" lvl="0" marL="0" rtl="0" algn="ctr">
              <a:spcBef>
                <a:spcPts val="1200"/>
              </a:spcBef>
              <a:spcAft>
                <a:spcPts val="0"/>
              </a:spcAft>
              <a:buNone/>
            </a:pPr>
            <a:r>
              <a:rPr lang="en" sz="2200"/>
              <a:t>“How should I use AI tools in software development?”</a:t>
            </a:r>
            <a:endParaRPr sz="2200"/>
          </a:p>
          <a:p>
            <a:pPr indent="0" lvl="0" marL="0" rtl="0" algn="ctr">
              <a:spcBef>
                <a:spcPts val="1200"/>
              </a:spcBef>
              <a:spcAft>
                <a:spcPts val="1200"/>
              </a:spcAft>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incredible, disturbing times</a:t>
            </a:r>
            <a:endParaRPr sz="2520"/>
          </a:p>
        </p:txBody>
      </p:sp>
      <p:sp>
        <p:nvSpPr>
          <p:cNvPr id="67" name="Google Shape;67;p14"/>
          <p:cNvSpPr txBox="1"/>
          <p:nvPr>
            <p:ph idx="1" type="body"/>
          </p:nvPr>
        </p:nvSpPr>
        <p:spPr>
          <a:xfrm>
            <a:off x="514525" y="973300"/>
            <a:ext cx="43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AI</a:t>
            </a:r>
            <a:r>
              <a:rPr lang="en"/>
              <a:t>, </a:t>
            </a:r>
            <a:r>
              <a:rPr b="1" lang="en"/>
              <a:t>indexing </a:t>
            </a:r>
            <a:r>
              <a:rPr lang="en"/>
              <a:t>and </a:t>
            </a:r>
            <a:r>
              <a:rPr b="1" lang="en"/>
              <a:t>traditional dev tools </a:t>
            </a:r>
            <a:r>
              <a:rPr lang="en"/>
              <a:t>make us all magicians when it comes to code</a:t>
            </a:r>
            <a:br>
              <a:rPr lang="en"/>
            </a:br>
            <a:endParaRPr/>
          </a:p>
          <a:p>
            <a:pPr indent="-342900" lvl="0" marL="457200" rtl="0" algn="l">
              <a:spcBef>
                <a:spcPts val="0"/>
              </a:spcBef>
              <a:spcAft>
                <a:spcPts val="0"/>
              </a:spcAft>
              <a:buSzPts val="1800"/>
              <a:buChar char="●"/>
            </a:pPr>
            <a:r>
              <a:rPr lang="en"/>
              <a:t>But the magic power comes </a:t>
            </a:r>
            <a:r>
              <a:rPr lang="en"/>
              <a:t>with many difficulties!</a:t>
            </a:r>
            <a:endParaRPr/>
          </a:p>
        </p:txBody>
      </p:sp>
      <p:pic>
        <p:nvPicPr>
          <p:cNvPr id="68" name="Google Shape;68;p14"/>
          <p:cNvPicPr preferRelativeResize="0"/>
          <p:nvPr/>
        </p:nvPicPr>
        <p:blipFill>
          <a:blip r:embed="rId3">
            <a:alphaModFix/>
          </a:blip>
          <a:stretch>
            <a:fillRect/>
          </a:stretch>
        </p:blipFill>
        <p:spPr>
          <a:xfrm>
            <a:off x="5366925" y="1017725"/>
            <a:ext cx="3465275" cy="376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incredible, disturbing times</a:t>
            </a:r>
            <a:endParaRPr sz="2520"/>
          </a:p>
          <a:p>
            <a:pPr indent="0" lvl="0" marL="0" rtl="0" algn="l">
              <a:spcBef>
                <a:spcPts val="0"/>
              </a:spcBef>
              <a:spcAft>
                <a:spcPts val="0"/>
              </a:spcAft>
              <a:buSzPts val="990"/>
              <a:buNone/>
            </a:pPr>
            <a:r>
              <a:t/>
            </a:r>
            <a:endParaRPr sz="2520"/>
          </a:p>
        </p:txBody>
      </p:sp>
      <p:sp>
        <p:nvSpPr>
          <p:cNvPr id="74" name="Google Shape;74;p15"/>
          <p:cNvSpPr txBox="1"/>
          <p:nvPr>
            <p:ph idx="1" type="body"/>
          </p:nvPr>
        </p:nvSpPr>
        <p:spPr>
          <a:xfrm>
            <a:off x="514525" y="973300"/>
            <a:ext cx="43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AI</a:t>
            </a:r>
            <a:r>
              <a:rPr lang="en"/>
              <a:t>, </a:t>
            </a:r>
            <a:r>
              <a:rPr b="1" lang="en"/>
              <a:t>indexing </a:t>
            </a:r>
            <a:r>
              <a:rPr lang="en"/>
              <a:t>and </a:t>
            </a:r>
            <a:r>
              <a:rPr b="1" lang="en"/>
              <a:t>traditional dev tools </a:t>
            </a:r>
            <a:r>
              <a:rPr lang="en"/>
              <a:t>make us all magicians when it comes to code</a:t>
            </a:r>
            <a:br>
              <a:rPr lang="en"/>
            </a:br>
            <a:endParaRPr/>
          </a:p>
          <a:p>
            <a:pPr indent="-342900" lvl="0" marL="457200" rtl="0" algn="l">
              <a:spcBef>
                <a:spcPts val="0"/>
              </a:spcBef>
              <a:spcAft>
                <a:spcPts val="0"/>
              </a:spcAft>
              <a:buSzPts val="1800"/>
              <a:buChar char="●"/>
            </a:pPr>
            <a:r>
              <a:rPr lang="en"/>
              <a:t>But the magic power comes with many difficulties!</a:t>
            </a:r>
            <a:endParaRPr/>
          </a:p>
        </p:txBody>
      </p:sp>
      <p:pic>
        <p:nvPicPr>
          <p:cNvPr id="75" name="Google Shape;75;p15"/>
          <p:cNvPicPr preferRelativeResize="0"/>
          <p:nvPr/>
        </p:nvPicPr>
        <p:blipFill>
          <a:blip r:embed="rId3">
            <a:alphaModFix/>
          </a:blip>
          <a:stretch>
            <a:fillRect/>
          </a:stretch>
        </p:blipFill>
        <p:spPr>
          <a:xfrm>
            <a:off x="5059825" y="990950"/>
            <a:ext cx="3931775" cy="26224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Magic Wands</a:t>
            </a:r>
            <a:endParaRPr/>
          </a:p>
        </p:txBody>
      </p:sp>
      <p:sp>
        <p:nvSpPr>
          <p:cNvPr id="81" name="Google Shape;81;p16"/>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6"/>
          <p:cNvPicPr preferRelativeResize="0"/>
          <p:nvPr/>
        </p:nvPicPr>
        <p:blipFill>
          <a:blip r:embed="rId3">
            <a:alphaModFix/>
          </a:blip>
          <a:stretch>
            <a:fillRect/>
          </a:stretch>
        </p:blipFill>
        <p:spPr>
          <a:xfrm>
            <a:off x="3806013" y="1493613"/>
            <a:ext cx="2619375" cy="1743075"/>
          </a:xfrm>
          <a:prstGeom prst="rect">
            <a:avLst/>
          </a:prstGeom>
          <a:noFill/>
          <a:ln>
            <a:noFill/>
          </a:ln>
        </p:spPr>
      </p:pic>
      <p:pic>
        <p:nvPicPr>
          <p:cNvPr id="83" name="Google Shape;83;p16"/>
          <p:cNvPicPr preferRelativeResize="0"/>
          <p:nvPr/>
        </p:nvPicPr>
        <p:blipFill>
          <a:blip r:embed="rId4">
            <a:alphaModFix/>
          </a:blip>
          <a:stretch>
            <a:fillRect/>
          </a:stretch>
        </p:blipFill>
        <p:spPr>
          <a:xfrm>
            <a:off x="794575" y="2206775"/>
            <a:ext cx="2857500" cy="1600200"/>
          </a:xfrm>
          <a:prstGeom prst="rect">
            <a:avLst/>
          </a:prstGeom>
          <a:noFill/>
          <a:ln>
            <a:noFill/>
          </a:ln>
        </p:spPr>
      </p:pic>
      <p:pic>
        <p:nvPicPr>
          <p:cNvPr id="84" name="Google Shape;84;p16"/>
          <p:cNvPicPr preferRelativeResize="0"/>
          <p:nvPr/>
        </p:nvPicPr>
        <p:blipFill>
          <a:blip r:embed="rId5">
            <a:alphaModFix/>
          </a:blip>
          <a:stretch>
            <a:fillRect/>
          </a:stretch>
        </p:blipFill>
        <p:spPr>
          <a:xfrm>
            <a:off x="4264850" y="3546100"/>
            <a:ext cx="3293400" cy="1383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code completions</a:t>
            </a:r>
            <a:endParaRPr/>
          </a:p>
        </p:txBody>
      </p:sp>
      <p:sp>
        <p:nvSpPr>
          <p:cNvPr id="90" name="Google Shape;90;p1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https://www.youtube.com/watch?v=Wk1GVJWt2JA</a:t>
            </a:r>
            <a:endParaRPr/>
          </a:p>
        </p:txBody>
      </p:sp>
      <p:pic>
        <p:nvPicPr>
          <p:cNvPr id="91" name="Google Shape;91;p17"/>
          <p:cNvPicPr preferRelativeResize="0"/>
          <p:nvPr/>
        </p:nvPicPr>
        <p:blipFill>
          <a:blip r:embed="rId3">
            <a:alphaModFix/>
          </a:blip>
          <a:stretch>
            <a:fillRect/>
          </a:stretch>
        </p:blipFill>
        <p:spPr>
          <a:xfrm>
            <a:off x="340414" y="973300"/>
            <a:ext cx="8274225" cy="2498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sample code completions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llm command line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Dev Tools are changing fast</a:t>
            </a:r>
            <a:endParaRPr/>
          </a:p>
        </p:txBody>
      </p:sp>
      <p:sp>
        <p:nvSpPr>
          <p:cNvPr id="107" name="Google Shape;107;p20"/>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2022: </a:t>
            </a:r>
            <a:r>
              <a:rPr b="1" lang="en"/>
              <a:t>GitHub Copilot Completions </a:t>
            </a:r>
            <a:r>
              <a:rPr lang="en"/>
              <a:t>launched. Today:</a:t>
            </a:r>
            <a:endParaRPr/>
          </a:p>
          <a:p>
            <a:pPr indent="-304165" lvl="1" marL="914400" rtl="0" algn="l">
              <a:spcBef>
                <a:spcPts val="0"/>
              </a:spcBef>
              <a:spcAft>
                <a:spcPts val="0"/>
              </a:spcAft>
              <a:buSzPct val="100000"/>
              <a:buChar char="○"/>
            </a:pPr>
            <a:r>
              <a:rPr lang="en"/>
              <a:t>1.8M+ paying users</a:t>
            </a:r>
            <a:endParaRPr/>
          </a:p>
          <a:p>
            <a:pPr indent="-304165" lvl="1" marL="914400" rtl="0" algn="l">
              <a:spcBef>
                <a:spcPts val="0"/>
              </a:spcBef>
              <a:spcAft>
                <a:spcPts val="0"/>
              </a:spcAft>
              <a:buSzPct val="100000"/>
              <a:buChar char="○"/>
            </a:pPr>
            <a:r>
              <a:rPr lang="en"/>
              <a:t>50%+ of users’ code is written by Copilot</a:t>
            </a:r>
            <a:br>
              <a:rPr lang="en"/>
            </a:br>
            <a:endParaRPr/>
          </a:p>
          <a:p>
            <a:pPr indent="-325755" lvl="0" marL="457200" rtl="0" algn="l">
              <a:spcBef>
                <a:spcPts val="0"/>
              </a:spcBef>
              <a:spcAft>
                <a:spcPts val="0"/>
              </a:spcAft>
              <a:buSzPct val="100000"/>
              <a:buChar char="●"/>
            </a:pPr>
            <a:r>
              <a:rPr lang="en"/>
              <a:t>2023: More AI developer tools launched</a:t>
            </a:r>
            <a:endParaRPr/>
          </a:p>
          <a:p>
            <a:pPr indent="-304165" lvl="1" marL="914400" rtl="0" algn="l">
              <a:spcBef>
                <a:spcPts val="0"/>
              </a:spcBef>
              <a:spcAft>
                <a:spcPts val="0"/>
              </a:spcAft>
              <a:buSzPct val="100000"/>
              <a:buChar char="○"/>
            </a:pPr>
            <a:r>
              <a:rPr lang="en"/>
              <a:t>Summarization, advice, code review</a:t>
            </a:r>
            <a:endParaRPr/>
          </a:p>
          <a:p>
            <a:pPr indent="-304165" lvl="1" marL="914400" rtl="0" algn="l">
              <a:spcBef>
                <a:spcPts val="0"/>
              </a:spcBef>
              <a:spcAft>
                <a:spcPts val="0"/>
              </a:spcAft>
              <a:buSzPct val="100000"/>
              <a:buChar char="○"/>
            </a:pPr>
            <a:r>
              <a:rPr lang="en"/>
              <a:t>Cody and others</a:t>
            </a:r>
            <a:br>
              <a:rPr lang="en"/>
            </a:br>
            <a:endParaRPr/>
          </a:p>
          <a:p>
            <a:pPr indent="-325755" lvl="0" marL="457200" rtl="0" algn="l">
              <a:spcBef>
                <a:spcPts val="0"/>
              </a:spcBef>
              <a:spcAft>
                <a:spcPts val="0"/>
              </a:spcAft>
              <a:buSzPct val="100000"/>
              <a:buChar char="●"/>
            </a:pPr>
            <a:r>
              <a:rPr lang="en"/>
              <a:t>2024: </a:t>
            </a:r>
            <a:r>
              <a:rPr b="1" lang="en"/>
              <a:t>GitHub Copilot Workspace,</a:t>
            </a:r>
            <a:r>
              <a:rPr lang="en"/>
              <a:t> </a:t>
            </a:r>
            <a:r>
              <a:rPr b="1" lang="en"/>
              <a:t>Cursor Composer, Devin</a:t>
            </a:r>
            <a:r>
              <a:rPr lang="en"/>
              <a:t> launched</a:t>
            </a:r>
            <a:endParaRPr/>
          </a:p>
          <a:p>
            <a:pPr indent="-304165" lvl="1" marL="914400" rtl="0" algn="l">
              <a:spcBef>
                <a:spcPts val="0"/>
              </a:spcBef>
              <a:spcAft>
                <a:spcPts val="0"/>
              </a:spcAft>
              <a:buSzPct val="100000"/>
              <a:buChar char="○"/>
            </a:pPr>
            <a:r>
              <a:rPr lang="en"/>
              <a:t>Shift to task-orientation</a:t>
            </a:r>
            <a:endParaRPr/>
          </a:p>
          <a:p>
            <a:pPr indent="-304165" lvl="1" marL="914400" rtl="0" algn="l">
              <a:spcBef>
                <a:spcPts val="0"/>
              </a:spcBef>
              <a:spcAft>
                <a:spcPts val="0"/>
              </a:spcAft>
              <a:buSzPct val="100000"/>
              <a:buChar char="○"/>
            </a:pPr>
            <a:r>
              <a:rPr lang="en"/>
              <a:t>Cursor Composer brought task-orientation to the IDE </a:t>
            </a:r>
            <a:br>
              <a:rPr lang="en"/>
            </a:br>
            <a:endParaRPr/>
          </a:p>
          <a:p>
            <a:pPr indent="-325755" lvl="0" marL="457200" rtl="0" algn="l">
              <a:spcBef>
                <a:spcPts val="0"/>
              </a:spcBef>
              <a:spcAft>
                <a:spcPts val="0"/>
              </a:spcAft>
              <a:buSzPct val="100000"/>
              <a:buChar char="●"/>
            </a:pPr>
            <a:r>
              <a:rPr lang="en"/>
              <a:t>2025: Cursor/VS Code </a:t>
            </a:r>
            <a:r>
              <a:rPr b="1" lang="en"/>
              <a:t>Agent-Mode</a:t>
            </a:r>
            <a:r>
              <a:rPr lang="en"/>
              <a:t>, </a:t>
            </a:r>
            <a:r>
              <a:rPr b="1" lang="en"/>
              <a:t>Claude Code</a:t>
            </a:r>
            <a:r>
              <a:rPr lang="en"/>
              <a:t> and others launched</a:t>
            </a:r>
            <a:endParaRPr/>
          </a:p>
          <a:p>
            <a:pPr indent="-304165" lvl="1" marL="914400" rtl="0" algn="l">
              <a:spcBef>
                <a:spcPts val="0"/>
              </a:spcBef>
              <a:spcAft>
                <a:spcPts val="0"/>
              </a:spcAft>
              <a:buSzPct val="100000"/>
              <a:buChar char="○"/>
            </a:pPr>
            <a:r>
              <a:rPr lang="en"/>
              <a:t>Increases the available automation</a:t>
            </a:r>
            <a:br>
              <a:rPr lang="en"/>
            </a:br>
            <a:endParaRPr/>
          </a:p>
          <a:p>
            <a:pPr indent="-325755" lvl="0" marL="457200" rtl="0" algn="l">
              <a:spcBef>
                <a:spcPts val="0"/>
              </a:spcBef>
              <a:spcAft>
                <a:spcPts val="0"/>
              </a:spcAft>
              <a:buSzPct val="100000"/>
              <a:buChar char="●"/>
            </a:pPr>
            <a:r>
              <a:rPr lang="en"/>
              <a:t>2025: </a:t>
            </a:r>
            <a:r>
              <a:rPr b="1" lang="en"/>
              <a:t>Automated app development</a:t>
            </a:r>
            <a:r>
              <a:rPr lang="en"/>
              <a:t> starts to take off</a:t>
            </a:r>
            <a:endParaRPr/>
          </a:p>
          <a:p>
            <a:pPr indent="-304165" lvl="1" marL="914400" rtl="0" algn="l">
              <a:spcBef>
                <a:spcPts val="0"/>
              </a:spcBef>
              <a:spcAft>
                <a:spcPts val="0"/>
              </a:spcAft>
              <a:buSzPct val="100000"/>
              <a:buChar char="○"/>
            </a:pPr>
            <a:r>
              <a:rPr lang="en"/>
              <a:t>GitHub Spark, Bolt, Gemini, Lovable, Cogna, v0,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does GitHub Next work?</a:t>
            </a:r>
            <a:endParaRPr/>
          </a:p>
        </p:txBody>
      </p:sp>
      <p:sp>
        <p:nvSpPr>
          <p:cNvPr id="113" name="Google Shape;113;p2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b="1" sz="1900"/>
          </a:p>
        </p:txBody>
      </p:sp>
      <p:sp>
        <p:nvSpPr>
          <p:cNvPr id="114" name="Google Shape;114;p21"/>
          <p:cNvSpPr/>
          <p:nvPr/>
        </p:nvSpPr>
        <p:spPr>
          <a:xfrm>
            <a:off x="2173600" y="3813800"/>
            <a:ext cx="5505600" cy="57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MODELS</a:t>
            </a:r>
            <a:endParaRPr b="1" sz="1500">
              <a:latin typeface="Inter"/>
              <a:ea typeface="Inter"/>
              <a:cs typeface="Inter"/>
              <a:sym typeface="Inter"/>
            </a:endParaRPr>
          </a:p>
        </p:txBody>
      </p:sp>
      <p:sp>
        <p:nvSpPr>
          <p:cNvPr id="115" name="Google Shape;115;p21"/>
          <p:cNvSpPr/>
          <p:nvPr/>
        </p:nvSpPr>
        <p:spPr>
          <a:xfrm>
            <a:off x="2173600" y="3049600"/>
            <a:ext cx="5505600" cy="57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FINE TUNING &amp; INFERENCE &amp; GPUS &amp; HOSTING &amp; ….</a:t>
            </a:r>
            <a:endParaRPr b="1" sz="1500">
              <a:latin typeface="Inter"/>
              <a:ea typeface="Inter"/>
              <a:cs typeface="Inter"/>
              <a:sym typeface="Inter"/>
            </a:endParaRPr>
          </a:p>
        </p:txBody>
      </p:sp>
      <p:sp>
        <p:nvSpPr>
          <p:cNvPr id="116" name="Google Shape;116;p21"/>
          <p:cNvSpPr/>
          <p:nvPr/>
        </p:nvSpPr>
        <p:spPr>
          <a:xfrm>
            <a:off x="2173600" y="2285400"/>
            <a:ext cx="5505600" cy="572700"/>
          </a:xfrm>
          <a:prstGeom prst="rect">
            <a:avLst/>
          </a:prstGeom>
          <a:solidFill>
            <a:srgbClr val="4A86E8"/>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AI DEV SERVICES</a:t>
            </a:r>
            <a:r>
              <a:rPr lang="en" sz="1500">
                <a:latin typeface="Inter"/>
                <a:ea typeface="Inter"/>
                <a:cs typeface="Inter"/>
                <a:sym typeface="Inter"/>
              </a:rPr>
              <a:t> (e.g. indexing, summaries)</a:t>
            </a:r>
            <a:endParaRPr sz="1500">
              <a:latin typeface="Inter"/>
              <a:ea typeface="Inter"/>
              <a:cs typeface="Inter"/>
              <a:sym typeface="Inter"/>
            </a:endParaRPr>
          </a:p>
        </p:txBody>
      </p:sp>
      <p:sp>
        <p:nvSpPr>
          <p:cNvPr id="117" name="Google Shape;117;p21"/>
          <p:cNvSpPr/>
          <p:nvPr/>
        </p:nvSpPr>
        <p:spPr>
          <a:xfrm>
            <a:off x="2173600" y="1538050"/>
            <a:ext cx="5505600" cy="572700"/>
          </a:xfrm>
          <a:prstGeom prst="rect">
            <a:avLst/>
          </a:prstGeom>
          <a:solidFill>
            <a:srgbClr val="4A86E8"/>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AI APPLICATIONS &amp; </a:t>
            </a:r>
            <a:r>
              <a:rPr b="1" lang="en" sz="1500">
                <a:latin typeface="Inter"/>
                <a:ea typeface="Inter"/>
                <a:cs typeface="Inter"/>
                <a:sym typeface="Inter"/>
              </a:rPr>
              <a:t>AI DEV TOOLS</a:t>
            </a:r>
            <a:endParaRPr b="1" sz="1500">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20000"/>
          </a:bodyPr>
          <a:lstStyle/>
          <a:p>
            <a:pPr indent="-363537" lvl="0" marL="457200" rtl="0" algn="l">
              <a:spcBef>
                <a:spcPts val="0"/>
              </a:spcBef>
              <a:spcAft>
                <a:spcPts val="0"/>
              </a:spcAft>
              <a:buSzPct val="100000"/>
              <a:buChar char="●"/>
            </a:pPr>
            <a:r>
              <a:rPr lang="en" sz="2500"/>
              <a:t>AI-assisted </a:t>
            </a:r>
            <a:r>
              <a:rPr lang="en" sz="2500"/>
              <a:t>Pinpoint Surgery</a:t>
            </a:r>
            <a:endParaRPr sz="2500"/>
          </a:p>
          <a:p>
            <a:pPr indent="0" lvl="0" marL="45720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AI-assisted Task Oriented Surgery</a:t>
            </a:r>
            <a:endParaRPr sz="2500"/>
          </a:p>
          <a:p>
            <a:pPr indent="0" lvl="0" marL="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Increasing AI Automation</a:t>
            </a:r>
            <a:endParaRPr sz="2500"/>
          </a:p>
          <a:p>
            <a:pPr indent="0" lvl="0" marL="45720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AI-Assisted App Development</a:t>
            </a:r>
            <a:endParaRPr sz="2500"/>
          </a:p>
        </p:txBody>
      </p:sp>
      <p:sp>
        <p:nvSpPr>
          <p:cNvPr id="123" name="Google Shape;123;p2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Big Trends I’m seeing in AI Dev Tooling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1: Pinpoint Surgery</a:t>
            </a:r>
            <a:endParaRPr/>
          </a:p>
        </p:txBody>
      </p:sp>
      <p:sp>
        <p:nvSpPr>
          <p:cNvPr id="129" name="Google Shape;129;p23"/>
          <p:cNvSpPr txBox="1"/>
          <p:nvPr>
            <p:ph idx="1" type="body"/>
          </p:nvPr>
        </p:nvSpPr>
        <p:spPr>
          <a:xfrm>
            <a:off x="514525" y="973300"/>
            <a:ext cx="4688100" cy="3416400"/>
          </a:xfrm>
          <a:prstGeom prst="rect">
            <a:avLst/>
          </a:prstGeom>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None/>
            </a:pPr>
            <a:r>
              <a:rPr lang="en" sz="2200"/>
              <a:t>Original </a:t>
            </a:r>
            <a:r>
              <a:rPr lang="en" sz="2200"/>
              <a:t>GitHub Copilot completes code in your editor</a:t>
            </a:r>
            <a:endParaRPr sz="2200"/>
          </a:p>
          <a:p>
            <a:pPr indent="-342900" lvl="0" marL="457200" rtl="0" algn="l">
              <a:lnSpc>
                <a:spcPct val="105000"/>
              </a:lnSpc>
              <a:spcBef>
                <a:spcPts val="1200"/>
              </a:spcBef>
              <a:spcAft>
                <a:spcPts val="0"/>
              </a:spcAft>
              <a:buSzPts val="1800"/>
              <a:buChar char="●"/>
            </a:pPr>
            <a:r>
              <a:rPr lang="en"/>
              <a:t>You are already located at a pinpoint of change</a:t>
            </a:r>
            <a:endParaRPr/>
          </a:p>
          <a:p>
            <a:pPr indent="-342900" lvl="0" marL="457200" rtl="0" algn="l">
              <a:lnSpc>
                <a:spcPct val="105000"/>
              </a:lnSpc>
              <a:spcBef>
                <a:spcPts val="0"/>
              </a:spcBef>
              <a:spcAft>
                <a:spcPts val="0"/>
              </a:spcAft>
              <a:buSzPts val="1800"/>
              <a:buChar char="●"/>
            </a:pPr>
            <a:r>
              <a:rPr lang="en"/>
              <a:t>You accept/reject small bits</a:t>
            </a:r>
            <a:endParaRPr/>
          </a:p>
          <a:p>
            <a:pPr indent="-342900" lvl="0" marL="457200" rtl="0" algn="l">
              <a:lnSpc>
                <a:spcPct val="105000"/>
              </a:lnSpc>
              <a:spcBef>
                <a:spcPts val="0"/>
              </a:spcBef>
              <a:spcAft>
                <a:spcPts val="0"/>
              </a:spcAft>
              <a:buSzPts val="1800"/>
              <a:buChar char="●"/>
            </a:pPr>
            <a:r>
              <a:rPr lang="en"/>
              <a:t>You have to type quite a lot </a:t>
            </a:r>
            <a:endParaRPr/>
          </a:p>
          <a:p>
            <a:pPr indent="-342900" lvl="0" marL="457200" rtl="0" algn="l">
              <a:lnSpc>
                <a:spcPct val="105000"/>
              </a:lnSpc>
              <a:spcBef>
                <a:spcPts val="0"/>
              </a:spcBef>
              <a:spcAft>
                <a:spcPts val="0"/>
              </a:spcAft>
              <a:buSzPts val="1800"/>
              <a:buChar char="●"/>
            </a:pPr>
            <a:r>
              <a:rPr lang="en"/>
              <a:t>Copilot sort of infers what you are trying to do</a:t>
            </a:r>
            <a:endParaRPr/>
          </a:p>
          <a:p>
            <a:pPr indent="0" lvl="0" marL="0" rtl="0" algn="l">
              <a:lnSpc>
                <a:spcPct val="105000"/>
              </a:lnSpc>
              <a:spcBef>
                <a:spcPts val="1200"/>
              </a:spcBef>
              <a:spcAft>
                <a:spcPts val="1200"/>
              </a:spcAft>
              <a:buNone/>
            </a:pPr>
            <a:r>
              <a:rPr lang="en"/>
              <a:t>This is magical: a finely honed surgical assistant</a:t>
            </a:r>
            <a:endParaRPr/>
          </a:p>
        </p:txBody>
      </p:sp>
      <p:pic>
        <p:nvPicPr>
          <p:cNvPr id="130" name="Google Shape;130;p23"/>
          <p:cNvPicPr preferRelativeResize="0"/>
          <p:nvPr/>
        </p:nvPicPr>
        <p:blipFill>
          <a:blip r:embed="rId3">
            <a:alphaModFix/>
          </a:blip>
          <a:stretch>
            <a:fillRect/>
          </a:stretch>
        </p:blipFill>
        <p:spPr>
          <a:xfrm>
            <a:off x="5355025" y="990950"/>
            <a:ext cx="3636575" cy="24243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en" sz="2300"/>
              <a:t>Type-checking</a:t>
            </a:r>
            <a:endParaRPr sz="2300"/>
          </a:p>
          <a:p>
            <a:pPr indent="-374650" lvl="0" marL="457200" rtl="0" algn="l">
              <a:spcBef>
                <a:spcPts val="0"/>
              </a:spcBef>
              <a:spcAft>
                <a:spcPts val="0"/>
              </a:spcAft>
              <a:buSzPts val="2300"/>
              <a:buChar char="●"/>
            </a:pPr>
            <a:r>
              <a:rPr lang="en" sz="2300"/>
              <a:t>Autocomplete</a:t>
            </a:r>
            <a:endParaRPr sz="2300"/>
          </a:p>
          <a:p>
            <a:pPr indent="-374650" lvl="0" marL="457200" rtl="0" algn="l">
              <a:spcBef>
                <a:spcPts val="0"/>
              </a:spcBef>
              <a:spcAft>
                <a:spcPts val="0"/>
              </a:spcAft>
              <a:buSzPts val="2300"/>
              <a:buChar char="●"/>
            </a:pPr>
            <a:r>
              <a:rPr lang="en" sz="2300"/>
              <a:t>On-the-fly checking</a:t>
            </a:r>
            <a:endParaRPr sz="2300"/>
          </a:p>
          <a:p>
            <a:pPr indent="-374650" lvl="0" marL="457200" rtl="0" algn="l">
              <a:spcBef>
                <a:spcPts val="0"/>
              </a:spcBef>
              <a:spcAft>
                <a:spcPts val="0"/>
              </a:spcAft>
              <a:buSzPts val="2300"/>
              <a:buChar char="●"/>
            </a:pPr>
            <a:r>
              <a:rPr lang="en" sz="2300"/>
              <a:t>Code navigation</a:t>
            </a:r>
            <a:endParaRPr sz="2300"/>
          </a:p>
          <a:p>
            <a:pPr indent="-374650" lvl="0" marL="457200" rtl="0" algn="l">
              <a:spcBef>
                <a:spcPts val="0"/>
              </a:spcBef>
              <a:spcAft>
                <a:spcPts val="0"/>
              </a:spcAft>
              <a:buSzPts val="2300"/>
              <a:buChar char="●"/>
            </a:pPr>
            <a:r>
              <a:rPr lang="en" sz="2300"/>
              <a:t>Code search</a:t>
            </a:r>
            <a:endParaRPr sz="2300"/>
          </a:p>
          <a:p>
            <a:pPr indent="-374650" lvl="0" marL="457200" rtl="0" algn="l">
              <a:spcBef>
                <a:spcPts val="0"/>
              </a:spcBef>
              <a:spcAft>
                <a:spcPts val="0"/>
              </a:spcAft>
              <a:buSzPts val="2300"/>
              <a:buChar char="●"/>
            </a:pPr>
            <a:r>
              <a:rPr lang="en" sz="2300"/>
              <a:t>Security checking</a:t>
            </a:r>
            <a:endParaRPr sz="2300"/>
          </a:p>
          <a:p>
            <a:pPr indent="0" lvl="0" marL="457200" rtl="0" algn="l">
              <a:spcBef>
                <a:spcPts val="1200"/>
              </a:spcBef>
              <a:spcAft>
                <a:spcPts val="1200"/>
              </a:spcAft>
              <a:buNone/>
            </a:pPr>
            <a:r>
              <a:t/>
            </a:r>
            <a:endParaRPr b="1" sz="2300"/>
          </a:p>
        </p:txBody>
      </p:sp>
      <p:sp>
        <p:nvSpPr>
          <p:cNvPr id="136" name="Google Shape;136;p2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Pinpoint Tools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70000" lnSpcReduction="20000"/>
          </a:bodyPr>
          <a:lstStyle/>
          <a:p>
            <a:pPr indent="-339725" lvl="0" marL="457200" rtl="0" algn="l">
              <a:spcBef>
                <a:spcPts val="0"/>
              </a:spcBef>
              <a:spcAft>
                <a:spcPts val="0"/>
              </a:spcAft>
              <a:buClr>
                <a:srgbClr val="666666"/>
              </a:buClr>
              <a:buSzPct val="100000"/>
              <a:buChar char="●"/>
            </a:pPr>
            <a:r>
              <a:rPr lang="en" sz="2500">
                <a:solidFill>
                  <a:srgbClr val="666666"/>
                </a:solidFill>
              </a:rPr>
              <a:t>Type-checking</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Autocomplete</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On-the-fly checking</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Code navigation</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Code search</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Security checking</a:t>
            </a:r>
            <a:endParaRPr sz="2500">
              <a:solidFill>
                <a:srgbClr val="666666"/>
              </a:solidFill>
            </a:endParaRPr>
          </a:p>
          <a:p>
            <a:pPr indent="-339725" lvl="0" marL="457200" rtl="0" algn="l">
              <a:spcBef>
                <a:spcPts val="0"/>
              </a:spcBef>
              <a:spcAft>
                <a:spcPts val="0"/>
              </a:spcAft>
              <a:buSzPct val="100000"/>
              <a:buChar char="●"/>
            </a:pPr>
            <a:r>
              <a:rPr b="1" lang="en" sz="2500"/>
              <a:t>AI Code completion</a:t>
            </a:r>
            <a:endParaRPr b="1" sz="2500"/>
          </a:p>
          <a:p>
            <a:pPr indent="-339725" lvl="0" marL="457200" rtl="0" algn="l">
              <a:spcBef>
                <a:spcPts val="0"/>
              </a:spcBef>
              <a:spcAft>
                <a:spcPts val="0"/>
              </a:spcAft>
              <a:buSzPct val="100000"/>
              <a:buChar char="●"/>
            </a:pPr>
            <a:r>
              <a:rPr b="1" lang="en" sz="2500"/>
              <a:t>AI Code summarization</a:t>
            </a:r>
            <a:endParaRPr b="1" sz="2500"/>
          </a:p>
          <a:p>
            <a:pPr indent="-339725" lvl="0" marL="457200" rtl="0" algn="l">
              <a:spcBef>
                <a:spcPts val="0"/>
              </a:spcBef>
              <a:spcAft>
                <a:spcPts val="0"/>
              </a:spcAft>
              <a:buSzPct val="100000"/>
              <a:buChar char="●"/>
            </a:pPr>
            <a:r>
              <a:rPr b="1" lang="en" sz="2500"/>
              <a:t>AI code chat</a:t>
            </a:r>
            <a:endParaRPr b="1" sz="2500"/>
          </a:p>
          <a:p>
            <a:pPr indent="-339725" lvl="0" marL="457200" rtl="0" algn="l">
              <a:spcBef>
                <a:spcPts val="0"/>
              </a:spcBef>
              <a:spcAft>
                <a:spcPts val="0"/>
              </a:spcAft>
              <a:buSzPct val="100000"/>
              <a:buChar char="●"/>
            </a:pPr>
            <a:r>
              <a:rPr b="1" lang="en" sz="2500"/>
              <a:t>AI Code review</a:t>
            </a:r>
            <a:endParaRPr b="1" sz="2500"/>
          </a:p>
          <a:p>
            <a:pPr indent="-339725" lvl="0" marL="457200" rtl="0" algn="l">
              <a:spcBef>
                <a:spcPts val="0"/>
              </a:spcBef>
              <a:spcAft>
                <a:spcPts val="0"/>
              </a:spcAft>
              <a:buSzPct val="100000"/>
              <a:buChar char="●"/>
            </a:pPr>
            <a:r>
              <a:rPr b="1" lang="en" sz="2500"/>
              <a:t>AI Code-fix suggestions</a:t>
            </a:r>
            <a:endParaRPr b="1" sz="2500"/>
          </a:p>
          <a:p>
            <a:pPr indent="-339725" lvl="0" marL="457200" rtl="0" algn="l">
              <a:spcBef>
                <a:spcPts val="0"/>
              </a:spcBef>
              <a:spcAft>
                <a:spcPts val="0"/>
              </a:spcAft>
              <a:buSzPct val="100000"/>
              <a:buChar char="●"/>
            </a:pPr>
            <a:r>
              <a:rPr b="1" lang="en" sz="2500"/>
              <a:t>AI Test generation</a:t>
            </a:r>
            <a:endParaRPr b="1" sz="2500"/>
          </a:p>
        </p:txBody>
      </p:sp>
      <p:sp>
        <p:nvSpPr>
          <p:cNvPr id="142" name="Google Shape;142;p25"/>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Pinpoint Tools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p:txBody>
      </p:sp>
      <p:sp>
        <p:nvSpPr>
          <p:cNvPr id="148" name="Google Shape;148;p26"/>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br>
              <a:rPr lang="en" sz="2500"/>
            </a:br>
            <a:r>
              <a:rPr i="1" lang="en" sz="2500"/>
              <a:t>Software activity begins with words and intent</a:t>
            </a:r>
            <a:br>
              <a:rPr i="1" lang="en" sz="2500"/>
            </a:br>
            <a:br>
              <a:rPr lang="en" sz="2500"/>
            </a:br>
            <a:r>
              <a:rPr lang="en" sz="2500"/>
              <a:t>Before a code change, before a pull request, there are words - a discussion, a bug report, a feature request, an engineering task, a meeting, a design document, an idea.</a:t>
            </a:r>
            <a:endParaRPr sz="2500"/>
          </a:p>
          <a:p>
            <a:pPr indent="0" lvl="0" marL="0" rtl="0" algn="l">
              <a:spcBef>
                <a:spcPts val="1200"/>
              </a:spcBef>
              <a:spcAft>
                <a:spcPts val="0"/>
              </a:spcAft>
              <a:buNone/>
            </a:pPr>
            <a:r>
              <a:t/>
            </a:r>
            <a:endParaRPr sz="2500"/>
          </a:p>
          <a:p>
            <a:pPr indent="0" lvl="0" marL="0" rtl="0" algn="l">
              <a:spcBef>
                <a:spcPts val="1200"/>
              </a:spcBef>
              <a:spcAft>
                <a:spcPts val="1200"/>
              </a:spcAft>
              <a:buNone/>
            </a:pPr>
            <a:r>
              <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54" name="Google Shape;154;p27"/>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55" name="Google Shape;155;p27"/>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56" name="Google Shape;156;p2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62" name="Google Shape;162;p28"/>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63" name="Google Shape;163;p28"/>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64" name="Google Shape;164;p28"/>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5" name="Google Shape;165;p28"/>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Idea</a:t>
            </a:r>
            <a:endParaRPr sz="1800"/>
          </a:p>
        </p:txBody>
      </p:sp>
      <p:sp>
        <p:nvSpPr>
          <p:cNvPr id="166" name="Google Shape;166;p28"/>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Code</a:t>
            </a:r>
            <a:br>
              <a:rPr lang="en" sz="1800"/>
            </a:br>
            <a:r>
              <a:rPr lang="en" sz="1800"/>
              <a:t>🏆🏆🏆</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72" name="Google Shape;172;p29"/>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73" name="Google Shape;173;p29"/>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74" name="Google Shape;174;p2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5" name="Google Shape;175;p29"/>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Change Intent</a:t>
            </a:r>
            <a:endParaRPr sz="1800"/>
          </a:p>
        </p:txBody>
      </p:sp>
      <p:sp>
        <p:nvSpPr>
          <p:cNvPr id="176" name="Google Shape;176;p29"/>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Change</a:t>
            </a:r>
            <a:br>
              <a:rPr lang="en" sz="1800"/>
            </a:br>
            <a:r>
              <a:rPr lang="en" sz="1800"/>
              <a:t>🏆🏆🏆</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82" name="Google Shape;182;p30"/>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83" name="Google Shape;183;p30"/>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84" name="Google Shape;184;p30"/>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5" name="Google Shape;185;p30"/>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GitHub Issue</a:t>
            </a:r>
            <a:endParaRPr sz="1800"/>
          </a:p>
        </p:txBody>
      </p:sp>
      <p:sp>
        <p:nvSpPr>
          <p:cNvPr id="186" name="Google Shape;186;p30"/>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GitHub Pull Request</a:t>
            </a:r>
            <a:br>
              <a:rPr lang="en" sz="1800"/>
            </a:br>
            <a:r>
              <a:rPr lang="en" sz="1800"/>
              <a:t>🏆🏆🏆</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sp>
        <p:nvSpPr>
          <p:cNvPr id="192" name="Google Shape;192;p3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Changing perspective</a:t>
            </a:r>
            <a:br>
              <a:rPr lang="en" sz="2500"/>
            </a:br>
            <a:endParaRPr sz="2500"/>
          </a:p>
          <a:p>
            <a:pPr indent="457200" lvl="0" marL="0" rtl="0" algn="l">
              <a:spcBef>
                <a:spcPts val="1200"/>
              </a:spcBef>
              <a:spcAft>
                <a:spcPts val="1200"/>
              </a:spcAft>
              <a:buNone/>
            </a:pPr>
            <a:r>
              <a:rPr lang="en" sz="2500"/>
              <a:t>Pinpoint Surgery    		→	Whole Operation </a:t>
            </a:r>
            <a:br>
              <a:rPr lang="en" sz="2500"/>
            </a:br>
            <a:br>
              <a:rPr lang="en" sz="2500"/>
            </a:br>
            <a:r>
              <a:rPr lang="en" sz="2500"/>
              <a:t>	Single Point of Change 	→	Whole Repository</a:t>
            </a:r>
            <a:br>
              <a:rPr lang="en" sz="2500"/>
            </a:br>
            <a:br>
              <a:rPr lang="en" sz="2500"/>
            </a:br>
            <a:r>
              <a:rPr lang="en" sz="2500"/>
              <a:t>	Implicit Task 				→	Explicit Task</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sp>
        <p:nvSpPr>
          <p:cNvPr id="198" name="Google Shape;198;p32"/>
          <p:cNvSpPr txBox="1"/>
          <p:nvPr>
            <p:ph idx="1" type="body"/>
          </p:nvPr>
        </p:nvSpPr>
        <p:spPr>
          <a:xfrm>
            <a:off x="514525" y="973300"/>
            <a:ext cx="79260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br>
              <a:rPr lang="en" sz="2100"/>
            </a:br>
            <a:r>
              <a:rPr lang="en" sz="2100"/>
              <a:t>“Add a refresh button to the main page”</a:t>
            </a:r>
            <a:endParaRPr sz="2100"/>
          </a:p>
          <a:p>
            <a:pPr indent="0" lvl="0" marL="0" rtl="0" algn="ctr">
              <a:spcBef>
                <a:spcPts val="1200"/>
              </a:spcBef>
              <a:spcAft>
                <a:spcPts val="0"/>
              </a:spcAft>
              <a:buNone/>
            </a:pPr>
            <a:r>
              <a:rPr lang="en" sz="2100"/>
              <a:t>“Create end-to-end tests using Playwright”</a:t>
            </a:r>
            <a:endParaRPr sz="2100"/>
          </a:p>
          <a:p>
            <a:pPr indent="0" lvl="0" marL="0" rtl="0" algn="ctr">
              <a:spcBef>
                <a:spcPts val="1200"/>
              </a:spcBef>
              <a:spcAft>
                <a:spcPts val="0"/>
              </a:spcAft>
              <a:buNone/>
            </a:pPr>
            <a:r>
              <a:rPr lang="en" sz="2100"/>
              <a:t>“Set up continuous integration using GitHub Actions”</a:t>
            </a:r>
            <a:endParaRPr sz="2100"/>
          </a:p>
          <a:p>
            <a:pPr indent="0" lvl="0" marL="0" rtl="0" algn="ctr">
              <a:spcBef>
                <a:spcPts val="1200"/>
              </a:spcBef>
              <a:spcAft>
                <a:spcPts val="0"/>
              </a:spcAft>
              <a:buNone/>
            </a:pPr>
            <a:r>
              <a:rPr lang="en" sz="2100"/>
              <a:t>“Set up production resources in Azure using Terraform”</a:t>
            </a:r>
            <a:endParaRPr sz="2100"/>
          </a:p>
          <a:p>
            <a:pPr indent="0" lvl="0" marL="0" rtl="0" algn="ctr">
              <a:spcBef>
                <a:spcPts val="1200"/>
              </a:spcBef>
              <a:spcAft>
                <a:spcPts val="0"/>
              </a:spcAft>
              <a:buNone/>
            </a:pPr>
            <a:r>
              <a:rPr lang="en" sz="2100"/>
              <a:t>“Read coverage report and add unit tests to repo”</a:t>
            </a:r>
            <a:endParaRPr sz="2100"/>
          </a:p>
          <a:p>
            <a:pPr indent="0" lvl="0" marL="0" rtl="0" algn="ctr">
              <a:spcBef>
                <a:spcPts val="1200"/>
              </a:spcBef>
              <a:spcAft>
                <a:spcPts val="1200"/>
              </a:spcAft>
              <a:buNone/>
            </a:pPr>
            <a:r>
              <a:rPr lang="en" sz="2100"/>
              <a:t>“Create a website for UK house prices”</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Demo - Task orientation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3: Automation with SWE-Agents</a:t>
            </a:r>
            <a:endParaRPr/>
          </a:p>
        </p:txBody>
      </p:sp>
      <p:sp>
        <p:nvSpPr>
          <p:cNvPr id="209" name="Google Shape;209;p34"/>
          <p:cNvSpPr txBox="1"/>
          <p:nvPr>
            <p:ph idx="1" type="body"/>
          </p:nvPr>
        </p:nvSpPr>
        <p:spPr>
          <a:xfrm>
            <a:off x="514525" y="973300"/>
            <a:ext cx="4497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5000"/>
              </a:lnSpc>
              <a:spcBef>
                <a:spcPts val="0"/>
              </a:spcBef>
              <a:spcAft>
                <a:spcPts val="0"/>
              </a:spcAft>
              <a:buNone/>
            </a:pPr>
            <a:r>
              <a:rPr lang="en" sz="2200"/>
              <a:t>SWE-Agents are AI agents that have multiple tools to operate on your code.</a:t>
            </a:r>
            <a:endParaRPr sz="2200"/>
          </a:p>
          <a:p>
            <a:pPr indent="0" lvl="0" marL="0" rtl="0" algn="l">
              <a:lnSpc>
                <a:spcPct val="105000"/>
              </a:lnSpc>
              <a:spcBef>
                <a:spcPts val="1200"/>
              </a:spcBef>
              <a:spcAft>
                <a:spcPts val="0"/>
              </a:spcAft>
              <a:buNone/>
            </a:pPr>
            <a:r>
              <a:rPr lang="en" sz="2200"/>
              <a:t>Can be unreliable, the “sweet zone” requires skill to find.</a:t>
            </a:r>
            <a:br>
              <a:rPr lang="en" sz="2200"/>
            </a:br>
            <a:br>
              <a:rPr lang="en" sz="2200"/>
            </a:br>
            <a:r>
              <a:rPr lang="en" sz="2200"/>
              <a:t>But improving all the time and competent at some things.</a:t>
            </a:r>
            <a:endParaRPr sz="2200"/>
          </a:p>
          <a:p>
            <a:pPr indent="0" lvl="0" marL="0" rtl="0" algn="l">
              <a:lnSpc>
                <a:spcPct val="105000"/>
              </a:lnSpc>
              <a:spcBef>
                <a:spcPts val="1200"/>
              </a:spcBef>
              <a:spcAft>
                <a:spcPts val="1200"/>
              </a:spcAft>
              <a:buNone/>
            </a:pPr>
            <a:r>
              <a:rPr lang="en" sz="2200"/>
              <a:t>Learn and use them! </a:t>
            </a:r>
            <a:br>
              <a:rPr lang="en" sz="2200"/>
            </a:br>
            <a:br>
              <a:rPr lang="en" sz="2200"/>
            </a:br>
            <a:r>
              <a:rPr lang="en" sz="2200"/>
              <a:t>Don’t let them operate on you!</a:t>
            </a:r>
            <a:endParaRPr sz="2200"/>
          </a:p>
        </p:txBody>
      </p:sp>
      <p:pic>
        <p:nvPicPr>
          <p:cNvPr id="210" name="Google Shape;210;p34"/>
          <p:cNvPicPr preferRelativeResize="0"/>
          <p:nvPr/>
        </p:nvPicPr>
        <p:blipFill>
          <a:blip r:embed="rId3">
            <a:alphaModFix/>
          </a:blip>
          <a:stretch>
            <a:fillRect/>
          </a:stretch>
        </p:blipFill>
        <p:spPr>
          <a:xfrm>
            <a:off x="5257700" y="1238250"/>
            <a:ext cx="3814751" cy="2543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4</a:t>
            </a:r>
            <a:r>
              <a:rPr lang="en"/>
              <a:t>: AI-Assisted App Development</a:t>
            </a:r>
            <a:endParaRPr/>
          </a:p>
        </p:txBody>
      </p:sp>
      <p:sp>
        <p:nvSpPr>
          <p:cNvPr id="216" name="Google Shape;216;p35"/>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n" sz="2200"/>
              <a:t>“Create me a multiplayer online TicTacToe game”</a:t>
            </a:r>
            <a:endParaRPr sz="2200"/>
          </a:p>
        </p:txBody>
      </p:sp>
      <p:pic>
        <p:nvPicPr>
          <p:cNvPr id="217" name="Google Shape;217;p35"/>
          <p:cNvPicPr preferRelativeResize="0"/>
          <p:nvPr/>
        </p:nvPicPr>
        <p:blipFill>
          <a:blip r:embed="rId3">
            <a:alphaModFix/>
          </a:blip>
          <a:stretch>
            <a:fillRect/>
          </a:stretch>
        </p:blipFill>
        <p:spPr>
          <a:xfrm>
            <a:off x="474000" y="2135090"/>
            <a:ext cx="2360301" cy="873322"/>
          </a:xfrm>
          <a:prstGeom prst="rect">
            <a:avLst/>
          </a:prstGeom>
          <a:noFill/>
          <a:ln>
            <a:noFill/>
          </a:ln>
        </p:spPr>
      </p:pic>
      <p:pic>
        <p:nvPicPr>
          <p:cNvPr id="218" name="Google Shape;218;p35"/>
          <p:cNvPicPr preferRelativeResize="0"/>
          <p:nvPr/>
        </p:nvPicPr>
        <p:blipFill>
          <a:blip r:embed="rId4">
            <a:alphaModFix/>
          </a:blip>
          <a:stretch>
            <a:fillRect/>
          </a:stretch>
        </p:blipFill>
        <p:spPr>
          <a:xfrm>
            <a:off x="6076775" y="2838450"/>
            <a:ext cx="2928927" cy="1952624"/>
          </a:xfrm>
          <a:prstGeom prst="rect">
            <a:avLst/>
          </a:prstGeom>
          <a:noFill/>
          <a:ln>
            <a:noFill/>
          </a:ln>
        </p:spPr>
      </p:pic>
      <p:pic>
        <p:nvPicPr>
          <p:cNvPr id="219" name="Google Shape;219;p35"/>
          <p:cNvPicPr preferRelativeResize="0"/>
          <p:nvPr/>
        </p:nvPicPr>
        <p:blipFill>
          <a:blip r:embed="rId5">
            <a:alphaModFix/>
          </a:blip>
          <a:stretch>
            <a:fillRect/>
          </a:stretch>
        </p:blipFill>
        <p:spPr>
          <a:xfrm>
            <a:off x="621025" y="3366125"/>
            <a:ext cx="2360301" cy="1573526"/>
          </a:xfrm>
          <a:prstGeom prst="rect">
            <a:avLst/>
          </a:prstGeom>
          <a:noFill/>
          <a:ln>
            <a:noFill/>
          </a:ln>
        </p:spPr>
      </p:pic>
      <p:pic>
        <p:nvPicPr>
          <p:cNvPr id="220" name="Google Shape;220;p35"/>
          <p:cNvPicPr preferRelativeResize="0"/>
          <p:nvPr/>
        </p:nvPicPr>
        <p:blipFill>
          <a:blip r:embed="rId6">
            <a:alphaModFix/>
          </a:blip>
          <a:stretch>
            <a:fillRect/>
          </a:stretch>
        </p:blipFill>
        <p:spPr>
          <a:xfrm>
            <a:off x="3223857" y="2838450"/>
            <a:ext cx="3081693" cy="1733450"/>
          </a:xfrm>
          <a:prstGeom prst="rect">
            <a:avLst/>
          </a:prstGeom>
          <a:noFill/>
          <a:ln>
            <a:noFill/>
          </a:ln>
        </p:spPr>
      </p:pic>
      <p:pic>
        <p:nvPicPr>
          <p:cNvPr id="221" name="Google Shape;221;p35"/>
          <p:cNvPicPr preferRelativeResize="0"/>
          <p:nvPr/>
        </p:nvPicPr>
        <p:blipFill>
          <a:blip r:embed="rId7">
            <a:alphaModFix/>
          </a:blip>
          <a:stretch>
            <a:fillRect/>
          </a:stretch>
        </p:blipFill>
        <p:spPr>
          <a:xfrm>
            <a:off x="5909402" y="1810350"/>
            <a:ext cx="2360299" cy="13752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4: AI-Assisted App Development</a:t>
            </a:r>
            <a:endParaRPr/>
          </a:p>
        </p:txBody>
      </p:sp>
      <p:sp>
        <p:nvSpPr>
          <p:cNvPr id="227" name="Google Shape;227;p36"/>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Narrows the scope to </a:t>
            </a:r>
            <a:r>
              <a:rPr b="1" lang="en"/>
              <a:t>app development</a:t>
            </a:r>
            <a:endParaRPr b="1"/>
          </a:p>
          <a:p>
            <a:pPr indent="-342900" lvl="0" marL="457200" rtl="0" algn="l">
              <a:spcBef>
                <a:spcPts val="0"/>
              </a:spcBef>
              <a:spcAft>
                <a:spcPts val="0"/>
              </a:spcAft>
              <a:buSzPts val="1800"/>
              <a:buChar char="●"/>
            </a:pPr>
            <a:r>
              <a:rPr lang="en"/>
              <a:t>Usually </a:t>
            </a:r>
            <a:r>
              <a:rPr lang="en"/>
              <a:t>narrows to particular </a:t>
            </a:r>
            <a:r>
              <a:rPr b="1" lang="en"/>
              <a:t>design</a:t>
            </a:r>
            <a:r>
              <a:rPr b="1" lang="en"/>
              <a:t> theme</a:t>
            </a:r>
            <a:r>
              <a:rPr lang="en"/>
              <a:t> and </a:t>
            </a:r>
            <a:r>
              <a:rPr b="1" lang="en"/>
              <a:t>backend services</a:t>
            </a:r>
            <a:endParaRPr b="1"/>
          </a:p>
          <a:p>
            <a:pPr indent="-342900" lvl="0" marL="457200" rtl="0" algn="l">
              <a:spcBef>
                <a:spcPts val="0"/>
              </a:spcBef>
              <a:spcAft>
                <a:spcPts val="0"/>
              </a:spcAft>
              <a:buSzPts val="1800"/>
              <a:buChar char="●"/>
            </a:pPr>
            <a:r>
              <a:rPr lang="en"/>
              <a:t>T</a:t>
            </a:r>
            <a:r>
              <a:rPr lang="en"/>
              <a:t>he user can </a:t>
            </a:r>
            <a:r>
              <a:rPr b="1" lang="en"/>
              <a:t>run the app </a:t>
            </a:r>
            <a:r>
              <a:rPr lang="en"/>
              <a:t>and </a:t>
            </a:r>
            <a:r>
              <a:rPr b="1" lang="en"/>
              <a:t>validate directly</a:t>
            </a:r>
            <a:endParaRPr b="1"/>
          </a:p>
          <a:p>
            <a:pPr indent="-342900" lvl="0" marL="457200" rtl="0" algn="l">
              <a:spcBef>
                <a:spcPts val="0"/>
              </a:spcBef>
              <a:spcAft>
                <a:spcPts val="0"/>
              </a:spcAft>
              <a:buSzPts val="1800"/>
              <a:buChar char="●"/>
            </a:pPr>
            <a:r>
              <a:rPr lang="en"/>
              <a:t>Sometimes </a:t>
            </a:r>
            <a:r>
              <a:rPr b="1" lang="en"/>
              <a:t>little need to look at the code at all </a:t>
            </a:r>
            <a:r>
              <a:rPr lang="en"/>
              <a:t>(vibe coding)</a:t>
            </a:r>
            <a:endParaRPr/>
          </a:p>
          <a:p>
            <a:pPr indent="0" lvl="0" marL="0" rtl="0" algn="l">
              <a:spcBef>
                <a:spcPts val="1200"/>
              </a:spcBef>
              <a:spcAft>
                <a:spcPts val="0"/>
              </a:spcAft>
              <a:buNone/>
            </a:pPr>
            <a:r>
              <a:rPr lang="en"/>
              <a:t>Huge caveats</a:t>
            </a:r>
            <a:endParaRPr/>
          </a:p>
          <a:p>
            <a:pPr indent="-342900" lvl="0" marL="457200" rtl="0" algn="l">
              <a:spcBef>
                <a:spcPts val="1200"/>
              </a:spcBef>
              <a:spcAft>
                <a:spcPts val="0"/>
              </a:spcAft>
              <a:buSzPts val="1800"/>
              <a:buChar char="●"/>
            </a:pPr>
            <a:r>
              <a:rPr b="1" lang="en"/>
              <a:t>App coding </a:t>
            </a:r>
            <a:r>
              <a:rPr lang="en"/>
              <a:t>is replaced by </a:t>
            </a:r>
            <a:r>
              <a:rPr b="1" lang="en"/>
              <a:t>app description</a:t>
            </a:r>
            <a:endParaRPr b="1"/>
          </a:p>
          <a:p>
            <a:pPr indent="-342900" lvl="0" marL="457200" rtl="0" algn="l">
              <a:spcBef>
                <a:spcPts val="0"/>
              </a:spcBef>
              <a:spcAft>
                <a:spcPts val="0"/>
              </a:spcAft>
              <a:buSzPts val="1800"/>
              <a:buChar char="●"/>
            </a:pPr>
            <a:r>
              <a:rPr lang="en"/>
              <a:t>This is a small but important slice of the software industry</a:t>
            </a:r>
            <a:endParaRPr/>
          </a:p>
          <a:p>
            <a:pPr indent="-342900" lvl="0" marL="457200" rtl="0" algn="l">
              <a:spcBef>
                <a:spcPts val="0"/>
              </a:spcBef>
              <a:spcAft>
                <a:spcPts val="0"/>
              </a:spcAft>
              <a:buSzPts val="1800"/>
              <a:buChar char="●"/>
            </a:pPr>
            <a:r>
              <a:rPr lang="en"/>
              <a:t>Good </a:t>
            </a:r>
            <a:r>
              <a:rPr b="1" lang="en"/>
              <a:t>UX design </a:t>
            </a:r>
            <a:r>
              <a:rPr lang="en"/>
              <a:t>is </a:t>
            </a:r>
            <a:r>
              <a:rPr b="1" lang="en"/>
              <a:t>subjective</a:t>
            </a:r>
            <a:r>
              <a:rPr lang="en"/>
              <a:t>, impossible to describe with words</a:t>
            </a:r>
            <a:endParaRPr/>
          </a:p>
          <a:p>
            <a:pPr indent="-342900" lvl="0" marL="457200" rtl="0" algn="l">
              <a:spcBef>
                <a:spcPts val="0"/>
              </a:spcBef>
              <a:spcAft>
                <a:spcPts val="0"/>
              </a:spcAft>
              <a:buSzPts val="1800"/>
              <a:buChar char="●"/>
            </a:pPr>
            <a:r>
              <a:rPr lang="en"/>
              <a:t>Beware security disasters!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Demo - GitHub Spark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General lessons for tool builders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A small team can build a big thing</a:t>
            </a:r>
            <a:endParaRPr/>
          </a:p>
        </p:txBody>
      </p:sp>
      <p:pic>
        <p:nvPicPr>
          <p:cNvPr id="243" name="Google Shape;243;p39"/>
          <p:cNvPicPr preferRelativeResize="0"/>
          <p:nvPr/>
        </p:nvPicPr>
        <p:blipFill>
          <a:blip r:embed="rId3">
            <a:alphaModFix/>
          </a:blip>
          <a:stretch>
            <a:fillRect/>
          </a:stretch>
        </p:blipFill>
        <p:spPr>
          <a:xfrm>
            <a:off x="2231875" y="1017725"/>
            <a:ext cx="4680238" cy="3820976"/>
          </a:xfrm>
          <a:prstGeom prst="rect">
            <a:avLst/>
          </a:prstGeom>
          <a:noFill/>
          <a:ln>
            <a:noFill/>
          </a:ln>
        </p:spPr>
      </p:pic>
      <p:sp>
        <p:nvSpPr>
          <p:cNvPr id="244" name="Google Shape;244;p3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Build a prototype ASAP</a:t>
            </a:r>
            <a:endParaRPr/>
          </a:p>
        </p:txBody>
      </p:sp>
      <p:pic>
        <p:nvPicPr>
          <p:cNvPr id="250" name="Google Shape;250;p40"/>
          <p:cNvPicPr preferRelativeResize="0"/>
          <p:nvPr/>
        </p:nvPicPr>
        <p:blipFill>
          <a:blip r:embed="rId3">
            <a:alphaModFix/>
          </a:blip>
          <a:stretch>
            <a:fillRect/>
          </a:stretch>
        </p:blipFill>
        <p:spPr>
          <a:xfrm>
            <a:off x="1143000" y="1014413"/>
            <a:ext cx="6858000" cy="31146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Deliver tangible results frequently</a:t>
            </a:r>
            <a:endParaRPr/>
          </a:p>
        </p:txBody>
      </p:sp>
      <p:pic>
        <p:nvPicPr>
          <p:cNvPr id="256" name="Google Shape;256;p41"/>
          <p:cNvPicPr preferRelativeResize="0"/>
          <p:nvPr/>
        </p:nvPicPr>
        <p:blipFill>
          <a:blip r:embed="rId3">
            <a:alphaModFix/>
          </a:blip>
          <a:stretch>
            <a:fillRect/>
          </a:stretch>
        </p:blipFill>
        <p:spPr>
          <a:xfrm>
            <a:off x="633400" y="1418125"/>
            <a:ext cx="7877175" cy="2857500"/>
          </a:xfrm>
          <a:prstGeom prst="rect">
            <a:avLst/>
          </a:prstGeom>
          <a:noFill/>
          <a:ln>
            <a:noFill/>
          </a:ln>
        </p:spPr>
      </p:pic>
      <p:sp>
        <p:nvSpPr>
          <p:cNvPr id="257" name="Google Shape;257;p41"/>
          <p:cNvSpPr txBox="1"/>
          <p:nvPr/>
        </p:nvSpPr>
        <p:spPr>
          <a:xfrm>
            <a:off x="3256988" y="4275625"/>
            <a:ext cx="5253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Inter"/>
                <a:ea typeface="Inter"/>
                <a:cs typeface="Inter"/>
                <a:sym typeface="Inter"/>
              </a:rPr>
              <a:t>Image credit: https://blog.crisp.se/2016/01/25/henrikkniberg/making-sense-of-mvp</a:t>
            </a:r>
            <a:endParaRPr sz="1000">
              <a:solidFill>
                <a:schemeClr val="lt2"/>
              </a:solidFill>
              <a:latin typeface="Inter"/>
              <a:ea typeface="Inter"/>
              <a:cs typeface="Inter"/>
              <a:sym typeface="Inter"/>
            </a:endParaRPr>
          </a:p>
        </p:txBody>
      </p:sp>
      <p:sp>
        <p:nvSpPr>
          <p:cNvPr id="258" name="Google Shape;258;p4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UX is critical in </a:t>
            </a:r>
            <a:r>
              <a:rPr lang="en" strike="sngStrike"/>
              <a:t>AI</a:t>
            </a:r>
            <a:r>
              <a:rPr lang="en"/>
              <a:t> developer tools</a:t>
            </a:r>
            <a:endParaRPr/>
          </a:p>
        </p:txBody>
      </p:sp>
      <p:pic>
        <p:nvPicPr>
          <p:cNvPr id="264" name="Google Shape;264;p42"/>
          <p:cNvPicPr preferRelativeResize="0"/>
          <p:nvPr/>
        </p:nvPicPr>
        <p:blipFill>
          <a:blip r:embed="rId3">
            <a:alphaModFix/>
          </a:blip>
          <a:stretch>
            <a:fillRect/>
          </a:stretch>
        </p:blipFill>
        <p:spPr>
          <a:xfrm>
            <a:off x="2661512" y="1111900"/>
            <a:ext cx="3820977" cy="3820977"/>
          </a:xfrm>
          <a:prstGeom prst="rect">
            <a:avLst/>
          </a:prstGeom>
          <a:noFill/>
          <a:ln>
            <a:noFill/>
          </a:ln>
        </p:spPr>
      </p:pic>
      <p:sp>
        <p:nvSpPr>
          <p:cNvPr id="265" name="Google Shape;265;p42"/>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Beware of long term market fit</a:t>
            </a:r>
            <a:endParaRPr/>
          </a:p>
        </p:txBody>
      </p:sp>
      <p:pic>
        <p:nvPicPr>
          <p:cNvPr id="271" name="Google Shape;271;p43"/>
          <p:cNvPicPr preferRelativeResize="0"/>
          <p:nvPr/>
        </p:nvPicPr>
        <p:blipFill>
          <a:blip r:embed="rId3">
            <a:alphaModFix/>
          </a:blip>
          <a:stretch>
            <a:fillRect/>
          </a:stretch>
        </p:blipFill>
        <p:spPr>
          <a:xfrm>
            <a:off x="2799737" y="1213025"/>
            <a:ext cx="3544525" cy="3544525"/>
          </a:xfrm>
          <a:prstGeom prst="rect">
            <a:avLst/>
          </a:prstGeom>
          <a:noFill/>
          <a:ln>
            <a:noFill/>
          </a:ln>
        </p:spPr>
      </p:pic>
      <p:sp>
        <p:nvSpPr>
          <p:cNvPr id="272" name="Google Shape;272;p4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Don’t </a:t>
            </a:r>
            <a:r>
              <a:rPr lang="en"/>
              <a:t>over index</a:t>
            </a:r>
            <a:r>
              <a:rPr lang="en"/>
              <a:t> on cost</a:t>
            </a:r>
            <a:endParaRPr/>
          </a:p>
        </p:txBody>
      </p:sp>
      <p:pic>
        <p:nvPicPr>
          <p:cNvPr id="278" name="Google Shape;278;p44"/>
          <p:cNvPicPr preferRelativeResize="0"/>
          <p:nvPr/>
        </p:nvPicPr>
        <p:blipFill>
          <a:blip r:embed="rId3">
            <a:alphaModFix/>
          </a:blip>
          <a:stretch>
            <a:fillRect/>
          </a:stretch>
        </p:blipFill>
        <p:spPr>
          <a:xfrm>
            <a:off x="2746050" y="1133400"/>
            <a:ext cx="3651899" cy="3651899"/>
          </a:xfrm>
          <a:prstGeom prst="rect">
            <a:avLst/>
          </a:prstGeom>
          <a:noFill/>
          <a:ln>
            <a:noFill/>
          </a:ln>
        </p:spPr>
      </p:pic>
      <p:sp>
        <p:nvSpPr>
          <p:cNvPr id="279" name="Google Shape;279;p4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a:t>
            </a:r>
            <a:r>
              <a:rPr lang="en"/>
              <a:t>Dogfood</a:t>
            </a:r>
            <a:r>
              <a:rPr lang="en"/>
              <a:t> </a:t>
            </a:r>
            <a:r>
              <a:rPr lang="en"/>
              <a:t>intensively </a:t>
            </a:r>
            <a:endParaRPr/>
          </a:p>
        </p:txBody>
      </p:sp>
      <p:pic>
        <p:nvPicPr>
          <p:cNvPr id="285" name="Google Shape;285;p45"/>
          <p:cNvPicPr preferRelativeResize="0"/>
          <p:nvPr/>
        </p:nvPicPr>
        <p:blipFill>
          <a:blip r:embed="rId3">
            <a:alphaModFix/>
          </a:blip>
          <a:stretch>
            <a:fillRect/>
          </a:stretch>
        </p:blipFill>
        <p:spPr>
          <a:xfrm>
            <a:off x="2805750" y="1170125"/>
            <a:ext cx="3532500" cy="3532500"/>
          </a:xfrm>
          <a:prstGeom prst="rect">
            <a:avLst/>
          </a:prstGeom>
          <a:noFill/>
          <a:ln>
            <a:noFill/>
          </a:ln>
        </p:spPr>
      </p:pic>
      <p:sp>
        <p:nvSpPr>
          <p:cNvPr id="286" name="Google Shape;286;p45"/>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6"/>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Student Questions, </a:t>
            </a:r>
            <a:br>
              <a:rPr lang="en"/>
            </a:br>
            <a:r>
              <a:rPr lang="en"/>
              <a:t>My Answers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
        <p:nvSpPr>
          <p:cNvPr id="297" name="Google Shape;297;p47"/>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sz="2200"/>
              <a:t>“What will coding with AI look like in the future?”</a:t>
            </a:r>
            <a:endParaRPr sz="2200"/>
          </a:p>
          <a:p>
            <a:pPr indent="0" lvl="0" marL="457200" rtl="0" algn="ctr">
              <a:spcBef>
                <a:spcPts val="1200"/>
              </a:spcBef>
              <a:spcAft>
                <a:spcPts val="0"/>
              </a:spcAft>
              <a:buNone/>
            </a:pPr>
            <a:r>
              <a:t/>
            </a:r>
            <a:endParaRPr sz="2200"/>
          </a:p>
          <a:p>
            <a:pPr indent="-347345" lvl="0" marL="457200" rtl="0" algn="l">
              <a:spcBef>
                <a:spcPts val="1200"/>
              </a:spcBef>
              <a:spcAft>
                <a:spcPts val="0"/>
              </a:spcAft>
              <a:buSzPct val="100000"/>
              <a:buAutoNum type="arabicPeriod"/>
            </a:pPr>
            <a:r>
              <a:rPr lang="en" sz="2200"/>
              <a:t>AI-powered </a:t>
            </a:r>
            <a:r>
              <a:rPr b="1" lang="en" sz="2200"/>
              <a:t>p</a:t>
            </a:r>
            <a:r>
              <a:rPr b="1" lang="en" sz="2200"/>
              <a:t>inpoint tools</a:t>
            </a:r>
            <a:r>
              <a:rPr lang="en" sz="2200"/>
              <a:t> will be everywhere</a:t>
            </a:r>
            <a:endParaRPr sz="2200"/>
          </a:p>
          <a:p>
            <a:pPr indent="-347345" lvl="0" marL="457200" rtl="0" algn="l">
              <a:spcBef>
                <a:spcPts val="0"/>
              </a:spcBef>
              <a:spcAft>
                <a:spcPts val="0"/>
              </a:spcAft>
              <a:buSzPct val="100000"/>
              <a:buAutoNum type="arabicPeriod"/>
            </a:pPr>
            <a:r>
              <a:rPr lang="en" sz="2200"/>
              <a:t>AI-assisted </a:t>
            </a:r>
            <a:r>
              <a:rPr b="1" lang="en" sz="2200"/>
              <a:t>t</a:t>
            </a:r>
            <a:r>
              <a:rPr b="1" lang="en" sz="2200"/>
              <a:t>ask orientation</a:t>
            </a:r>
            <a:r>
              <a:rPr lang="en" sz="2200"/>
              <a:t> will become normal</a:t>
            </a:r>
            <a:endParaRPr sz="2200"/>
          </a:p>
          <a:p>
            <a:pPr indent="-347345" lvl="0" marL="457200" rtl="0" algn="l">
              <a:spcBef>
                <a:spcPts val="0"/>
              </a:spcBef>
              <a:spcAft>
                <a:spcPts val="0"/>
              </a:spcAft>
              <a:buSzPct val="100000"/>
              <a:buAutoNum type="arabicPeriod"/>
            </a:pPr>
            <a:r>
              <a:rPr lang="en" sz="2200"/>
              <a:t>Some </a:t>
            </a:r>
            <a:r>
              <a:rPr b="1" lang="en" sz="2200"/>
              <a:t>technical coding </a:t>
            </a:r>
            <a:r>
              <a:rPr lang="en" sz="2200"/>
              <a:t>will be fully automated and become </a:t>
            </a:r>
            <a:r>
              <a:rPr b="1" lang="en" sz="2200"/>
              <a:t>technical description </a:t>
            </a:r>
            <a:r>
              <a:rPr b="1" lang="en" sz="2200"/>
              <a:t>+ exploration</a:t>
            </a:r>
            <a:endParaRPr b="1" sz="2200"/>
          </a:p>
          <a:p>
            <a:pPr indent="-347345" lvl="0" marL="457200" rtl="0" algn="l">
              <a:spcBef>
                <a:spcPts val="0"/>
              </a:spcBef>
              <a:spcAft>
                <a:spcPts val="0"/>
              </a:spcAft>
              <a:buSzPct val="100000"/>
              <a:buAutoNum type="arabicPeriod"/>
            </a:pPr>
            <a:r>
              <a:rPr lang="en" sz="2200"/>
              <a:t>UX </a:t>
            </a:r>
            <a:r>
              <a:rPr lang="en" sz="2200"/>
              <a:t>design is </a:t>
            </a:r>
            <a:r>
              <a:rPr b="1" lang="en" sz="2200"/>
              <a:t>subjective </a:t>
            </a:r>
            <a:r>
              <a:rPr lang="en" sz="2200"/>
              <a:t>and will be only partially automated</a:t>
            </a:r>
            <a:endParaRPr sz="2200"/>
          </a:p>
          <a:p>
            <a:pPr indent="-347345" lvl="0" marL="457200" rtl="0" algn="l">
              <a:spcBef>
                <a:spcPts val="0"/>
              </a:spcBef>
              <a:spcAft>
                <a:spcPts val="0"/>
              </a:spcAft>
              <a:buSzPct val="100000"/>
              <a:buAutoNum type="arabicPeriod"/>
            </a:pPr>
            <a:r>
              <a:rPr b="1" lang="en" sz="2200"/>
              <a:t>Requirements</a:t>
            </a:r>
            <a:r>
              <a:rPr lang="en" sz="2200"/>
              <a:t>, </a:t>
            </a:r>
            <a:r>
              <a:rPr b="1" lang="en" sz="2200"/>
              <a:t>validation</a:t>
            </a:r>
            <a:r>
              <a:rPr lang="en" sz="2200"/>
              <a:t>, </a:t>
            </a:r>
            <a:r>
              <a:rPr b="1" lang="en" sz="2200"/>
              <a:t>architecture</a:t>
            </a:r>
            <a:r>
              <a:rPr lang="en" sz="2200"/>
              <a:t>, </a:t>
            </a:r>
            <a:r>
              <a:rPr b="1" lang="en" sz="2200"/>
              <a:t>maintainability</a:t>
            </a:r>
            <a:r>
              <a:rPr lang="en" sz="2200"/>
              <a:t>, </a:t>
            </a:r>
            <a:r>
              <a:rPr b="1" lang="en" sz="2200"/>
              <a:t>improvement</a:t>
            </a:r>
            <a:r>
              <a:rPr lang="en" sz="2200"/>
              <a:t>, </a:t>
            </a:r>
            <a:r>
              <a:rPr b="1" lang="en" sz="2200"/>
              <a:t>security </a:t>
            </a:r>
            <a:r>
              <a:rPr lang="en" sz="2200"/>
              <a:t>will be only partially automated</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“Does AI mean that code will be obsolete soon?”</a:t>
            </a:r>
            <a:endParaRPr sz="2200"/>
          </a:p>
          <a:p>
            <a:pPr indent="0" lvl="0" marL="0" rtl="0" algn="l">
              <a:spcBef>
                <a:spcPts val="1200"/>
              </a:spcBef>
              <a:spcAft>
                <a:spcPts val="0"/>
              </a:spcAft>
              <a:buNone/>
            </a:pPr>
            <a:r>
              <a:t/>
            </a:r>
            <a:endParaRPr sz="2200"/>
          </a:p>
          <a:p>
            <a:pPr indent="-368300" lvl="0" marL="457200" rtl="0" algn="l">
              <a:spcBef>
                <a:spcPts val="1200"/>
              </a:spcBef>
              <a:spcAft>
                <a:spcPts val="0"/>
              </a:spcAft>
              <a:buSzPts val="2200"/>
              <a:buAutoNum type="arabicPeriod"/>
            </a:pPr>
            <a:r>
              <a:rPr lang="en" sz="2200"/>
              <a:t>No! Code will largely remain the notation of record</a:t>
            </a:r>
            <a:endParaRPr sz="2200"/>
          </a:p>
          <a:p>
            <a:pPr indent="-368300" lvl="0" marL="457200" rtl="0" algn="l">
              <a:spcBef>
                <a:spcPts val="0"/>
              </a:spcBef>
              <a:spcAft>
                <a:spcPts val="0"/>
              </a:spcAft>
              <a:buSzPts val="2200"/>
              <a:buAutoNum type="arabicPeriod"/>
            </a:pPr>
            <a:r>
              <a:rPr b="1" lang="en" sz="2200"/>
              <a:t>T</a:t>
            </a:r>
            <a:r>
              <a:rPr b="1" lang="en" sz="2200"/>
              <a:t>echnical description </a:t>
            </a:r>
            <a:r>
              <a:rPr lang="en" sz="2200"/>
              <a:t>w</a:t>
            </a:r>
            <a:r>
              <a:rPr lang="en" sz="2200"/>
              <a:t>ill become more important</a:t>
            </a:r>
            <a:endParaRPr b="1" sz="2200"/>
          </a:p>
          <a:p>
            <a:pPr indent="-368300" lvl="0" marL="457200" rtl="0" algn="l">
              <a:spcBef>
                <a:spcPts val="0"/>
              </a:spcBef>
              <a:spcAft>
                <a:spcPts val="0"/>
              </a:spcAft>
              <a:buSzPts val="2200"/>
              <a:buAutoNum type="arabicPeriod"/>
            </a:pPr>
            <a:r>
              <a:rPr b="1" lang="en" sz="2200"/>
              <a:t>Depth knowledge </a:t>
            </a:r>
            <a:r>
              <a:rPr lang="en" sz="2200"/>
              <a:t>will continue to be critical</a:t>
            </a:r>
            <a:endParaRPr sz="2200"/>
          </a:p>
          <a:p>
            <a:pPr indent="-368300" lvl="0" marL="457200" rtl="0" algn="l">
              <a:spcBef>
                <a:spcPts val="0"/>
              </a:spcBef>
              <a:spcAft>
                <a:spcPts val="0"/>
              </a:spcAft>
              <a:buSzPts val="2200"/>
              <a:buAutoNum type="arabicPeriod"/>
            </a:pPr>
            <a:r>
              <a:rPr b="1" lang="en" sz="2200"/>
              <a:t>Requirements </a:t>
            </a:r>
            <a:r>
              <a:rPr lang="en" sz="2200"/>
              <a:t>and </a:t>
            </a:r>
            <a:r>
              <a:rPr b="1" lang="en" sz="2200"/>
              <a:t>validation </a:t>
            </a:r>
            <a:r>
              <a:rPr lang="en" sz="2200"/>
              <a:t>will begin to dominate</a:t>
            </a:r>
            <a:endParaRPr sz="2200"/>
          </a:p>
        </p:txBody>
      </p:sp>
      <p:sp>
        <p:nvSpPr>
          <p:cNvPr id="303" name="Google Shape;303;p48"/>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
        <p:nvSpPr>
          <p:cNvPr id="309" name="Google Shape;309;p4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“How should I use AI tools in software development?”</a:t>
            </a:r>
            <a:endParaRPr sz="2200"/>
          </a:p>
          <a:p>
            <a:pPr indent="0" lvl="0" marL="0" rtl="0" algn="l">
              <a:spcBef>
                <a:spcPts val="1200"/>
              </a:spcBef>
              <a:spcAft>
                <a:spcPts val="0"/>
              </a:spcAft>
              <a:buNone/>
            </a:pPr>
            <a:r>
              <a:t/>
            </a:r>
            <a:endParaRPr sz="2200"/>
          </a:p>
          <a:p>
            <a:pPr indent="-368300" lvl="0" marL="457200" rtl="0" algn="l">
              <a:spcBef>
                <a:spcPts val="1200"/>
              </a:spcBef>
              <a:spcAft>
                <a:spcPts val="0"/>
              </a:spcAft>
              <a:buSzPts val="2200"/>
              <a:buAutoNum type="arabicPeriod"/>
            </a:pPr>
            <a:r>
              <a:rPr lang="en" sz="2200"/>
              <a:t>Learn to be a great programmer </a:t>
            </a:r>
            <a:r>
              <a:rPr b="1" lang="en" sz="2200"/>
              <a:t>without AI</a:t>
            </a:r>
            <a:endParaRPr b="1" sz="2200"/>
          </a:p>
          <a:p>
            <a:pPr indent="-368300" lvl="0" marL="457200" rtl="0" algn="l">
              <a:spcBef>
                <a:spcPts val="0"/>
              </a:spcBef>
              <a:spcAft>
                <a:spcPts val="0"/>
              </a:spcAft>
              <a:buSzPts val="2200"/>
              <a:buAutoNum type="arabicPeriod"/>
            </a:pPr>
            <a:r>
              <a:rPr b="1" lang="en" sz="2200"/>
              <a:t>Embrace </a:t>
            </a:r>
            <a:r>
              <a:rPr lang="en" sz="2200"/>
              <a:t>many pinpoint tools </a:t>
            </a:r>
            <a:endParaRPr b="1" sz="2200"/>
          </a:p>
          <a:p>
            <a:pPr indent="-368300" lvl="0" marL="457200" rtl="0" algn="l">
              <a:spcBef>
                <a:spcPts val="0"/>
              </a:spcBef>
              <a:spcAft>
                <a:spcPts val="0"/>
              </a:spcAft>
              <a:buSzPts val="2200"/>
              <a:buAutoNum type="arabicPeriod"/>
            </a:pPr>
            <a:r>
              <a:rPr b="1" lang="en" sz="2200"/>
              <a:t>Learn </a:t>
            </a:r>
            <a:r>
              <a:rPr lang="en" sz="2200"/>
              <a:t>task-oriented tools </a:t>
            </a:r>
            <a:endParaRPr sz="2200"/>
          </a:p>
          <a:p>
            <a:pPr indent="-368300" lvl="0" marL="457200" rtl="0" algn="l">
              <a:spcBef>
                <a:spcPts val="0"/>
              </a:spcBef>
              <a:spcAft>
                <a:spcPts val="0"/>
              </a:spcAft>
              <a:buSzPts val="2200"/>
              <a:buAutoNum type="arabicPeriod"/>
            </a:pPr>
            <a:r>
              <a:rPr b="1" lang="en" sz="2200"/>
              <a:t>Play with </a:t>
            </a:r>
            <a:r>
              <a:rPr lang="en" sz="2200"/>
              <a:t>automation like Claude Code</a:t>
            </a:r>
            <a:endParaRPr sz="2200"/>
          </a:p>
          <a:p>
            <a:pPr indent="-368300" lvl="0" marL="457200" rtl="0" algn="l">
              <a:spcBef>
                <a:spcPts val="0"/>
              </a:spcBef>
              <a:spcAft>
                <a:spcPts val="0"/>
              </a:spcAft>
              <a:buSzPts val="2200"/>
              <a:buAutoNum type="arabicPeriod"/>
            </a:pPr>
            <a:r>
              <a:rPr b="1" lang="en" sz="2200"/>
              <a:t>Play with </a:t>
            </a:r>
            <a:r>
              <a:rPr lang="en" sz="2200"/>
              <a:t>app-dev tools like Lovable and GitHub Spark</a:t>
            </a:r>
            <a:endParaRPr sz="2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idx="1" type="body"/>
          </p:nvPr>
        </p:nvSpPr>
        <p:spPr>
          <a:xfrm>
            <a:off x="514525" y="973300"/>
            <a:ext cx="49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Coding is already magical, AI coding gives you wild powers</a:t>
            </a:r>
            <a:br>
              <a:rPr lang="en"/>
            </a:br>
            <a:endParaRPr/>
          </a:p>
          <a:p>
            <a:pPr indent="-342900" lvl="0" marL="457200" rtl="0" algn="l">
              <a:spcBef>
                <a:spcPts val="0"/>
              </a:spcBef>
              <a:spcAft>
                <a:spcPts val="0"/>
              </a:spcAft>
              <a:buSzPts val="1800"/>
              <a:buChar char="●"/>
            </a:pPr>
            <a:r>
              <a:rPr lang="en"/>
              <a:t>These powers are not simple to use well</a:t>
            </a:r>
            <a:br>
              <a:rPr lang="en"/>
            </a:br>
            <a:endParaRPr/>
          </a:p>
          <a:p>
            <a:pPr indent="-342900" lvl="0" marL="457200" rtl="0" algn="l">
              <a:spcBef>
                <a:spcPts val="0"/>
              </a:spcBef>
              <a:spcAft>
                <a:spcPts val="0"/>
              </a:spcAft>
              <a:buSzPts val="1800"/>
              <a:buChar char="●"/>
            </a:pPr>
            <a:r>
              <a:rPr lang="en"/>
              <a:t>AI is changing coding fast, and good developers embrace some of it</a:t>
            </a:r>
            <a:endParaRPr/>
          </a:p>
          <a:p>
            <a:pPr indent="0" lvl="0" marL="0" rtl="0" algn="l">
              <a:spcBef>
                <a:spcPts val="1200"/>
              </a:spcBef>
              <a:spcAft>
                <a:spcPts val="1200"/>
              </a:spcAft>
              <a:buNone/>
            </a:pPr>
            <a:r>
              <a:rPr lang="en" u="sng">
                <a:solidFill>
                  <a:schemeClr val="hlink"/>
                </a:solidFill>
                <a:hlinkClick r:id="rId3"/>
              </a:rPr>
              <a:t>dsyme@github.com</a:t>
            </a:r>
            <a:r>
              <a:rPr lang="en"/>
              <a:t> </a:t>
            </a:r>
            <a:r>
              <a:rPr lang="en" u="sng">
                <a:solidFill>
                  <a:schemeClr val="hlink"/>
                </a:solidFill>
                <a:hlinkClick r:id="rId4"/>
              </a:rPr>
              <a:t>@dsyme.bsky.social</a:t>
            </a:r>
            <a:r>
              <a:rPr lang="en"/>
              <a:t> </a:t>
            </a:r>
            <a:endParaRPr/>
          </a:p>
        </p:txBody>
      </p:sp>
      <p:sp>
        <p:nvSpPr>
          <p:cNvPr id="315" name="Google Shape;315;p50"/>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incredible, disturbing times</a:t>
            </a:r>
            <a:endParaRPr sz="2520"/>
          </a:p>
        </p:txBody>
      </p:sp>
      <p:pic>
        <p:nvPicPr>
          <p:cNvPr id="316" name="Google Shape;316;p50"/>
          <p:cNvPicPr preferRelativeResize="0"/>
          <p:nvPr/>
        </p:nvPicPr>
        <p:blipFill>
          <a:blip r:embed="rId5">
            <a:alphaModFix/>
          </a:blip>
          <a:stretch>
            <a:fillRect/>
          </a:stretch>
        </p:blipFill>
        <p:spPr>
          <a:xfrm>
            <a:off x="5687600" y="1017725"/>
            <a:ext cx="3363050" cy="3651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1"/>
          <p:cNvSpPr/>
          <p:nvPr/>
        </p:nvSpPr>
        <p:spPr>
          <a:xfrm>
            <a:off x="3599698" y="1116375"/>
            <a:ext cx="1944600" cy="1944600"/>
          </a:xfrm>
          <a:prstGeom prst="ellipse">
            <a:avLst/>
          </a:prstGeom>
          <a:noFill/>
          <a:ln cap="flat" cmpd="sng" w="28575">
            <a:solidFill>
              <a:srgbClr val="83E3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51">
            <a:hlinkClick r:id="rId3"/>
          </p:cNvPr>
          <p:cNvPicPr preferRelativeResize="0"/>
          <p:nvPr/>
        </p:nvPicPr>
        <p:blipFill>
          <a:blip r:embed="rId4">
            <a:alphaModFix/>
          </a:blip>
          <a:stretch>
            <a:fillRect/>
          </a:stretch>
        </p:blipFill>
        <p:spPr>
          <a:xfrm>
            <a:off x="3937503" y="1587657"/>
            <a:ext cx="1418924" cy="1002050"/>
          </a:xfrm>
          <a:prstGeom prst="rect">
            <a:avLst/>
          </a:prstGeom>
          <a:noFill/>
          <a:ln>
            <a:noFill/>
          </a:ln>
        </p:spPr>
      </p:pic>
      <p:sp>
        <p:nvSpPr>
          <p:cNvPr id="323" name="Google Shape;323;p51"/>
          <p:cNvSpPr txBox="1"/>
          <p:nvPr/>
        </p:nvSpPr>
        <p:spPr>
          <a:xfrm>
            <a:off x="3593550" y="3120970"/>
            <a:ext cx="19569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rgbClr val="83E3D9"/>
                </a:solidFill>
                <a:latin typeface="Inter"/>
                <a:ea typeface="Inter"/>
                <a:cs typeface="Inter"/>
                <a:sym typeface="Inter"/>
              </a:rPr>
              <a:t>GitHub Next</a:t>
            </a:r>
            <a:endParaRPr b="1" sz="2000">
              <a:solidFill>
                <a:srgbClr val="83E3D9"/>
              </a:solidFill>
              <a:latin typeface="Inter"/>
              <a:ea typeface="Inter"/>
              <a:cs typeface="Inter"/>
              <a:sym typeface="Inter"/>
            </a:endParaRPr>
          </a:p>
        </p:txBody>
      </p:sp>
      <p:sp>
        <p:nvSpPr>
          <p:cNvPr id="324" name="Google Shape;324;p51"/>
          <p:cNvSpPr txBox="1"/>
          <p:nvPr/>
        </p:nvSpPr>
        <p:spPr>
          <a:xfrm>
            <a:off x="3528299" y="3564300"/>
            <a:ext cx="20874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Inter"/>
                <a:ea typeface="Inter"/>
                <a:cs typeface="Inter"/>
                <a:sym typeface="Inter"/>
              </a:rPr>
              <a:t>Investigating the future of software development</a:t>
            </a:r>
            <a:endParaRPr sz="1200">
              <a:solidFill>
                <a:schemeClr val="dk1"/>
              </a:solidFill>
              <a:latin typeface="Inter"/>
              <a:ea typeface="Inter"/>
              <a:cs typeface="Inter"/>
              <a:sym typeface="Inter"/>
            </a:endParaRPr>
          </a:p>
          <a:p>
            <a:pPr indent="0" lvl="0" marL="0" rtl="0" algn="ctr">
              <a:spcBef>
                <a:spcPts val="0"/>
              </a:spcBef>
              <a:spcAft>
                <a:spcPts val="0"/>
              </a:spcAft>
              <a:buNone/>
            </a:pPr>
            <a:r>
              <a:t/>
            </a:r>
            <a:endParaRPr sz="1200">
              <a:solidFill>
                <a:srgbClr val="8B939E"/>
              </a:solidFill>
            </a:endParaRPr>
          </a:p>
          <a:p>
            <a:pPr indent="0" lvl="0" marL="0" rtl="0" algn="ctr">
              <a:spcBef>
                <a:spcPts val="0"/>
              </a:spcBef>
              <a:spcAft>
                <a:spcPts val="0"/>
              </a:spcAft>
              <a:buNone/>
            </a:pPr>
            <a:r>
              <a:rPr lang="en" sz="1000" u="sng">
                <a:solidFill>
                  <a:schemeClr val="hlink"/>
                </a:solidFill>
                <a:hlinkClick r:id="rId5"/>
              </a:rPr>
              <a:t>githubnext.com</a:t>
            </a:r>
            <a:endParaRPr sz="1000">
              <a:solidFill>
                <a:schemeClr val="dk1"/>
              </a:solidFill>
            </a:endParaRPr>
          </a:p>
        </p:txBody>
      </p:sp>
      <p:sp>
        <p:nvSpPr>
          <p:cNvPr id="325" name="Google Shape;325;p5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6" name="Google Shape;326;p5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1: NL code search</a:t>
            </a:r>
            <a:endParaRPr/>
          </a:p>
        </p:txBody>
      </p:sp>
      <p:pic>
        <p:nvPicPr>
          <p:cNvPr id="332" name="Google Shape;332;p52"/>
          <p:cNvPicPr preferRelativeResize="0"/>
          <p:nvPr/>
        </p:nvPicPr>
        <p:blipFill>
          <a:blip r:embed="rId3">
            <a:alphaModFix/>
          </a:blip>
          <a:stretch>
            <a:fillRect/>
          </a:stretch>
        </p:blipFill>
        <p:spPr>
          <a:xfrm>
            <a:off x="2482962" y="1100075"/>
            <a:ext cx="4178075" cy="3599726"/>
          </a:xfrm>
          <a:prstGeom prst="rect">
            <a:avLst/>
          </a:prstGeom>
          <a:noFill/>
          <a:ln>
            <a:noFill/>
          </a:ln>
        </p:spPr>
      </p:pic>
      <p:sp>
        <p:nvSpPr>
          <p:cNvPr id="333" name="Google Shape;333;p52"/>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#2: customized Copilot</a:t>
            </a:r>
            <a:endParaRPr/>
          </a:p>
        </p:txBody>
      </p:sp>
      <p:pic>
        <p:nvPicPr>
          <p:cNvPr id="339" name="Google Shape;339;p53"/>
          <p:cNvPicPr preferRelativeResize="0"/>
          <p:nvPr/>
        </p:nvPicPr>
        <p:blipFill>
          <a:blip r:embed="rId3">
            <a:alphaModFix/>
          </a:blip>
          <a:stretch>
            <a:fillRect/>
          </a:stretch>
        </p:blipFill>
        <p:spPr>
          <a:xfrm>
            <a:off x="2330537" y="1193475"/>
            <a:ext cx="4482926" cy="3395400"/>
          </a:xfrm>
          <a:prstGeom prst="rect">
            <a:avLst/>
          </a:prstGeom>
          <a:noFill/>
          <a:ln>
            <a:noFill/>
          </a:ln>
        </p:spPr>
      </p:pic>
      <p:sp>
        <p:nvSpPr>
          <p:cNvPr id="340" name="Google Shape;340;p5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#3: Copilot for Docs</a:t>
            </a:r>
            <a:endParaRPr/>
          </a:p>
        </p:txBody>
      </p:sp>
      <p:pic>
        <p:nvPicPr>
          <p:cNvPr id="346" name="Google Shape;346;p54" title="docs.mp4">
            <a:hlinkClick r:id="rId3"/>
          </p:cNvPr>
          <p:cNvPicPr preferRelativeResize="0"/>
          <p:nvPr/>
        </p:nvPicPr>
        <p:blipFill>
          <a:blip r:embed="rId4">
            <a:alphaModFix/>
          </a:blip>
          <a:stretch>
            <a:fillRect/>
          </a:stretch>
        </p:blipFill>
        <p:spPr>
          <a:xfrm>
            <a:off x="1873425" y="983300"/>
            <a:ext cx="5397150" cy="4047875"/>
          </a:xfrm>
          <a:prstGeom prst="rect">
            <a:avLst/>
          </a:prstGeom>
          <a:noFill/>
          <a:ln>
            <a:noFill/>
          </a:ln>
        </p:spPr>
      </p:pic>
      <p:sp>
        <p:nvSpPr>
          <p:cNvPr id="347" name="Google Shape;347;p5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