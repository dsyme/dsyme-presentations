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3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b85db9d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b85db9d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b85db9d5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b85db9d5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b85db9d5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bb85db9d5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bb85db9d5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bb85db9d5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bb85db9d5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bb85db9d5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bb85db9d5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bb85db9d5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2dd1733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2dd1733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075397f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075397f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75397f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075397f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75397f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075397f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075397ff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075397ff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b85db9d5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bb85db9d5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075397ff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075397ff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bb85db9d5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bb85db9d5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c60fd4b7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c60fd4b7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60fd4b7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c60fd4b7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bb85db9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bb85db9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60fd4b7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60fd4b7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bb85db9d5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bb85db9d5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b85db9d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bb85db9d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bb85db9d5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bb85db9d5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c60fd4b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c60fd4b7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c60fd4b7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c60fd4b7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bb85db9d5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bb85db9d5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bb85db9d5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bb85db9d5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bb85db9d5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bb85db9d5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bb85db9d5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bb85db9d5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c60fd4b7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c60fd4b7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bb85db9d5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bb85db9d5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c60fd4b7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c60fd4b7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c60fd4b7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c60fd4b7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  <a:defRPr>
                <a:solidFill>
                  <a:srgbClr val="F3F3F3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next.github.io/gh-aw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odelcontextprotocol.io/introductio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next/agentics/blob/main/workflows/daily-test-improver.md?plain=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sprojects/FSharp.Control.AsyncSeq/pulls?q=is%3Apr+%22Daily+Test+Coverage%2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githubnext/gh-aw-trial-oxpecker-test/discussions/3" TargetMode="External"/><Relationship Id="rId4" Type="http://schemas.openxmlformats.org/officeDocument/2006/relationships/hyperlink" Target="https://github.com/fslaborg/FsMath/pulls?q=is%3Apr+%22Daily+Test+Coverage+Improver%22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next/agentics/blob/main/docs/daily-test-improver.md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sprojects/FSharp.Control.AsyncSeq/pulls?q=is%3Apr+is%3Aclosed+Daily+Per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honojs/hono/issues/4466" TargetMode="External"/><Relationship Id="rId5" Type="http://schemas.openxmlformats.org/officeDocument/2006/relationships/hyperlink" Target="https://github.com/fslaborg/FsMath/pull/26" TargetMode="External"/><Relationship Id="rId4" Type="http://schemas.openxmlformats.org/officeDocument/2006/relationships/hyperlink" Target="https://github.com/fslaborg/FsMath/pulls?q=is%3Apr+%22Daily+Perf+Improver%22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3Prover/z3/pulls?q=is%3Apr+%22Daily+perf%22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github.com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35797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 Syme, Peli de Halleux, Edward Aftandilian, Russell Horton, Joe Zhou, Mara Kiefer, Krzysztof Cieślak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19/11/2025, AIware 2025, Seoul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14523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 b="1"/>
              <a:t>Continuous AI </a:t>
            </a:r>
            <a:br>
              <a:rPr lang="en" sz="3180" b="1"/>
            </a:br>
            <a:r>
              <a:rPr lang="en" sz="3180"/>
              <a:t>and </a:t>
            </a:r>
            <a:br>
              <a:rPr lang="en" sz="3180" b="1"/>
            </a:br>
            <a:r>
              <a:rPr lang="en" sz="3180" b="1"/>
              <a:t>Continuous Engineering</a:t>
            </a:r>
            <a:r>
              <a:rPr lang="en" sz="3180"/>
              <a:t> </a:t>
            </a:r>
            <a:endParaRPr sz="318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with </a:t>
            </a:r>
            <a:br>
              <a:rPr lang="en" sz="3180"/>
            </a:br>
            <a:r>
              <a:rPr lang="en" sz="3180" b="1"/>
              <a:t>GitHub Agentic Workflows</a:t>
            </a:r>
            <a:endParaRPr sz="318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18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incredible, disturbing times</a:t>
            </a:r>
            <a:endParaRPr sz="252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31650"/>
            <a:ext cx="5055300" cy="3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b="1"/>
              <a:t>AI</a:t>
            </a:r>
            <a:r>
              <a:rPr lang="en" sz="2100"/>
              <a:t> + </a:t>
            </a:r>
            <a:r>
              <a:rPr lang="en" sz="2100" b="1"/>
              <a:t>dev tools </a:t>
            </a:r>
            <a:r>
              <a:rPr lang="en" sz="2100"/>
              <a:t>make us all magicians when it comes to code</a:t>
            </a:r>
            <a:br>
              <a:rPr lang="en" sz="2100"/>
            </a:b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925" y="1017725"/>
            <a:ext cx="3465275" cy="37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incredible, disturbing times</a:t>
            </a:r>
            <a:endParaRPr sz="25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31650"/>
            <a:ext cx="4748100" cy="3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 b="1"/>
              <a:t>AI</a:t>
            </a:r>
            <a:r>
              <a:rPr lang="en" sz="2100"/>
              <a:t> + </a:t>
            </a:r>
            <a:r>
              <a:rPr lang="en" sz="2100" b="1"/>
              <a:t>dev tools </a:t>
            </a:r>
            <a:r>
              <a:rPr lang="en" sz="2100"/>
              <a:t>make us all magicians when it comes to code</a:t>
            </a:r>
            <a:br>
              <a:rPr lang="en" sz="2100"/>
            </a:br>
            <a:endParaRPr sz="2100" b="1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But the magic power comes with many difficulties!</a:t>
            </a:r>
            <a:endParaRPr sz="21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25" y="990950"/>
            <a:ext cx="3931775" cy="262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2022: </a:t>
            </a:r>
            <a:r>
              <a:rPr lang="en" sz="1495" b="1"/>
              <a:t>GitHub Copilot Completions </a:t>
            </a:r>
            <a:r>
              <a:rPr lang="en" sz="1495"/>
              <a:t>launched. </a:t>
            </a:r>
            <a:endParaRPr sz="1495"/>
          </a:p>
          <a:p>
            <a:pPr marL="914400" lvl="1" indent="-30384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1.8M+ paying users, 50%+ of users’ code is written by Copilot</a:t>
            </a:r>
            <a:br>
              <a:rPr lang="en" sz="1185"/>
            </a:br>
            <a:endParaRPr sz="118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2023: </a:t>
            </a:r>
            <a:r>
              <a:rPr lang="en" sz="1495" b="1"/>
              <a:t>More AI developer features launched</a:t>
            </a:r>
            <a:endParaRPr sz="1495" b="1"/>
          </a:p>
          <a:p>
            <a:pPr marL="914400" lvl="1" indent="-30384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Summarization, advice, code review, IDEs and others</a:t>
            </a:r>
            <a:br>
              <a:rPr lang="en" sz="1185"/>
            </a:br>
            <a:endParaRPr sz="118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2024: </a:t>
            </a:r>
            <a:r>
              <a:rPr lang="en" sz="1495" b="1"/>
              <a:t>Copilot Workspace,</a:t>
            </a:r>
            <a:r>
              <a:rPr lang="en" sz="1495"/>
              <a:t> </a:t>
            </a:r>
            <a:r>
              <a:rPr lang="en" sz="1495" b="1"/>
              <a:t>Cursor Composer, Devin</a:t>
            </a:r>
            <a:r>
              <a:rPr lang="en" sz="1495"/>
              <a:t> launched</a:t>
            </a:r>
            <a:endParaRPr sz="1495"/>
          </a:p>
          <a:p>
            <a:pPr marL="914400" lvl="1" indent="-30384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Shift to task-orientation, Cursor Composer brought task-orientation to the IDE </a:t>
            </a:r>
            <a:br>
              <a:rPr lang="en" sz="1185"/>
            </a:br>
            <a:endParaRPr sz="118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2025: </a:t>
            </a:r>
            <a:r>
              <a:rPr lang="en" sz="1495" b="1"/>
              <a:t>Cursor/VS Code Agent-Mode, Claude Code and others launched</a:t>
            </a:r>
            <a:endParaRPr sz="1495" b="1"/>
          </a:p>
          <a:p>
            <a:pPr marL="914400" lvl="1" indent="-30384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Increases the available automation</a:t>
            </a:r>
            <a:br>
              <a:rPr lang="en" sz="1185"/>
            </a:br>
            <a:endParaRPr sz="118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2025: </a:t>
            </a:r>
            <a:r>
              <a:rPr lang="en" sz="1495" b="1"/>
              <a:t>Automated app dev </a:t>
            </a:r>
            <a:r>
              <a:rPr lang="en" sz="1495"/>
              <a:t>starts to take off</a:t>
            </a:r>
            <a:endParaRPr sz="1495"/>
          </a:p>
          <a:p>
            <a:pPr marL="914400" lvl="1" indent="-30384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GitHub Spark, Bolt, Gemini, Lovable, Cogna, v0, …</a:t>
            </a:r>
            <a:br>
              <a:rPr lang="en" sz="1185"/>
            </a:br>
            <a:endParaRPr sz="118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 b="1"/>
              <a:t>2026: Continuous AI. Event-triggered, proactive agentics. Semi-automatic software dev</a:t>
            </a:r>
            <a:endParaRPr sz="1495" b="1"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 Tools are changing fast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Engineering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821775"/>
            <a:ext cx="8520600" cy="21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CCCCCC"/>
                </a:solidFill>
              </a:rPr>
              <a:t>implemented by </a:t>
            </a:r>
            <a:endParaRPr sz="3100">
              <a:solidFill>
                <a:srgbClr val="CCCCC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Agentic Workflows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agentic workflow?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GitHub Agentic Workflows</a:t>
            </a:r>
            <a:br>
              <a:rPr lang="en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An </a:t>
            </a:r>
            <a:r>
              <a:rPr lang="en" sz="2000" b="1"/>
              <a:t>agentic coding agent = LLM </a:t>
            </a:r>
            <a:r>
              <a:rPr lang="en" sz="2000"/>
              <a:t>+ </a:t>
            </a:r>
            <a:r>
              <a:rPr lang="en" sz="2000" b="1"/>
              <a:t>tools </a:t>
            </a:r>
            <a:r>
              <a:rPr lang="en" sz="2000"/>
              <a:t>+ </a:t>
            </a:r>
            <a:r>
              <a:rPr lang="en" sz="2000" b="1"/>
              <a:t>plan/todos + loop + task</a:t>
            </a:r>
            <a:endParaRPr sz="20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Copilot CLI / Claude Code / OpenAI Codex/…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Tools pluggable using </a:t>
            </a:r>
            <a:r>
              <a:rPr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Context Protocol</a:t>
            </a:r>
            <a:r>
              <a:rPr lang="en" sz="1600"/>
              <a:t>.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Enable </a:t>
            </a:r>
            <a:r>
              <a:rPr lang="en" sz="1600" b="1"/>
              <a:t>natural language programming</a:t>
            </a:r>
            <a:br>
              <a:rPr lang="en" sz="1600" b="1"/>
            </a:b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An </a:t>
            </a:r>
            <a:r>
              <a:rPr lang="en" sz="2000" b="1"/>
              <a:t>agentic workflow</a:t>
            </a:r>
            <a:r>
              <a:rPr lang="en" sz="2000"/>
              <a:t> is a repeatable task for a coding agent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“Frontmatter + markdown”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Frontmatter = Triggers, Tools, Engine, Security, Safe Outputs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Weekly Researcher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schedule: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- cron: "0 9 * * 1"     # Every week, 9AM UTC, Monday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workflow_dispatch: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create-issue: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tools: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web-search: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Weekly Researcher (Ruby)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Do a deep research investigation in ${{ github.repository }} repository, and the related industry in general.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selections of the latest code, issues and PRs for this repo.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latest trends and news from the software industry news source on the Web.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Create a new GitHub issue containing a markdown report with interesting news about the area related to this software project, related products and competitive analysis, related research papers, new ideas, market opportunities, business analysis, enjoyable anecdotes.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the report: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4376075" y="2587625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Actions-familiar</a:t>
            </a:r>
            <a:endParaRPr/>
          </a:p>
        </p:txBody>
      </p:sp>
      <p:sp>
        <p:nvSpPr>
          <p:cNvPr id="104" name="Google Shape;104;p21"/>
          <p:cNvSpPr/>
          <p:nvPr/>
        </p:nvSpPr>
        <p:spPr>
          <a:xfrm>
            <a:off x="2860300" y="12714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</a:t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3126450" y="19295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output specs</a:t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3126450" y="2473700"/>
            <a:ext cx="1072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5123250" y="3927950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Self-reporting</a:t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764050" y="3170425"/>
            <a:ext cx="1996800" cy="404400"/>
          </a:xfrm>
          <a:prstGeom prst="wedgeRectCallout">
            <a:avLst>
              <a:gd name="adj1" fmla="val -22903"/>
              <a:gd name="adj2" fmla="val 13335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Assumes GitHub</a:t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6835500" y="2078100"/>
            <a:ext cx="1996800" cy="987300"/>
          </a:xfrm>
          <a:prstGeom prst="wedgeRectCallout">
            <a:avLst>
              <a:gd name="adj1" fmla="val -87729"/>
              <a:gd name="adj2" fmla="val 730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 programming = </a:t>
            </a:r>
            <a:br>
              <a:rPr lang="en"/>
            </a:br>
            <a:r>
              <a:rPr lang="en"/>
              <a:t>deliberate ambiguity =</a:t>
            </a:r>
            <a:br>
              <a:rPr lang="en"/>
            </a:br>
            <a:r>
              <a:rPr lang="en"/>
              <a:t>genuinely useful ambiguity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Issue Triage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issues: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types: [opened, reopened]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add-comment: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Issue Triage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Your task is to analyze issue #${{ github.event.issue.number }} and perform some initial triage tasks related to that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Analyze the issue content. Write notes, ideas, nudges, resource links, debugging strategies and/or reproduction steps for the team to consider relevant to the issue. Select appropriate labels already used in the repository and apply them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Finalize an output report with your analysis and add it as an issue comment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your issue 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```markdown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The ultimate vision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You add .github/workflows/agent.md 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agentic workflow starts working 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That’s all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The mid-step vision</a:t>
            </a: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You add .github/workflows/agent.md 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It is transformed to .github/workflows/agent.lock.yml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agentic workflow starts working 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That’s all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Getting Started</a:t>
            </a:r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3" b="1">
                <a:latin typeface="Courier New"/>
                <a:ea typeface="Courier New"/>
                <a:cs typeface="Courier New"/>
                <a:sym typeface="Courier New"/>
              </a:rPr>
              <a:t>gh extension install githubnext/gh-aw</a:t>
            </a:r>
            <a:br>
              <a:rPr lang="en" sz="1753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53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53" b="1">
                <a:latin typeface="Courier New"/>
                <a:ea typeface="Courier New"/>
                <a:cs typeface="Courier New"/>
                <a:sym typeface="Courier New"/>
              </a:rPr>
              <a:t>gh aw add githubnext/agentics/daily-test-improver</a:t>
            </a:r>
            <a:br>
              <a:rPr lang="en" sz="1753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53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53" b="1">
                <a:latin typeface="Courier New"/>
                <a:ea typeface="Courier New"/>
                <a:cs typeface="Courier New"/>
                <a:sym typeface="Courier New"/>
              </a:rPr>
              <a:t>gh aw run daily-test-improver --repeat 30 --use-local-secrets</a:t>
            </a:r>
            <a:endParaRPr sz="2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Design Principles</a:t>
            </a:r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Coding-agent </a:t>
            </a:r>
            <a:r>
              <a:rPr lang="en" sz="2300" b="1"/>
              <a:t>neutral </a:t>
            </a:r>
            <a:r>
              <a:rPr lang="en" sz="2300"/>
              <a:t>(Claude, Codex, Copilot CLI, …)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markdown is </a:t>
            </a:r>
            <a:r>
              <a:rPr lang="en" sz="2300" b="1"/>
              <a:t>actions-familiar 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defaults are </a:t>
            </a:r>
            <a:r>
              <a:rPr lang="en" sz="2300" b="1"/>
              <a:t>simple</a:t>
            </a:r>
            <a:r>
              <a:rPr lang="en" sz="2300"/>
              <a:t> 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emphasis is on </a:t>
            </a:r>
            <a:r>
              <a:rPr lang="en" sz="2300" b="1"/>
              <a:t>natural language markdown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processing assumes </a:t>
            </a:r>
            <a:r>
              <a:rPr lang="en" sz="2300" b="1"/>
              <a:t>agentic processor + MCPs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markdown can include </a:t>
            </a:r>
            <a:r>
              <a:rPr lang="en" sz="2300" b="1"/>
              <a:t>shared components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Safety, Safety, Safety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The end-to-end is </a:t>
            </a:r>
            <a:r>
              <a:rPr lang="en" sz="2300" b="1"/>
              <a:t>secure but powerful</a:t>
            </a:r>
            <a:endParaRPr sz="23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Safety, Safety, Safety</a:t>
            </a:r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VM-</a:t>
            </a:r>
            <a:r>
              <a:rPr lang="en" sz="2300" b="1"/>
              <a:t>sandboxed</a:t>
            </a:r>
            <a:r>
              <a:rPr lang="en" sz="2300"/>
              <a:t> (GitHub Actions VMs)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Permissions </a:t>
            </a:r>
            <a:r>
              <a:rPr lang="en" sz="2300" b="1"/>
              <a:t>minimized</a:t>
            </a:r>
            <a:endParaRPr sz="2300" b="1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Agentic steps run </a:t>
            </a:r>
            <a:r>
              <a:rPr lang="en" sz="2300" b="1"/>
              <a:t>read-only</a:t>
            </a:r>
            <a:endParaRPr sz="2300" b="1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“</a:t>
            </a:r>
            <a:r>
              <a:rPr lang="en" sz="2300" b="1"/>
              <a:t>Safe outputs</a:t>
            </a:r>
            <a:r>
              <a:rPr lang="en" sz="2300"/>
              <a:t>”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300"/>
              <a:t>blast radius greatly reduced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300"/>
              <a:t>checked by AI for safety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300"/>
              <a:t>human oversight guaranteed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Outgoing network </a:t>
            </a:r>
            <a:r>
              <a:rPr lang="en" sz="2300" b="1"/>
              <a:t>firewalled</a:t>
            </a:r>
            <a:r>
              <a:rPr lang="en" sz="2300"/>
              <a:t> </a:t>
            </a:r>
            <a:endParaRPr sz="2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Zoo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Agent Zoo</a:t>
            </a:r>
            <a:endParaRPr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Engineering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Test Engineering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Sample workflow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extension install githubnext/gh-aw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add githubnext/agentics/daily-test-improver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&lt;secret+commit+push&gt;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run daily-test-improver --repeat 30</a:t>
            </a:r>
            <a:endParaRPr sz="1738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OR YOLO YOLO YOLO YOLO</a:t>
            </a:r>
            <a:endParaRPr sz="1738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trial githubnext/agentics/daily-test-improver --clone-repo Comcast/gaad --host-repo githubnext/gaad --auto-merge-prs --repeat 30</a:t>
            </a:r>
            <a:endParaRPr sz="2300"/>
          </a:p>
        </p:txBody>
      </p:sp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Test Improvement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324338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Samples:</a:t>
            </a:r>
            <a:endParaRPr sz="2300"/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AsyncSeq</a:t>
            </a:r>
            <a:r>
              <a:rPr lang="en" sz="2300"/>
              <a:t> 10/11 PRs merged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u="sng">
                <a:solidFill>
                  <a:schemeClr val="hlink"/>
                </a:solidFill>
                <a:hlinkClick r:id="rId4"/>
              </a:rPr>
              <a:t>FsMath</a:t>
            </a:r>
            <a:r>
              <a:rPr lang="en" sz="2300"/>
              <a:t> 38/44 PRs merged, ~99% coverage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u="sng">
                <a:solidFill>
                  <a:schemeClr val="hlink"/>
                </a:solidFill>
                <a:hlinkClick r:id="rId5"/>
              </a:rPr>
              <a:t>Oxpecker Web Framework</a:t>
            </a:r>
            <a:r>
              <a:rPr lang="en" sz="2300"/>
              <a:t>, 50% → 87% coverage in a few hours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Internal Micro VM repo, 47/50 PRs merged</a:t>
            </a:r>
            <a:endParaRPr sz="2300"/>
          </a:p>
        </p:txBody>
      </p:sp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Test Improvement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Perf Engineering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Perf Engineering: A Grand Challenge</a:t>
            </a:r>
            <a:endParaRPr/>
          </a:p>
        </p:txBody>
      </p:sp>
      <p:sp>
        <p:nvSpPr>
          <p:cNvPr id="188" name="Google Shape;1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Perf engineering is everywhere, but hugely neglected</a:t>
            </a:r>
            <a:endParaRPr sz="23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It is </a:t>
            </a:r>
            <a:r>
              <a:rPr lang="en" sz="2100" b="1"/>
              <a:t>hard, heterogeneous, multi-skilled, nuanced, requires careful judgement</a:t>
            </a:r>
            <a:endParaRPr sz="2100" b="1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It involves </a:t>
            </a:r>
            <a:r>
              <a:rPr lang="en" sz="2100" b="1"/>
              <a:t>Research</a:t>
            </a:r>
            <a:r>
              <a:rPr lang="en" sz="2100"/>
              <a:t>, </a:t>
            </a:r>
            <a:r>
              <a:rPr lang="en" sz="2100" b="1"/>
              <a:t>Planning</a:t>
            </a:r>
            <a:r>
              <a:rPr lang="en" sz="2100"/>
              <a:t>, </a:t>
            </a:r>
            <a:r>
              <a:rPr lang="en" sz="2100" b="1"/>
              <a:t>Measuring</a:t>
            </a:r>
            <a:r>
              <a:rPr lang="en" sz="2100"/>
              <a:t>, </a:t>
            </a:r>
            <a:r>
              <a:rPr lang="en" sz="2100" b="1"/>
              <a:t>Coding</a:t>
            </a:r>
            <a:r>
              <a:rPr lang="en" sz="2100"/>
              <a:t>, </a:t>
            </a:r>
            <a:r>
              <a:rPr lang="en" sz="2100" b="1"/>
              <a:t>Tuning</a:t>
            </a:r>
            <a:r>
              <a:rPr lang="en" sz="2100"/>
              <a:t>, </a:t>
            </a:r>
            <a:r>
              <a:rPr lang="en" sz="2100" b="1"/>
              <a:t>Re-measuring</a:t>
            </a:r>
            <a:r>
              <a:rPr lang="en" sz="2100"/>
              <a:t>, </a:t>
            </a:r>
            <a:r>
              <a:rPr lang="en" sz="2100" b="1"/>
              <a:t>Testing</a:t>
            </a:r>
            <a:endParaRPr sz="2100" b="1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Must stay aligned with human/business goals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Takes investment, thought, care</a:t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</a:t>
            </a:r>
            <a:endParaRPr/>
          </a:p>
        </p:txBody>
      </p:sp>
      <p:sp>
        <p:nvSpPr>
          <p:cNvPr id="194" name="Google Shape;194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Agentic platforms open the door to a whole new world of semi-automated software engineering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Agentic workflows can</a:t>
            </a:r>
            <a:endParaRPr sz="2300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Do depth research, planning</a:t>
            </a:r>
            <a:endParaRPr sz="2064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Align with human-declared priorities</a:t>
            </a:r>
            <a:endParaRPr sz="2064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Prepare VMs for depth perf engineering</a:t>
            </a:r>
            <a:endParaRPr sz="2064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Use tools for coverage, profiling and telemetry analysis</a:t>
            </a:r>
            <a:endParaRPr sz="2064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Self-observe and self-improve</a:t>
            </a:r>
            <a:endParaRPr sz="2064"/>
          </a:p>
          <a:p>
            <a:pPr marL="914400" lvl="1" indent="-359709" algn="l" rtl="0">
              <a:spcBef>
                <a:spcPts val="0"/>
              </a:spcBef>
              <a:spcAft>
                <a:spcPts val="0"/>
              </a:spcAft>
              <a:buSzPts val="2065"/>
              <a:buChar char="○"/>
            </a:pPr>
            <a:r>
              <a:rPr lang="en" sz="2064"/>
              <a:t>Invest in performance engineering efficiency</a:t>
            </a:r>
            <a:endParaRPr sz="2064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 Perf Improver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extension install githubnext/gh-aw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add githubnext/agentics/daily-perf-improver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&lt;secret+commit+push&gt;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run daily-perf-improver --repeat 30</a:t>
            </a:r>
            <a:endParaRPr sz="1738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OR YOLO YOLO YOLO YOLO</a:t>
            </a:r>
            <a:endParaRPr sz="1738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gh aw trial githubnext/agentics/daily-perf-improver \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    --clone-repo Comcast/gaad \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    --host-repo githubnext/gaad \</a:t>
            </a:r>
            <a:br>
              <a:rPr lang="en" sz="1738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38" b="1">
                <a:latin typeface="Courier New"/>
                <a:ea typeface="Courier New"/>
                <a:cs typeface="Courier New"/>
                <a:sym typeface="Courier New"/>
              </a:rPr>
              <a:t>    --auto-merge-prs --repeat 30</a:t>
            </a:r>
            <a:endParaRPr sz="2300"/>
          </a:p>
        </p:txBody>
      </p:sp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 - Example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 : The Approach</a:t>
            </a:r>
            <a:endParaRPr/>
          </a:p>
        </p:txBody>
      </p:sp>
      <p:sp>
        <p:nvSpPr>
          <p:cNvPr id="206" name="Google Shape;20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Phase 1: Research + Plan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Phase 2: Build Step Inference + 1-5 Guides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Phase 3 Repeated: Choose/Dev/Measure/Report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NOTE: many other variations possible</a:t>
            </a:r>
            <a:endParaRPr sz="2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Engineering: The Possible</a:t>
            </a:r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FSharp.Control.AsyncSeq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~2K LOC async sequence library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Long standing perf bugs found and addressed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7/7 PRs accepted</a:t>
            </a:r>
            <a:br>
              <a:rPr lang="en" sz="2300"/>
            </a:br>
            <a:endParaRPr sz="2300"/>
          </a:p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 u="sng">
                <a:solidFill>
                  <a:schemeClr val="hlink"/>
                </a:solidFill>
                <a:hlinkClick r:id="rId4"/>
              </a:rPr>
              <a:t>FsMath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~3K LOC math library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8/12 PRs accepted, 4 outstanding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E.g. “</a:t>
            </a:r>
            <a:r>
              <a:rPr lang="en" sz="2300" u="sng">
                <a:solidFill>
                  <a:schemeClr val="hlink"/>
                </a:solidFill>
                <a:hlinkClick r:id="rId5"/>
              </a:rPr>
              <a:t>Optimize vector x matrix multiplication with SIMD</a:t>
            </a:r>
            <a:r>
              <a:rPr lang="en" sz="2300"/>
              <a:t>”</a:t>
            </a:r>
            <a:br>
              <a:rPr lang="en" sz="2300"/>
            </a:br>
            <a:endParaRPr sz="2300"/>
          </a:p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 u="sng">
                <a:solidFill>
                  <a:schemeClr val="hlink"/>
                </a:solidFill>
                <a:hlinkClick r:id="rId6"/>
              </a:rPr>
              <a:t>Hono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~15K LOC high-performance web framework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~20 PRs prepared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 u="sng">
                <a:solidFill>
                  <a:schemeClr val="hlink"/>
                </a:solidFill>
                <a:hlinkClick r:id="rId6"/>
              </a:rPr>
              <a:t>Invitation to maintainers to assess</a:t>
            </a:r>
            <a:endParaRPr sz="2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Engineering: The Possible</a:t>
            </a:r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/>
              <a:t>Every top Python, Rust, .NET, Java library</a:t>
            </a:r>
            <a:br>
              <a:rPr lang="en" sz="2300"/>
            </a:br>
            <a:endParaRPr sz="2300"/>
          </a:p>
          <a:p>
            <a:pPr marL="457200" lvl="0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/>
              <a:t>C++ math libraries (e.g. LibRapid)</a:t>
            </a:r>
            <a:br>
              <a:rPr lang="en" sz="2300"/>
            </a:br>
            <a:endParaRPr sz="2300"/>
          </a:p>
          <a:p>
            <a:pPr marL="457200" lvl="0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/>
              <a:t>GitHub Internal Services</a:t>
            </a:r>
            <a:endParaRPr sz="2300"/>
          </a:p>
          <a:p>
            <a:pPr marL="914400" lvl="1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e.g. hosted compute watchdog and other cloud services</a:t>
            </a:r>
            <a:endParaRPr sz="2300"/>
          </a:p>
          <a:p>
            <a:pPr marL="914400" lvl="1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transact vast amounts of data</a:t>
            </a:r>
            <a:endParaRPr sz="2300"/>
          </a:p>
          <a:p>
            <a:pPr marL="914400" lvl="1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high operational costs, &gt; $50M</a:t>
            </a:r>
            <a:endParaRPr sz="2300"/>
          </a:p>
          <a:p>
            <a:pPr marL="914400" lvl="1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PGO from production profiling data → $$ savings</a:t>
            </a:r>
            <a:br>
              <a:rPr lang="en" sz="2300"/>
            </a:br>
            <a:endParaRPr sz="2300"/>
          </a:p>
          <a:p>
            <a:pPr marL="457200" lvl="0" indent="-35274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/>
              <a:t>First PR merged to production this week, &gt; $100K+ savings/year</a:t>
            </a:r>
            <a:endParaRPr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91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Engineering: The Delusional</a:t>
            </a:r>
            <a:endParaRPr/>
          </a:p>
        </p:txBody>
      </p:sp>
      <p:sp>
        <p:nvSpPr>
          <p:cNvPr id="224" name="Google Shape;224;p41"/>
          <p:cNvSpPr txBox="1">
            <a:spLocks noGrp="1"/>
          </p:cNvSpPr>
          <p:nvPr>
            <p:ph type="body" idx="1"/>
          </p:nvPr>
        </p:nvSpPr>
        <p:spPr>
          <a:xfrm>
            <a:off x="311700" y="116511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Z3Prover/z3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16/18 PRs rejected - evidence not properly collected, results hallucinated/fabricated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“Looked in right places” - e.g. hashing performance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Was controversial with some maintainers</a:t>
            </a:r>
            <a:br>
              <a:rPr lang="en" sz="2300"/>
            </a:br>
            <a:endParaRPr sz="2300"/>
          </a:p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/>
              <a:t>Linux Kernel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Requires a whole foundation to engineer automated testing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Hardware and operational needs very difficult</a:t>
            </a:r>
            <a:br>
              <a:rPr lang="en" sz="2300"/>
            </a:br>
            <a:endParaRPr sz="2300"/>
          </a:p>
          <a:p>
            <a:pPr marL="457200" lvl="0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 u="sng">
                <a:solidFill>
                  <a:schemeClr val="hlink"/>
                </a:solidFill>
                <a:hlinkClick r:id="rId4"/>
              </a:rPr>
              <a:t>github.com</a:t>
            </a:r>
            <a:r>
              <a:rPr lang="en" sz="2300"/>
              <a:t> monolith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Multiple very large codebases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Multi-layered, multi-service backend</a:t>
            </a:r>
            <a:endParaRPr sz="2300"/>
          </a:p>
          <a:p>
            <a:pPr marL="914400" lvl="1" indent="-319881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300"/>
              <a:t>A grand challenge to automate the analysis and improvement of such a service</a:t>
            </a:r>
            <a:endParaRPr sz="2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Agentic Perf Engineering: Linear, not Swarms</a:t>
            </a:r>
            <a:endParaRPr/>
          </a:p>
        </p:txBody>
      </p:sp>
      <p:sp>
        <p:nvSpPr>
          <p:cNvPr id="230" name="Google Shape;23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Swarms = cooperating, concurrent agents with different roles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Cause conflicts, duplication, overlap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Linear phasing is often more productive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Research → Plan → Prepare → Dev/Measure → Reproduce → Dev/Measure → Reproduce → Dev/Measure → Reproduce → Plan → Prepare → …. </a:t>
            </a:r>
            <a:endParaRPr sz="2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Path Ahead</a:t>
            </a:r>
            <a:endParaRPr/>
          </a:p>
        </p:txBody>
      </p:sp>
      <p:sp>
        <p:nvSpPr>
          <p:cNvPr id="241" name="Google Shape;241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Continuous AI will be commonplace within 1 year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Continuous Automated Engineering will be commonplace within 1 year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Total disruption to software methodologies is coming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Agile looks wrong when agents have been up all night</a:t>
            </a:r>
            <a:br>
              <a:rPr lang="en" sz="2300"/>
            </a:b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Automated engineering already real in some scenarios</a:t>
            </a:r>
            <a:endParaRPr sz="2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AI slop is real, can damage teams</a:t>
            </a:r>
            <a:br>
              <a:rPr lang="en" sz="2200"/>
            </a:b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Today: much more human review</a:t>
            </a:r>
            <a:br>
              <a:rPr lang="en" sz="2200"/>
            </a:b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Alternative: relentless, continuous AI to pre-judge, review, clean up, monitor, improve </a:t>
            </a:r>
            <a:endParaRPr sz="2200"/>
          </a:p>
        </p:txBody>
      </p:sp>
      <p:sp>
        <p:nvSpPr>
          <p:cNvPr id="247" name="Google Shape;247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Continuous AI the answer to AI slop?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3663752F314B8538011833BE9260" ma:contentTypeVersion="7" ma:contentTypeDescription="Create a new document." ma:contentTypeScope="" ma:versionID="00c9676ad345f7e22a0fb0ae011406b6">
  <xsd:schema xmlns:xsd="http://www.w3.org/2001/XMLSchema" xmlns:xs="http://www.w3.org/2001/XMLSchema" xmlns:p="http://schemas.microsoft.com/office/2006/metadata/properties" xmlns:ns1="http://schemas.microsoft.com/sharepoint/v3" xmlns:ns2="43008dc5-16a9-462a-8b39-d6f254f42b07" xmlns:ns3="f6a4f8fe-276b-4234-bc62-ba498d47591e" targetNamespace="http://schemas.microsoft.com/office/2006/metadata/properties" ma:root="true" ma:fieldsID="b7c6e1807040e87ac5a2f4f1829da980" ns1:_="" ns2:_="" ns3:_="">
    <xsd:import namespace="http://schemas.microsoft.com/sharepoint/v3"/>
    <xsd:import namespace="43008dc5-16a9-462a-8b39-d6f254f42b07"/>
    <xsd:import namespace="f6a4f8fe-276b-4234-bc62-ba498d47591e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BillingMetadata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08dc5-16a9-462a-8b39-d6f254f42b0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4f8fe-276b-4234-bc62-ba498d47591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igrationSourceID xmlns="43008dc5-16a9-462a-8b39-d6f254f42b07">13Acu8hJvSUkrJW-LsymDr5L_lxiSNFTKJSzwORLmreE</MigrationSourceID>
  </documentManagement>
</p:properties>
</file>

<file path=customXml/itemProps1.xml><?xml version="1.0" encoding="utf-8"?>
<ds:datastoreItem xmlns:ds="http://schemas.openxmlformats.org/officeDocument/2006/customXml" ds:itemID="{F93A04BC-0D84-4F1F-AFAD-2030EE0D00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66DC9-722F-4162-839B-084F906DDB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3008dc5-16a9-462a-8b39-d6f254f42b07"/>
    <ds:schemaRef ds:uri="f6a4f8fe-276b-4234-bc62-ba498d475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ABBF2F-F932-448A-A4CD-F7EC417EE203}">
  <ds:schemaRefs>
    <ds:schemaRef ds:uri="http://purl.org/dc/dcmitype/"/>
    <ds:schemaRef ds:uri="f6a4f8fe-276b-4234-bc62-ba498d47591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3008dc5-16a9-462a-8b39-d6f254f42b07"/>
    <ds:schemaRef ds:uri="http://schemas.microsoft.com/sharepoint/v3"/>
    <ds:schemaRef ds:uri="http://schemas.microsoft.com/office/2006/metadata/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Microsoft Office PowerPoint</Application>
  <PresentationFormat>On-screen Show (16:9)</PresentationFormat>
  <Paragraphs>255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Courier New</vt:lpstr>
      <vt:lpstr>Simple Dark</vt:lpstr>
      <vt:lpstr>Continuous AI  and  Continuous Engineering  with  GitHub Agentic Workflows </vt:lpstr>
      <vt:lpstr>We live in incredible, disturbing times</vt:lpstr>
      <vt:lpstr>We live in incredible, disturbing times </vt:lpstr>
      <vt:lpstr>AI Dev Tools are changing fast</vt:lpstr>
      <vt:lpstr>Continuous AI implemented by Agentic Workflows  enables Continuous Engineering </vt:lpstr>
      <vt:lpstr>Continuous AI</vt:lpstr>
      <vt:lpstr>Continuous AI  implemented by  GitHub Agentic Workflows</vt:lpstr>
      <vt:lpstr>What is an agentic workflow?</vt:lpstr>
      <vt:lpstr>Example - Weekly Researcher</vt:lpstr>
      <vt:lpstr>Example - Issue Triage</vt:lpstr>
      <vt:lpstr>Agentic Workflows - The ultimate vision</vt:lpstr>
      <vt:lpstr>Agentic Workflows - The mid-step vision</vt:lpstr>
      <vt:lpstr>Agentic Workflows - Getting Started</vt:lpstr>
      <vt:lpstr>Agentic Workflows - Design Principles</vt:lpstr>
      <vt:lpstr>Agentic Workflows - Safety, Safety, Safety</vt:lpstr>
      <vt:lpstr>Continuous AI implemented by Agentic Workflows  enables Agent Zoo </vt:lpstr>
      <vt:lpstr>Continuous AI implemented by Agentic Workflows  enables Agent Zoo </vt:lpstr>
      <vt:lpstr>Continuous AI implemented by Agentic Workflows  enables Continuous Engineering </vt:lpstr>
      <vt:lpstr>Continuous AI implemented by Agentic Workflows  enables Continuous Test Engineering </vt:lpstr>
      <vt:lpstr>Continuous Test Improvement </vt:lpstr>
      <vt:lpstr>Continuous Test Improvement </vt:lpstr>
      <vt:lpstr>Continuous AI implemented by Agentic Workflows  enables Continuous Perf Engineering </vt:lpstr>
      <vt:lpstr>Continuous Perf Engineering: A Grand Challenge</vt:lpstr>
      <vt:lpstr>Continuous Agentic Perf Engineering</vt:lpstr>
      <vt:lpstr>Continuous Agentic Perf Engineering - Example </vt:lpstr>
      <vt:lpstr>Continuous Agentic Perf Engineering : The Approach</vt:lpstr>
      <vt:lpstr>Continuous Agentic Perf Engineering: The Possible</vt:lpstr>
      <vt:lpstr>Continuous Agentic Perf Engineering: The Possible</vt:lpstr>
      <vt:lpstr>Continuous Agentic Perf Engineering: The Delusional</vt:lpstr>
      <vt:lpstr>Continuous Agentic Perf Engineering: Linear, not Swarms</vt:lpstr>
      <vt:lpstr>Conclusion</vt:lpstr>
      <vt:lpstr>The Path Ahead</vt:lpstr>
      <vt:lpstr>Is Continuous AI the answer to AI slop?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 Syme</dc:creator>
  <cp:lastModifiedBy>Don Syme</cp:lastModifiedBy>
  <cp:revision>2</cp:revision>
  <dcterms:modified xsi:type="dcterms:W3CDTF">2026-05-18T13:17:15Z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0x010100BC843663752F314B8538011833BE9260</vt:lpwstr>
  </property>
  <property fmtid="{D5CDD505-2E9C-101B-9397-08002B2CF9AE}" pid="3" name="Order">
    <vt:r8>3200</vt:r8>
  </property>
</Properties>
</file>